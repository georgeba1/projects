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Lst>
  <p:notesMasterIdLst>
    <p:notesMasterId r:id="rId25"/>
  </p:notesMasterIdLst>
  <p:sldIdLst>
    <p:sldId id="258" r:id="rId2"/>
    <p:sldId id="263" r:id="rId3"/>
    <p:sldId id="264" r:id="rId4"/>
    <p:sldId id="265" r:id="rId5"/>
    <p:sldId id="277" r:id="rId6"/>
    <p:sldId id="276" r:id="rId7"/>
    <p:sldId id="278" r:id="rId8"/>
    <p:sldId id="279" r:id="rId9"/>
    <p:sldId id="280" r:id="rId10"/>
    <p:sldId id="267" r:id="rId11"/>
    <p:sldId id="269" r:id="rId12"/>
    <p:sldId id="268" r:id="rId13"/>
    <p:sldId id="270" r:id="rId14"/>
    <p:sldId id="272" r:id="rId15"/>
    <p:sldId id="271" r:id="rId16"/>
    <p:sldId id="273" r:id="rId17"/>
    <p:sldId id="274" r:id="rId18"/>
    <p:sldId id="275" r:id="rId19"/>
    <p:sldId id="281" r:id="rId20"/>
    <p:sldId id="282" r:id="rId21"/>
    <p:sldId id="283" r:id="rId22"/>
    <p:sldId id="284" r:id="rId23"/>
    <p:sldId id="262" r:id="rId24"/>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60B7"/>
    <a:srgbClr val="19739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4820" autoAdjust="0"/>
  </p:normalViewPr>
  <p:slideViewPr>
    <p:cSldViewPr snapToGrid="0">
      <p:cViewPr varScale="1">
        <p:scale>
          <a:sx n="61" d="100"/>
          <a:sy n="61" d="100"/>
        </p:scale>
        <p:origin x="15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20E2DF-5FEC-415E-A5B6-718B0EAD2343}"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0EDD3D28-4A87-48EE-957E-A89B5CAA8133}">
      <dgm:prSet custT="1"/>
      <dgm:spPr/>
      <dgm:t>
        <a:bodyPr/>
        <a:lstStyle/>
        <a:p>
          <a:r>
            <a:rPr lang="el-GR" sz="2400" dirty="0">
              <a:latin typeface="Times New Roman" panose="02020603050405020304" pitchFamily="18" charset="0"/>
              <a:cs typeface="Times New Roman" panose="02020603050405020304" pitchFamily="18" charset="0"/>
            </a:rPr>
            <a:t>Η πρόβλεψη της ζήτησης παραμένει εξαιρετικά δύσκολη λόγω της αστάθειας στις καταναλωτικές συνήθειες. </a:t>
          </a:r>
          <a:endParaRPr lang="en-US" sz="2400" dirty="0">
            <a:latin typeface="Times New Roman" panose="02020603050405020304" pitchFamily="18" charset="0"/>
            <a:cs typeface="Times New Roman" panose="02020603050405020304" pitchFamily="18" charset="0"/>
          </a:endParaRPr>
        </a:p>
      </dgm:t>
    </dgm:pt>
    <dgm:pt modelId="{FD370404-04E5-48A3-A09E-8482E5BF329B}" type="parTrans" cxnId="{70F4C6D0-AF7D-4D24-ABE8-358DD300ABCF}">
      <dgm:prSet/>
      <dgm:spPr/>
      <dgm:t>
        <a:bodyPr/>
        <a:lstStyle/>
        <a:p>
          <a:endParaRPr lang="en-US" sz="2000">
            <a:latin typeface="Times New Roman" panose="02020603050405020304" pitchFamily="18" charset="0"/>
            <a:cs typeface="Times New Roman" panose="02020603050405020304" pitchFamily="18" charset="0"/>
          </a:endParaRPr>
        </a:p>
      </dgm:t>
    </dgm:pt>
    <dgm:pt modelId="{C25DEE58-1356-446A-8768-CB6CCC8B0F6E}" type="sibTrans" cxnId="{70F4C6D0-AF7D-4D24-ABE8-358DD300ABCF}">
      <dgm:prSet/>
      <dgm:spPr/>
      <dgm:t>
        <a:bodyPr/>
        <a:lstStyle/>
        <a:p>
          <a:endParaRPr lang="en-US" sz="2000">
            <a:latin typeface="Times New Roman" panose="02020603050405020304" pitchFamily="18" charset="0"/>
            <a:cs typeface="Times New Roman" panose="02020603050405020304" pitchFamily="18" charset="0"/>
          </a:endParaRPr>
        </a:p>
      </dgm:t>
    </dgm:pt>
    <dgm:pt modelId="{7BC672D2-13AA-4DE3-A154-AE340C1F3225}">
      <dgm:prSet custT="1"/>
      <dgm:spPr/>
      <dgm:t>
        <a:bodyPr/>
        <a:lstStyle/>
        <a:p>
          <a:r>
            <a:rPr lang="el-GR" sz="2400" dirty="0">
              <a:solidFill>
                <a:schemeClr val="tx1"/>
              </a:solidFill>
              <a:latin typeface="Times New Roman" panose="02020603050405020304" pitchFamily="18" charset="0"/>
              <a:cs typeface="Times New Roman" panose="02020603050405020304" pitchFamily="18" charset="0"/>
            </a:rPr>
            <a:t>Οι ταχείες αλλαγές στις προτιμήσεις των πελατών, που ενισχύονται από την άνοδο του ηλεκτρονικού εμπορίου και την επιρροή των μέσων κοινωνικής δικτύωσης, οδηγούν σε υπερπαραγωγή ή ελλείψεις αποθεμάτων. </a:t>
          </a:r>
          <a:endParaRPr lang="en-US" sz="2400" dirty="0">
            <a:solidFill>
              <a:schemeClr val="tx1"/>
            </a:solidFill>
            <a:latin typeface="Times New Roman" panose="02020603050405020304" pitchFamily="18" charset="0"/>
            <a:cs typeface="Times New Roman" panose="02020603050405020304" pitchFamily="18" charset="0"/>
          </a:endParaRPr>
        </a:p>
      </dgm:t>
    </dgm:pt>
    <dgm:pt modelId="{754C7E5C-2532-461F-AA45-5ACB5310D49B}" type="parTrans" cxnId="{6EA3D812-0876-4E71-8037-566286315EA0}">
      <dgm:prSet/>
      <dgm:spPr/>
      <dgm:t>
        <a:bodyPr/>
        <a:lstStyle/>
        <a:p>
          <a:endParaRPr lang="en-US" sz="2000">
            <a:latin typeface="Times New Roman" panose="02020603050405020304" pitchFamily="18" charset="0"/>
            <a:cs typeface="Times New Roman" panose="02020603050405020304" pitchFamily="18" charset="0"/>
          </a:endParaRPr>
        </a:p>
      </dgm:t>
    </dgm:pt>
    <dgm:pt modelId="{F77892FA-F7B8-4856-A3A6-2599A89E2B52}" type="sibTrans" cxnId="{6EA3D812-0876-4E71-8037-566286315EA0}">
      <dgm:prSet/>
      <dgm:spPr/>
      <dgm:t>
        <a:bodyPr/>
        <a:lstStyle/>
        <a:p>
          <a:endParaRPr lang="en-US" sz="2000">
            <a:latin typeface="Times New Roman" panose="02020603050405020304" pitchFamily="18" charset="0"/>
            <a:cs typeface="Times New Roman" panose="02020603050405020304" pitchFamily="18" charset="0"/>
          </a:endParaRPr>
        </a:p>
      </dgm:t>
    </dgm:pt>
    <dgm:pt modelId="{62054C70-71C9-4BC2-A4DF-21EB447E7434}">
      <dgm:prSet custT="1"/>
      <dgm:spPr/>
      <dgm:t>
        <a:bodyPr/>
        <a:lstStyle/>
        <a:p>
          <a:r>
            <a:rPr lang="el-GR" sz="2400">
              <a:latin typeface="Times New Roman" panose="02020603050405020304" pitchFamily="18" charset="0"/>
              <a:cs typeface="Times New Roman" panose="02020603050405020304" pitchFamily="18" charset="0"/>
            </a:rPr>
            <a:t>Αυτές οι αποκλίσεις επιφέρουν υψηλότερα κόστη αποθήκευσης, απόσυρση απούλητων προϊόντων ή απώλεια πωλήσεων όταν η ζήτηση δεν καλύπτεται έγκαιρα.</a:t>
          </a:r>
          <a:endParaRPr lang="en-US" sz="2400">
            <a:latin typeface="Times New Roman" panose="02020603050405020304" pitchFamily="18" charset="0"/>
            <a:cs typeface="Times New Roman" panose="02020603050405020304" pitchFamily="18" charset="0"/>
          </a:endParaRPr>
        </a:p>
      </dgm:t>
    </dgm:pt>
    <dgm:pt modelId="{44D201AB-0F57-40F6-8B4D-49211AD1D30D}" type="parTrans" cxnId="{64209DC8-BA87-4A2B-AD13-886789A284F9}">
      <dgm:prSet/>
      <dgm:spPr/>
      <dgm:t>
        <a:bodyPr/>
        <a:lstStyle/>
        <a:p>
          <a:endParaRPr lang="en-US" sz="2000">
            <a:latin typeface="Times New Roman" panose="02020603050405020304" pitchFamily="18" charset="0"/>
            <a:cs typeface="Times New Roman" panose="02020603050405020304" pitchFamily="18" charset="0"/>
          </a:endParaRPr>
        </a:p>
      </dgm:t>
    </dgm:pt>
    <dgm:pt modelId="{B5F806A7-1D47-4637-9F5A-FACA419570CB}" type="sibTrans" cxnId="{64209DC8-BA87-4A2B-AD13-886789A284F9}">
      <dgm:prSet/>
      <dgm:spPr/>
      <dgm:t>
        <a:bodyPr/>
        <a:lstStyle/>
        <a:p>
          <a:endParaRPr lang="en-US" sz="2000">
            <a:latin typeface="Times New Roman" panose="02020603050405020304" pitchFamily="18" charset="0"/>
            <a:cs typeface="Times New Roman" panose="02020603050405020304" pitchFamily="18" charset="0"/>
          </a:endParaRPr>
        </a:p>
      </dgm:t>
    </dgm:pt>
    <dgm:pt modelId="{7BF76784-5D99-4F01-B71F-C532E4DCD71C}">
      <dgm:prSet custT="1"/>
      <dgm:spPr/>
      <dgm:t>
        <a:bodyPr/>
        <a:lstStyle/>
        <a:p>
          <a:r>
            <a:rPr lang="el-GR" sz="2400" dirty="0">
              <a:solidFill>
                <a:schemeClr val="tx1"/>
              </a:solidFill>
              <a:latin typeface="Times New Roman" panose="02020603050405020304" pitchFamily="18" charset="0"/>
              <a:cs typeface="Times New Roman" panose="02020603050405020304" pitchFamily="18" charset="0"/>
            </a:rPr>
            <a:t>Εξωγενείς παράγοντες, όπως ακραία καιρικά φαινόμενα, κυκλοφοριακή συμφόρηση ή διακυμάνσεις στις τιμές καυσίμων, περιπλέκουν την επιλογή βέλτιστων διαδρομών και χρονοδιαγραμμάτων μεταφοράς.</a:t>
          </a:r>
          <a:endParaRPr lang="en-US" sz="2400" dirty="0">
            <a:solidFill>
              <a:schemeClr val="tx1"/>
            </a:solidFill>
            <a:latin typeface="Times New Roman" panose="02020603050405020304" pitchFamily="18" charset="0"/>
            <a:cs typeface="Times New Roman" panose="02020603050405020304" pitchFamily="18" charset="0"/>
          </a:endParaRPr>
        </a:p>
      </dgm:t>
    </dgm:pt>
    <dgm:pt modelId="{25F75B0C-BAA7-40A4-B436-E36345D55DCD}" type="parTrans" cxnId="{BFEC6BB2-3498-4073-BE84-E3FE922EDA66}">
      <dgm:prSet/>
      <dgm:spPr/>
      <dgm:t>
        <a:bodyPr/>
        <a:lstStyle/>
        <a:p>
          <a:endParaRPr lang="en-US" sz="2000">
            <a:latin typeface="Times New Roman" panose="02020603050405020304" pitchFamily="18" charset="0"/>
            <a:cs typeface="Times New Roman" panose="02020603050405020304" pitchFamily="18" charset="0"/>
          </a:endParaRPr>
        </a:p>
      </dgm:t>
    </dgm:pt>
    <dgm:pt modelId="{83F08587-1882-4A0C-93A1-5F95ECC98B10}" type="sibTrans" cxnId="{BFEC6BB2-3498-4073-BE84-E3FE922EDA66}">
      <dgm:prSet/>
      <dgm:spPr/>
      <dgm:t>
        <a:bodyPr/>
        <a:lstStyle/>
        <a:p>
          <a:endParaRPr lang="en-US" sz="2000">
            <a:latin typeface="Times New Roman" panose="02020603050405020304" pitchFamily="18" charset="0"/>
            <a:cs typeface="Times New Roman" panose="02020603050405020304" pitchFamily="18" charset="0"/>
          </a:endParaRPr>
        </a:p>
      </dgm:t>
    </dgm:pt>
    <dgm:pt modelId="{DC7FF644-8321-4CAA-8744-E55F64D4AC3A}" type="pres">
      <dgm:prSet presAssocID="{DA20E2DF-5FEC-415E-A5B6-718B0EAD2343}" presName="Name0" presStyleCnt="0">
        <dgm:presLayoutVars>
          <dgm:dir/>
          <dgm:animLvl val="lvl"/>
          <dgm:resizeHandles val="exact"/>
        </dgm:presLayoutVars>
      </dgm:prSet>
      <dgm:spPr/>
    </dgm:pt>
    <dgm:pt modelId="{B7810D2F-58E5-4DE5-93F4-17E005CB346F}" type="pres">
      <dgm:prSet presAssocID="{7BF76784-5D99-4F01-B71F-C532E4DCD71C}" presName="boxAndChildren" presStyleCnt="0"/>
      <dgm:spPr/>
    </dgm:pt>
    <dgm:pt modelId="{B8A3924B-20A5-4B97-9CBD-0FF8960FFD72}" type="pres">
      <dgm:prSet presAssocID="{7BF76784-5D99-4F01-B71F-C532E4DCD71C}" presName="parentTextBox" presStyleLbl="node1" presStyleIdx="0" presStyleCnt="4"/>
      <dgm:spPr/>
    </dgm:pt>
    <dgm:pt modelId="{694ECC3E-A851-4AB4-A621-7937261D0496}" type="pres">
      <dgm:prSet presAssocID="{B5F806A7-1D47-4637-9F5A-FACA419570CB}" presName="sp" presStyleCnt="0"/>
      <dgm:spPr/>
    </dgm:pt>
    <dgm:pt modelId="{52F444C0-5DB5-4B6D-9FE0-AAEDA36D1397}" type="pres">
      <dgm:prSet presAssocID="{62054C70-71C9-4BC2-A4DF-21EB447E7434}" presName="arrowAndChildren" presStyleCnt="0"/>
      <dgm:spPr/>
    </dgm:pt>
    <dgm:pt modelId="{4D7C39E5-7818-4B1B-B671-9585F18DBFC0}" type="pres">
      <dgm:prSet presAssocID="{62054C70-71C9-4BC2-A4DF-21EB447E7434}" presName="parentTextArrow" presStyleLbl="node1" presStyleIdx="1" presStyleCnt="4"/>
      <dgm:spPr/>
    </dgm:pt>
    <dgm:pt modelId="{246388F2-3434-463E-BC14-4EAE24E80D2A}" type="pres">
      <dgm:prSet presAssocID="{F77892FA-F7B8-4856-A3A6-2599A89E2B52}" presName="sp" presStyleCnt="0"/>
      <dgm:spPr/>
    </dgm:pt>
    <dgm:pt modelId="{8A92B26C-D8C9-467A-8570-B5AF3E6D6F6E}" type="pres">
      <dgm:prSet presAssocID="{7BC672D2-13AA-4DE3-A154-AE340C1F3225}" presName="arrowAndChildren" presStyleCnt="0"/>
      <dgm:spPr/>
    </dgm:pt>
    <dgm:pt modelId="{98AC098C-A686-4890-A07D-AD0830D0F95E}" type="pres">
      <dgm:prSet presAssocID="{7BC672D2-13AA-4DE3-A154-AE340C1F3225}" presName="parentTextArrow" presStyleLbl="node1" presStyleIdx="2" presStyleCnt="4"/>
      <dgm:spPr/>
    </dgm:pt>
    <dgm:pt modelId="{BD6F9A6A-AA90-413D-8815-BEF96A881C8E}" type="pres">
      <dgm:prSet presAssocID="{C25DEE58-1356-446A-8768-CB6CCC8B0F6E}" presName="sp" presStyleCnt="0"/>
      <dgm:spPr/>
    </dgm:pt>
    <dgm:pt modelId="{F98D6F92-C177-4209-96D6-905379D11C87}" type="pres">
      <dgm:prSet presAssocID="{0EDD3D28-4A87-48EE-957E-A89B5CAA8133}" presName="arrowAndChildren" presStyleCnt="0"/>
      <dgm:spPr/>
    </dgm:pt>
    <dgm:pt modelId="{EBE6D64F-0E4F-4AA8-A329-EC1B3BB1DCEB}" type="pres">
      <dgm:prSet presAssocID="{0EDD3D28-4A87-48EE-957E-A89B5CAA8133}" presName="parentTextArrow" presStyleLbl="node1" presStyleIdx="3" presStyleCnt="4"/>
      <dgm:spPr/>
    </dgm:pt>
  </dgm:ptLst>
  <dgm:cxnLst>
    <dgm:cxn modelId="{6EA3D812-0876-4E71-8037-566286315EA0}" srcId="{DA20E2DF-5FEC-415E-A5B6-718B0EAD2343}" destId="{7BC672D2-13AA-4DE3-A154-AE340C1F3225}" srcOrd="1" destOrd="0" parTransId="{754C7E5C-2532-461F-AA45-5ACB5310D49B}" sibTransId="{F77892FA-F7B8-4856-A3A6-2599A89E2B52}"/>
    <dgm:cxn modelId="{7329E75C-8030-4BE5-B81A-6F360101A1B4}" type="presOf" srcId="{62054C70-71C9-4BC2-A4DF-21EB447E7434}" destId="{4D7C39E5-7818-4B1B-B671-9585F18DBFC0}" srcOrd="0" destOrd="0" presId="urn:microsoft.com/office/officeart/2005/8/layout/process4"/>
    <dgm:cxn modelId="{CC560D41-0F4E-4A54-9653-BDE608AB3D44}" type="presOf" srcId="{DA20E2DF-5FEC-415E-A5B6-718B0EAD2343}" destId="{DC7FF644-8321-4CAA-8744-E55F64D4AC3A}" srcOrd="0" destOrd="0" presId="urn:microsoft.com/office/officeart/2005/8/layout/process4"/>
    <dgm:cxn modelId="{DFEFF572-1DB2-42E8-8F18-AC9ACE1ADFD9}" type="presOf" srcId="{7BC672D2-13AA-4DE3-A154-AE340C1F3225}" destId="{98AC098C-A686-4890-A07D-AD0830D0F95E}" srcOrd="0" destOrd="0" presId="urn:microsoft.com/office/officeart/2005/8/layout/process4"/>
    <dgm:cxn modelId="{E9082691-CFC6-4F65-B32C-947B7ECA2B18}" type="presOf" srcId="{0EDD3D28-4A87-48EE-957E-A89B5CAA8133}" destId="{EBE6D64F-0E4F-4AA8-A329-EC1B3BB1DCEB}" srcOrd="0" destOrd="0" presId="urn:microsoft.com/office/officeart/2005/8/layout/process4"/>
    <dgm:cxn modelId="{BFEC6BB2-3498-4073-BE84-E3FE922EDA66}" srcId="{DA20E2DF-5FEC-415E-A5B6-718B0EAD2343}" destId="{7BF76784-5D99-4F01-B71F-C532E4DCD71C}" srcOrd="3" destOrd="0" parTransId="{25F75B0C-BAA7-40A4-B436-E36345D55DCD}" sibTransId="{83F08587-1882-4A0C-93A1-5F95ECC98B10}"/>
    <dgm:cxn modelId="{BC631CB8-54C7-4891-AE2C-DF1B6F573DD1}" type="presOf" srcId="{7BF76784-5D99-4F01-B71F-C532E4DCD71C}" destId="{B8A3924B-20A5-4B97-9CBD-0FF8960FFD72}" srcOrd="0" destOrd="0" presId="urn:microsoft.com/office/officeart/2005/8/layout/process4"/>
    <dgm:cxn modelId="{64209DC8-BA87-4A2B-AD13-886789A284F9}" srcId="{DA20E2DF-5FEC-415E-A5B6-718B0EAD2343}" destId="{62054C70-71C9-4BC2-A4DF-21EB447E7434}" srcOrd="2" destOrd="0" parTransId="{44D201AB-0F57-40F6-8B4D-49211AD1D30D}" sibTransId="{B5F806A7-1D47-4637-9F5A-FACA419570CB}"/>
    <dgm:cxn modelId="{70F4C6D0-AF7D-4D24-ABE8-358DD300ABCF}" srcId="{DA20E2DF-5FEC-415E-A5B6-718B0EAD2343}" destId="{0EDD3D28-4A87-48EE-957E-A89B5CAA8133}" srcOrd="0" destOrd="0" parTransId="{FD370404-04E5-48A3-A09E-8482E5BF329B}" sibTransId="{C25DEE58-1356-446A-8768-CB6CCC8B0F6E}"/>
    <dgm:cxn modelId="{D80A200B-86A2-4CDF-967F-644BA6D6B7B9}" type="presParOf" srcId="{DC7FF644-8321-4CAA-8744-E55F64D4AC3A}" destId="{B7810D2F-58E5-4DE5-93F4-17E005CB346F}" srcOrd="0" destOrd="0" presId="urn:microsoft.com/office/officeart/2005/8/layout/process4"/>
    <dgm:cxn modelId="{070E476A-F981-4395-80AD-A68BD9B96CDD}" type="presParOf" srcId="{B7810D2F-58E5-4DE5-93F4-17E005CB346F}" destId="{B8A3924B-20A5-4B97-9CBD-0FF8960FFD72}" srcOrd="0" destOrd="0" presId="urn:microsoft.com/office/officeart/2005/8/layout/process4"/>
    <dgm:cxn modelId="{841723E5-0E7F-442E-8062-C6639DB2D1CD}" type="presParOf" srcId="{DC7FF644-8321-4CAA-8744-E55F64D4AC3A}" destId="{694ECC3E-A851-4AB4-A621-7937261D0496}" srcOrd="1" destOrd="0" presId="urn:microsoft.com/office/officeart/2005/8/layout/process4"/>
    <dgm:cxn modelId="{4C3217C2-1145-4ACA-99C6-5559506C58AC}" type="presParOf" srcId="{DC7FF644-8321-4CAA-8744-E55F64D4AC3A}" destId="{52F444C0-5DB5-4B6D-9FE0-AAEDA36D1397}" srcOrd="2" destOrd="0" presId="urn:microsoft.com/office/officeart/2005/8/layout/process4"/>
    <dgm:cxn modelId="{7F2CE6ED-03FE-4AA7-B695-590989FA1207}" type="presParOf" srcId="{52F444C0-5DB5-4B6D-9FE0-AAEDA36D1397}" destId="{4D7C39E5-7818-4B1B-B671-9585F18DBFC0}" srcOrd="0" destOrd="0" presId="urn:microsoft.com/office/officeart/2005/8/layout/process4"/>
    <dgm:cxn modelId="{3B8463C6-B6AC-41C7-AF74-025C5D576242}" type="presParOf" srcId="{DC7FF644-8321-4CAA-8744-E55F64D4AC3A}" destId="{246388F2-3434-463E-BC14-4EAE24E80D2A}" srcOrd="3" destOrd="0" presId="urn:microsoft.com/office/officeart/2005/8/layout/process4"/>
    <dgm:cxn modelId="{5ACDCA61-E52C-4B64-8059-4F6D818024D2}" type="presParOf" srcId="{DC7FF644-8321-4CAA-8744-E55F64D4AC3A}" destId="{8A92B26C-D8C9-467A-8570-B5AF3E6D6F6E}" srcOrd="4" destOrd="0" presId="urn:microsoft.com/office/officeart/2005/8/layout/process4"/>
    <dgm:cxn modelId="{6D4AEDCD-30E0-49AB-975E-A0D65961DDF4}" type="presParOf" srcId="{8A92B26C-D8C9-467A-8570-B5AF3E6D6F6E}" destId="{98AC098C-A686-4890-A07D-AD0830D0F95E}" srcOrd="0" destOrd="0" presId="urn:microsoft.com/office/officeart/2005/8/layout/process4"/>
    <dgm:cxn modelId="{C0948E38-1003-4833-AC11-46662065F373}" type="presParOf" srcId="{DC7FF644-8321-4CAA-8744-E55F64D4AC3A}" destId="{BD6F9A6A-AA90-413D-8815-BEF96A881C8E}" srcOrd="5" destOrd="0" presId="urn:microsoft.com/office/officeart/2005/8/layout/process4"/>
    <dgm:cxn modelId="{48EF3479-1F9A-4EAB-890F-20FC21403B01}" type="presParOf" srcId="{DC7FF644-8321-4CAA-8744-E55F64D4AC3A}" destId="{F98D6F92-C177-4209-96D6-905379D11C87}" srcOrd="6" destOrd="0" presId="urn:microsoft.com/office/officeart/2005/8/layout/process4"/>
    <dgm:cxn modelId="{9AFFC8EF-C826-4A5C-9B57-295B5045AB16}" type="presParOf" srcId="{F98D6F92-C177-4209-96D6-905379D11C87}" destId="{EBE6D64F-0E4F-4AA8-A329-EC1B3BB1DCEB}"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20E2DF-5FEC-415E-A5B6-718B0EAD2343}"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n-US"/>
        </a:p>
      </dgm:t>
    </dgm:pt>
    <dgm:pt modelId="{0EDD3D28-4A87-48EE-957E-A89B5CAA8133}">
      <dgm:prSet custT="1"/>
      <dgm:spPr>
        <a:solidFill>
          <a:schemeClr val="accent1">
            <a:lumMod val="75000"/>
          </a:schemeClr>
        </a:solidFill>
      </dgm:spPr>
      <dgm:t>
        <a:bodyPr/>
        <a:lstStyle/>
        <a:p>
          <a:r>
            <a:rPr lang="en-US" sz="2700" dirty="0">
              <a:solidFill>
                <a:schemeClr val="bg1"/>
              </a:solidFill>
              <a:latin typeface="Times New Roman" panose="02020603050405020304" pitchFamily="18" charset="0"/>
              <a:cs typeface="Times New Roman" panose="02020603050405020304" pitchFamily="18" charset="0"/>
            </a:rPr>
            <a:t>H</a:t>
          </a:r>
          <a:r>
            <a:rPr lang="el-GR" sz="2700" dirty="0">
              <a:solidFill>
                <a:schemeClr val="tx1"/>
              </a:solidFill>
              <a:latin typeface="Times New Roman" panose="02020603050405020304" pitchFamily="18" charset="0"/>
              <a:cs typeface="Times New Roman" panose="02020603050405020304" pitchFamily="18" charset="0"/>
            </a:rPr>
            <a:t> </a:t>
          </a:r>
          <a:r>
            <a:rPr lang="el-GR" sz="2700" dirty="0">
              <a:solidFill>
                <a:srgbClr val="FFFF00"/>
              </a:solidFill>
              <a:latin typeface="Times New Roman" panose="02020603050405020304" pitchFamily="18" charset="0"/>
              <a:cs typeface="Times New Roman" panose="02020603050405020304" pitchFamily="18" charset="0"/>
            </a:rPr>
            <a:t>αύξηση του κόστους μεταφορών</a:t>
          </a:r>
          <a:r>
            <a:rPr lang="el-GR" sz="2700" dirty="0">
              <a:solidFill>
                <a:schemeClr val="tx1"/>
              </a:solidFill>
              <a:latin typeface="Times New Roman" panose="02020603050405020304" pitchFamily="18" charset="0"/>
              <a:cs typeface="Times New Roman" panose="02020603050405020304" pitchFamily="18" charset="0"/>
            </a:rPr>
            <a:t>, </a:t>
          </a:r>
          <a:r>
            <a:rPr lang="el-GR" sz="2700" dirty="0">
              <a:solidFill>
                <a:schemeClr val="bg1"/>
              </a:solidFill>
              <a:latin typeface="Times New Roman" panose="02020603050405020304" pitchFamily="18" charset="0"/>
              <a:cs typeface="Times New Roman" panose="02020603050405020304" pitchFamily="18" charset="0"/>
            </a:rPr>
            <a:t>που προκύπτει από την έλλειψη εμπορευματοκιβωτίων ή την υψηλή ζήτηση για φορτηγά, </a:t>
          </a:r>
          <a:r>
            <a:rPr lang="el-GR" sz="2700" dirty="0">
              <a:solidFill>
                <a:srgbClr val="FFFF00"/>
              </a:solidFill>
              <a:latin typeface="Times New Roman" panose="02020603050405020304" pitchFamily="18" charset="0"/>
              <a:cs typeface="Times New Roman" panose="02020603050405020304" pitchFamily="18" charset="0"/>
            </a:rPr>
            <a:t>επιβαρύνει</a:t>
          </a:r>
          <a:r>
            <a:rPr lang="el-GR" sz="2700" dirty="0">
              <a:solidFill>
                <a:schemeClr val="bg1"/>
              </a:solidFill>
              <a:latin typeface="Times New Roman" panose="02020603050405020304" pitchFamily="18" charset="0"/>
              <a:cs typeface="Times New Roman" panose="02020603050405020304" pitchFamily="18" charset="0"/>
            </a:rPr>
            <a:t> τις επιχειρήσεις.</a:t>
          </a:r>
          <a:endParaRPr lang="en-US" sz="2700" dirty="0">
            <a:solidFill>
              <a:schemeClr val="bg1"/>
            </a:solidFill>
            <a:latin typeface="Times New Roman" panose="02020603050405020304" pitchFamily="18" charset="0"/>
            <a:cs typeface="Times New Roman" panose="02020603050405020304" pitchFamily="18" charset="0"/>
          </a:endParaRPr>
        </a:p>
      </dgm:t>
    </dgm:pt>
    <dgm:pt modelId="{FD370404-04E5-48A3-A09E-8482E5BF329B}" type="parTrans" cxnId="{70F4C6D0-AF7D-4D24-ABE8-358DD300ABCF}">
      <dgm:prSet/>
      <dgm:spPr/>
      <dgm:t>
        <a:bodyPr/>
        <a:lstStyle/>
        <a:p>
          <a:endParaRPr lang="en-US" sz="2400">
            <a:latin typeface="Times New Roman" panose="02020603050405020304" pitchFamily="18" charset="0"/>
            <a:cs typeface="Times New Roman" panose="02020603050405020304" pitchFamily="18" charset="0"/>
          </a:endParaRPr>
        </a:p>
      </dgm:t>
    </dgm:pt>
    <dgm:pt modelId="{C25DEE58-1356-446A-8768-CB6CCC8B0F6E}" type="sibTrans" cxnId="{70F4C6D0-AF7D-4D24-ABE8-358DD300ABCF}">
      <dgm:prSet/>
      <dgm:spPr/>
      <dgm:t>
        <a:bodyPr/>
        <a:lstStyle/>
        <a:p>
          <a:endParaRPr lang="en-US" sz="2400">
            <a:latin typeface="Times New Roman" panose="02020603050405020304" pitchFamily="18" charset="0"/>
            <a:cs typeface="Times New Roman" panose="02020603050405020304" pitchFamily="18" charset="0"/>
          </a:endParaRPr>
        </a:p>
      </dgm:t>
    </dgm:pt>
    <dgm:pt modelId="{7BC672D2-13AA-4DE3-A154-AE340C1F3225}">
      <dgm:prSet custT="1"/>
      <dgm:spPr/>
      <dgm:t>
        <a:bodyPr/>
        <a:lstStyle/>
        <a:p>
          <a:r>
            <a:rPr lang="el-GR" sz="2400" dirty="0">
              <a:solidFill>
                <a:srgbClr val="FFFF00"/>
              </a:solidFill>
              <a:latin typeface="Times New Roman" panose="02020603050405020304" pitchFamily="18" charset="0"/>
              <a:cs typeface="Times New Roman" panose="02020603050405020304" pitchFamily="18" charset="0"/>
            </a:rPr>
            <a:t>Έλλειψη διαφάνειας/συντονισμού </a:t>
          </a:r>
          <a:r>
            <a:rPr lang="el-GR" sz="2400" dirty="0">
              <a:latin typeface="Times New Roman" panose="02020603050405020304" pitchFamily="18" charset="0"/>
              <a:cs typeface="Times New Roman" panose="02020603050405020304" pitchFamily="18" charset="0"/>
            </a:rPr>
            <a:t>μεταξύ των εμπλεκομένων μερών - προμηθευτών, κατασκευαστών, αποθηκών και διανομέων. </a:t>
          </a:r>
          <a:endParaRPr lang="en-US" sz="2400" dirty="0">
            <a:latin typeface="Times New Roman" panose="02020603050405020304" pitchFamily="18" charset="0"/>
            <a:cs typeface="Times New Roman" panose="02020603050405020304" pitchFamily="18" charset="0"/>
          </a:endParaRPr>
        </a:p>
      </dgm:t>
    </dgm:pt>
    <dgm:pt modelId="{754C7E5C-2532-461F-AA45-5ACB5310D49B}" type="parTrans" cxnId="{6EA3D812-0876-4E71-8037-566286315EA0}">
      <dgm:prSet/>
      <dgm:spPr/>
      <dgm:t>
        <a:bodyPr/>
        <a:lstStyle/>
        <a:p>
          <a:endParaRPr lang="en-US" sz="2400">
            <a:latin typeface="Times New Roman" panose="02020603050405020304" pitchFamily="18" charset="0"/>
            <a:cs typeface="Times New Roman" panose="02020603050405020304" pitchFamily="18" charset="0"/>
          </a:endParaRPr>
        </a:p>
      </dgm:t>
    </dgm:pt>
    <dgm:pt modelId="{F77892FA-F7B8-4856-A3A6-2599A89E2B52}" type="sibTrans" cxnId="{6EA3D812-0876-4E71-8037-566286315EA0}">
      <dgm:prSet/>
      <dgm:spPr/>
      <dgm:t>
        <a:bodyPr/>
        <a:lstStyle/>
        <a:p>
          <a:endParaRPr lang="en-US" sz="2400">
            <a:latin typeface="Times New Roman" panose="02020603050405020304" pitchFamily="18" charset="0"/>
            <a:cs typeface="Times New Roman" panose="02020603050405020304" pitchFamily="18" charset="0"/>
          </a:endParaRPr>
        </a:p>
      </dgm:t>
    </dgm:pt>
    <dgm:pt modelId="{62054C70-71C9-4BC2-A4DF-21EB447E7434}">
      <dgm:prSet custT="1"/>
      <dgm:spPr>
        <a:solidFill>
          <a:schemeClr val="accent2">
            <a:lumMod val="75000"/>
          </a:schemeClr>
        </a:solidFill>
      </dgm:spPr>
      <dgm:t>
        <a:bodyPr/>
        <a:lstStyle/>
        <a:p>
          <a:r>
            <a:rPr lang="en-US" sz="2600" dirty="0">
              <a:solidFill>
                <a:schemeClr val="bg1"/>
              </a:solidFill>
              <a:latin typeface="Times New Roman" panose="02020603050405020304" pitchFamily="18" charset="0"/>
              <a:cs typeface="Times New Roman" panose="02020603050405020304" pitchFamily="18" charset="0"/>
            </a:rPr>
            <a:t>H </a:t>
          </a:r>
          <a:r>
            <a:rPr lang="el-GR" sz="2600" dirty="0">
              <a:solidFill>
                <a:schemeClr val="bg1"/>
              </a:solidFill>
              <a:latin typeface="Times New Roman" panose="02020603050405020304" pitchFamily="18" charset="0"/>
              <a:cs typeface="Times New Roman" panose="02020603050405020304" pitchFamily="18" charset="0"/>
            </a:rPr>
            <a:t>πίεση για </a:t>
          </a:r>
          <a:r>
            <a:rPr lang="el-GR" sz="2600" dirty="0">
              <a:solidFill>
                <a:srgbClr val="FFFF00"/>
              </a:solidFill>
              <a:latin typeface="Times New Roman" panose="02020603050405020304" pitchFamily="18" charset="0"/>
              <a:cs typeface="Times New Roman" panose="02020603050405020304" pitchFamily="18" charset="0"/>
            </a:rPr>
            <a:t>βιώσιμες πρακτικές</a:t>
          </a:r>
          <a:r>
            <a:rPr lang="el-GR" sz="2600" dirty="0">
              <a:solidFill>
                <a:schemeClr val="tx1"/>
              </a:solidFill>
              <a:latin typeface="Times New Roman" panose="02020603050405020304" pitchFamily="18" charset="0"/>
              <a:cs typeface="Times New Roman" panose="02020603050405020304" pitchFamily="18" charset="0"/>
            </a:rPr>
            <a:t> </a:t>
          </a:r>
          <a:r>
            <a:rPr lang="el-GR" sz="2600" dirty="0">
              <a:solidFill>
                <a:schemeClr val="bg1"/>
              </a:solidFill>
              <a:latin typeface="Times New Roman" panose="02020603050405020304" pitchFamily="18" charset="0"/>
              <a:cs typeface="Times New Roman" panose="02020603050405020304" pitchFamily="18" charset="0"/>
            </a:rPr>
            <a:t>προσθέτει ένα επιπλέον επίπεδο πολυπλοκότητας</a:t>
          </a:r>
          <a:endParaRPr lang="en-US" sz="2600" dirty="0">
            <a:solidFill>
              <a:schemeClr val="bg1"/>
            </a:solidFill>
            <a:latin typeface="Times New Roman" panose="02020603050405020304" pitchFamily="18" charset="0"/>
            <a:cs typeface="Times New Roman" panose="02020603050405020304" pitchFamily="18" charset="0"/>
          </a:endParaRPr>
        </a:p>
      </dgm:t>
    </dgm:pt>
    <dgm:pt modelId="{B5F806A7-1D47-4637-9F5A-FACA419570CB}" type="sibTrans" cxnId="{64209DC8-BA87-4A2B-AD13-886789A284F9}">
      <dgm:prSet/>
      <dgm:spPr/>
      <dgm:t>
        <a:bodyPr/>
        <a:lstStyle/>
        <a:p>
          <a:endParaRPr lang="en-US" sz="2400">
            <a:latin typeface="Times New Roman" panose="02020603050405020304" pitchFamily="18" charset="0"/>
            <a:cs typeface="Times New Roman" panose="02020603050405020304" pitchFamily="18" charset="0"/>
          </a:endParaRPr>
        </a:p>
      </dgm:t>
    </dgm:pt>
    <dgm:pt modelId="{44D201AB-0F57-40F6-8B4D-49211AD1D30D}" type="parTrans" cxnId="{64209DC8-BA87-4A2B-AD13-886789A284F9}">
      <dgm:prSet/>
      <dgm:spPr/>
      <dgm:t>
        <a:bodyPr/>
        <a:lstStyle/>
        <a:p>
          <a:endParaRPr lang="en-US" sz="2400">
            <a:latin typeface="Times New Roman" panose="02020603050405020304" pitchFamily="18" charset="0"/>
            <a:cs typeface="Times New Roman" panose="02020603050405020304" pitchFamily="18" charset="0"/>
          </a:endParaRPr>
        </a:p>
      </dgm:t>
    </dgm:pt>
    <dgm:pt modelId="{DC7FF644-8321-4CAA-8744-E55F64D4AC3A}" type="pres">
      <dgm:prSet presAssocID="{DA20E2DF-5FEC-415E-A5B6-718B0EAD2343}" presName="Name0" presStyleCnt="0">
        <dgm:presLayoutVars>
          <dgm:dir/>
          <dgm:animLvl val="lvl"/>
          <dgm:resizeHandles val="exact"/>
        </dgm:presLayoutVars>
      </dgm:prSet>
      <dgm:spPr/>
    </dgm:pt>
    <dgm:pt modelId="{75D2F37A-4DCF-4FCE-8936-D87497E69AC6}" type="pres">
      <dgm:prSet presAssocID="{62054C70-71C9-4BC2-A4DF-21EB447E7434}" presName="boxAndChildren" presStyleCnt="0"/>
      <dgm:spPr/>
    </dgm:pt>
    <dgm:pt modelId="{6FA6A5BA-10E4-4918-967A-D9AD508BB326}" type="pres">
      <dgm:prSet presAssocID="{62054C70-71C9-4BC2-A4DF-21EB447E7434}" presName="parentTextBox" presStyleLbl="node1" presStyleIdx="0" presStyleCnt="3"/>
      <dgm:spPr/>
    </dgm:pt>
    <dgm:pt modelId="{246388F2-3434-463E-BC14-4EAE24E80D2A}" type="pres">
      <dgm:prSet presAssocID="{F77892FA-F7B8-4856-A3A6-2599A89E2B52}" presName="sp" presStyleCnt="0"/>
      <dgm:spPr/>
    </dgm:pt>
    <dgm:pt modelId="{8A92B26C-D8C9-467A-8570-B5AF3E6D6F6E}" type="pres">
      <dgm:prSet presAssocID="{7BC672D2-13AA-4DE3-A154-AE340C1F3225}" presName="arrowAndChildren" presStyleCnt="0"/>
      <dgm:spPr/>
    </dgm:pt>
    <dgm:pt modelId="{98AC098C-A686-4890-A07D-AD0830D0F95E}" type="pres">
      <dgm:prSet presAssocID="{7BC672D2-13AA-4DE3-A154-AE340C1F3225}" presName="parentTextArrow" presStyleLbl="node1" presStyleIdx="1" presStyleCnt="3" custScaleY="123613"/>
      <dgm:spPr/>
    </dgm:pt>
    <dgm:pt modelId="{BD6F9A6A-AA90-413D-8815-BEF96A881C8E}" type="pres">
      <dgm:prSet presAssocID="{C25DEE58-1356-446A-8768-CB6CCC8B0F6E}" presName="sp" presStyleCnt="0"/>
      <dgm:spPr/>
    </dgm:pt>
    <dgm:pt modelId="{F98D6F92-C177-4209-96D6-905379D11C87}" type="pres">
      <dgm:prSet presAssocID="{0EDD3D28-4A87-48EE-957E-A89B5CAA8133}" presName="arrowAndChildren" presStyleCnt="0"/>
      <dgm:spPr/>
    </dgm:pt>
    <dgm:pt modelId="{EBE6D64F-0E4F-4AA8-A329-EC1B3BB1DCEB}" type="pres">
      <dgm:prSet presAssocID="{0EDD3D28-4A87-48EE-957E-A89B5CAA8133}" presName="parentTextArrow" presStyleLbl="node1" presStyleIdx="2" presStyleCnt="3" custScaleY="123336" custLinFactNeighborY="4739"/>
      <dgm:spPr/>
    </dgm:pt>
  </dgm:ptLst>
  <dgm:cxnLst>
    <dgm:cxn modelId="{6EA3D812-0876-4E71-8037-566286315EA0}" srcId="{DA20E2DF-5FEC-415E-A5B6-718B0EAD2343}" destId="{7BC672D2-13AA-4DE3-A154-AE340C1F3225}" srcOrd="1" destOrd="0" parTransId="{754C7E5C-2532-461F-AA45-5ACB5310D49B}" sibTransId="{F77892FA-F7B8-4856-A3A6-2599A89E2B52}"/>
    <dgm:cxn modelId="{CC560D41-0F4E-4A54-9653-BDE608AB3D44}" type="presOf" srcId="{DA20E2DF-5FEC-415E-A5B6-718B0EAD2343}" destId="{DC7FF644-8321-4CAA-8744-E55F64D4AC3A}" srcOrd="0" destOrd="0" presId="urn:microsoft.com/office/officeart/2005/8/layout/process4"/>
    <dgm:cxn modelId="{DFEFF572-1DB2-42E8-8F18-AC9ACE1ADFD9}" type="presOf" srcId="{7BC672D2-13AA-4DE3-A154-AE340C1F3225}" destId="{98AC098C-A686-4890-A07D-AD0830D0F95E}" srcOrd="0" destOrd="0" presId="urn:microsoft.com/office/officeart/2005/8/layout/process4"/>
    <dgm:cxn modelId="{CD828780-6E2D-46C8-B019-7F194600F068}" type="presOf" srcId="{62054C70-71C9-4BC2-A4DF-21EB447E7434}" destId="{6FA6A5BA-10E4-4918-967A-D9AD508BB326}" srcOrd="0" destOrd="0" presId="urn:microsoft.com/office/officeart/2005/8/layout/process4"/>
    <dgm:cxn modelId="{E9082691-CFC6-4F65-B32C-947B7ECA2B18}" type="presOf" srcId="{0EDD3D28-4A87-48EE-957E-A89B5CAA8133}" destId="{EBE6D64F-0E4F-4AA8-A329-EC1B3BB1DCEB}" srcOrd="0" destOrd="0" presId="urn:microsoft.com/office/officeart/2005/8/layout/process4"/>
    <dgm:cxn modelId="{64209DC8-BA87-4A2B-AD13-886789A284F9}" srcId="{DA20E2DF-5FEC-415E-A5B6-718B0EAD2343}" destId="{62054C70-71C9-4BC2-A4DF-21EB447E7434}" srcOrd="2" destOrd="0" parTransId="{44D201AB-0F57-40F6-8B4D-49211AD1D30D}" sibTransId="{B5F806A7-1D47-4637-9F5A-FACA419570CB}"/>
    <dgm:cxn modelId="{70F4C6D0-AF7D-4D24-ABE8-358DD300ABCF}" srcId="{DA20E2DF-5FEC-415E-A5B6-718B0EAD2343}" destId="{0EDD3D28-4A87-48EE-957E-A89B5CAA8133}" srcOrd="0" destOrd="0" parTransId="{FD370404-04E5-48A3-A09E-8482E5BF329B}" sibTransId="{C25DEE58-1356-446A-8768-CB6CCC8B0F6E}"/>
    <dgm:cxn modelId="{2746126E-0C4C-4C49-873C-0911413BC0A0}" type="presParOf" srcId="{DC7FF644-8321-4CAA-8744-E55F64D4AC3A}" destId="{75D2F37A-4DCF-4FCE-8936-D87497E69AC6}" srcOrd="0" destOrd="0" presId="urn:microsoft.com/office/officeart/2005/8/layout/process4"/>
    <dgm:cxn modelId="{43FAF240-38F9-4B7F-8633-0C78C3790B85}" type="presParOf" srcId="{75D2F37A-4DCF-4FCE-8936-D87497E69AC6}" destId="{6FA6A5BA-10E4-4918-967A-D9AD508BB326}" srcOrd="0" destOrd="0" presId="urn:microsoft.com/office/officeart/2005/8/layout/process4"/>
    <dgm:cxn modelId="{3B8463C6-B6AC-41C7-AF74-025C5D576242}" type="presParOf" srcId="{DC7FF644-8321-4CAA-8744-E55F64D4AC3A}" destId="{246388F2-3434-463E-BC14-4EAE24E80D2A}" srcOrd="1" destOrd="0" presId="urn:microsoft.com/office/officeart/2005/8/layout/process4"/>
    <dgm:cxn modelId="{5ACDCA61-E52C-4B64-8059-4F6D818024D2}" type="presParOf" srcId="{DC7FF644-8321-4CAA-8744-E55F64D4AC3A}" destId="{8A92B26C-D8C9-467A-8570-B5AF3E6D6F6E}" srcOrd="2" destOrd="0" presId="urn:microsoft.com/office/officeart/2005/8/layout/process4"/>
    <dgm:cxn modelId="{6D4AEDCD-30E0-49AB-975E-A0D65961DDF4}" type="presParOf" srcId="{8A92B26C-D8C9-467A-8570-B5AF3E6D6F6E}" destId="{98AC098C-A686-4890-A07D-AD0830D0F95E}" srcOrd="0" destOrd="0" presId="urn:microsoft.com/office/officeart/2005/8/layout/process4"/>
    <dgm:cxn modelId="{C0948E38-1003-4833-AC11-46662065F373}" type="presParOf" srcId="{DC7FF644-8321-4CAA-8744-E55F64D4AC3A}" destId="{BD6F9A6A-AA90-413D-8815-BEF96A881C8E}" srcOrd="3" destOrd="0" presId="urn:microsoft.com/office/officeart/2005/8/layout/process4"/>
    <dgm:cxn modelId="{48EF3479-1F9A-4EAB-890F-20FC21403B01}" type="presParOf" srcId="{DC7FF644-8321-4CAA-8744-E55F64D4AC3A}" destId="{F98D6F92-C177-4209-96D6-905379D11C87}" srcOrd="4" destOrd="0" presId="urn:microsoft.com/office/officeart/2005/8/layout/process4"/>
    <dgm:cxn modelId="{9AFFC8EF-C826-4A5C-9B57-295B5045AB16}" type="presParOf" srcId="{F98D6F92-C177-4209-96D6-905379D11C87}" destId="{EBE6D64F-0E4F-4AA8-A329-EC1B3BB1DCEB}"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12B3A8-7DA0-427C-BC9D-94FE85A2DFD2}"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A030E80B-A2D7-46FD-9C15-7EAE478CF130}">
      <dgm:prSet custT="1"/>
      <dgm:spPr>
        <a:solidFill>
          <a:schemeClr val="accent2">
            <a:lumMod val="75000"/>
          </a:schemeClr>
        </a:solidFill>
      </dgm:spPr>
      <dgm:t>
        <a:bodyPr/>
        <a:lstStyle/>
        <a:p>
          <a:pPr algn="just"/>
          <a:r>
            <a:rPr lang="el-GR" sz="2600" dirty="0">
              <a:solidFill>
                <a:schemeClr val="bg1"/>
              </a:solidFill>
              <a:latin typeface="Times New Roman" panose="02020603050405020304" pitchFamily="18" charset="0"/>
              <a:cs typeface="Times New Roman" panose="02020603050405020304" pitchFamily="18" charset="0"/>
            </a:rPr>
            <a:t>Η ΤΝ μπορεί να </a:t>
          </a:r>
          <a:r>
            <a:rPr lang="el-GR" sz="2600" dirty="0">
              <a:solidFill>
                <a:srgbClr val="FFFF00"/>
              </a:solidFill>
              <a:latin typeface="Times New Roman" panose="02020603050405020304" pitchFamily="18" charset="0"/>
              <a:cs typeface="Times New Roman" panose="02020603050405020304" pitchFamily="18" charset="0"/>
            </a:rPr>
            <a:t>βελτιστοποιήσει</a:t>
          </a:r>
          <a:r>
            <a:rPr lang="el-GR" sz="2600" dirty="0">
              <a:solidFill>
                <a:schemeClr val="tx1"/>
              </a:solidFill>
              <a:latin typeface="Times New Roman" panose="02020603050405020304" pitchFamily="18" charset="0"/>
              <a:cs typeface="Times New Roman" panose="02020603050405020304" pitchFamily="18" charset="0"/>
            </a:rPr>
            <a:t> </a:t>
          </a:r>
          <a:r>
            <a:rPr lang="el-GR" sz="2600" dirty="0">
              <a:solidFill>
                <a:schemeClr val="bg1"/>
              </a:solidFill>
              <a:latin typeface="Times New Roman" panose="02020603050405020304" pitchFamily="18" charset="0"/>
              <a:cs typeface="Times New Roman" panose="02020603050405020304" pitchFamily="18" charset="0"/>
            </a:rPr>
            <a:t>την πρόβλεψη ζήτησης μέσω ανάλυσης μεγάλων δεδομένων, να </a:t>
          </a:r>
          <a:r>
            <a:rPr lang="el-GR" sz="2600" dirty="0">
              <a:solidFill>
                <a:srgbClr val="FFFF00"/>
              </a:solidFill>
              <a:latin typeface="Times New Roman" panose="02020603050405020304" pitchFamily="18" charset="0"/>
              <a:cs typeface="Times New Roman" panose="02020603050405020304" pitchFamily="18" charset="0"/>
            </a:rPr>
            <a:t>ενισχύσει</a:t>
          </a:r>
          <a:r>
            <a:rPr lang="el-GR" sz="2600" dirty="0">
              <a:solidFill>
                <a:schemeClr val="tx1"/>
              </a:solidFill>
              <a:latin typeface="Times New Roman" panose="02020603050405020304" pitchFamily="18" charset="0"/>
              <a:cs typeface="Times New Roman" panose="02020603050405020304" pitchFamily="18" charset="0"/>
            </a:rPr>
            <a:t> </a:t>
          </a:r>
          <a:r>
            <a:rPr lang="el-GR" sz="2600" dirty="0">
              <a:solidFill>
                <a:schemeClr val="bg1"/>
              </a:solidFill>
              <a:latin typeface="Times New Roman" panose="02020603050405020304" pitchFamily="18" charset="0"/>
              <a:cs typeface="Times New Roman" panose="02020603050405020304" pitchFamily="18" charset="0"/>
            </a:rPr>
            <a:t>τη διαφάνεια με παρακολούθηση σε πραγματικό χρόνο και να </a:t>
          </a:r>
          <a:r>
            <a:rPr lang="el-GR" sz="2600" dirty="0">
              <a:solidFill>
                <a:srgbClr val="FFFF00"/>
              </a:solidFill>
              <a:latin typeface="Times New Roman" panose="02020603050405020304" pitchFamily="18" charset="0"/>
              <a:cs typeface="Times New Roman" panose="02020603050405020304" pitchFamily="18" charset="0"/>
            </a:rPr>
            <a:t>προωθήσει</a:t>
          </a:r>
          <a:r>
            <a:rPr lang="el-GR" sz="2600" dirty="0">
              <a:solidFill>
                <a:schemeClr val="tx1"/>
              </a:solidFill>
              <a:latin typeface="Times New Roman" panose="02020603050405020304" pitchFamily="18" charset="0"/>
              <a:cs typeface="Times New Roman" panose="02020603050405020304" pitchFamily="18" charset="0"/>
            </a:rPr>
            <a:t> </a:t>
          </a:r>
          <a:r>
            <a:rPr lang="el-GR" sz="2600" dirty="0">
              <a:solidFill>
                <a:schemeClr val="bg1"/>
              </a:solidFill>
              <a:latin typeface="Times New Roman" panose="02020603050405020304" pitchFamily="18" charset="0"/>
              <a:cs typeface="Times New Roman" panose="02020603050405020304" pitchFamily="18" charset="0"/>
            </a:rPr>
            <a:t>τη βιωσιμότητα μέσω έξυπνης διαχείρισης πόρων. </a:t>
          </a:r>
          <a:endParaRPr lang="en-US" sz="2600" dirty="0">
            <a:solidFill>
              <a:schemeClr val="bg1"/>
            </a:solidFill>
            <a:latin typeface="Times New Roman" panose="02020603050405020304" pitchFamily="18" charset="0"/>
            <a:cs typeface="Times New Roman" panose="02020603050405020304" pitchFamily="18" charset="0"/>
          </a:endParaRPr>
        </a:p>
      </dgm:t>
    </dgm:pt>
    <dgm:pt modelId="{4818E9C9-23A8-4C78-AA4A-91C037646189}" type="parTrans" cxnId="{3FCD8D10-502D-4395-A714-64892C5AEEAC}">
      <dgm:prSet/>
      <dgm:spPr/>
      <dgm:t>
        <a:bodyPr/>
        <a:lstStyle/>
        <a:p>
          <a:pPr algn="just"/>
          <a:endParaRPr lang="en-US" sz="2800">
            <a:latin typeface="Times New Roman" panose="02020603050405020304" pitchFamily="18" charset="0"/>
            <a:cs typeface="Times New Roman" panose="02020603050405020304" pitchFamily="18" charset="0"/>
          </a:endParaRPr>
        </a:p>
      </dgm:t>
    </dgm:pt>
    <dgm:pt modelId="{F0DF6ADB-6935-42DF-BF9D-D6A52FCB2CA2}" type="sibTrans" cxnId="{3FCD8D10-502D-4395-A714-64892C5AEEAC}">
      <dgm:prSet/>
      <dgm:spPr/>
      <dgm:t>
        <a:bodyPr/>
        <a:lstStyle/>
        <a:p>
          <a:pPr algn="just"/>
          <a:endParaRPr lang="en-US" sz="2800">
            <a:latin typeface="Times New Roman" panose="02020603050405020304" pitchFamily="18" charset="0"/>
            <a:cs typeface="Times New Roman" panose="02020603050405020304" pitchFamily="18" charset="0"/>
          </a:endParaRPr>
        </a:p>
      </dgm:t>
    </dgm:pt>
    <dgm:pt modelId="{0B5361C1-1658-4845-AA88-84B310AEEA4C}">
      <dgm:prSet custT="1"/>
      <dgm:spPr>
        <a:solidFill>
          <a:schemeClr val="accent1">
            <a:lumMod val="75000"/>
          </a:schemeClr>
        </a:solidFill>
      </dgm:spPr>
      <dgm:t>
        <a:bodyPr/>
        <a:lstStyle/>
        <a:p>
          <a:pPr algn="just"/>
          <a:r>
            <a:rPr lang="el-GR" sz="2600" dirty="0">
              <a:latin typeface="Times New Roman" panose="02020603050405020304" pitchFamily="18" charset="0"/>
              <a:cs typeface="Times New Roman" panose="02020603050405020304" pitchFamily="18" charset="0"/>
            </a:rPr>
            <a:t>Μπορεί να </a:t>
          </a:r>
          <a:r>
            <a:rPr lang="el-GR" sz="2600" dirty="0">
              <a:solidFill>
                <a:srgbClr val="FFFF00"/>
              </a:solidFill>
              <a:latin typeface="Times New Roman" panose="02020603050405020304" pitchFamily="18" charset="0"/>
              <a:cs typeface="Times New Roman" panose="02020603050405020304" pitchFamily="18" charset="0"/>
            </a:rPr>
            <a:t>αυτοματοποιήσει</a:t>
          </a:r>
          <a:r>
            <a:rPr lang="el-GR" sz="2600" dirty="0">
              <a:latin typeface="Times New Roman" panose="02020603050405020304" pitchFamily="18" charset="0"/>
              <a:cs typeface="Times New Roman" panose="02020603050405020304" pitchFamily="18" charset="0"/>
            </a:rPr>
            <a:t> τη διαχείριση αποθηκών, να </a:t>
          </a:r>
          <a:r>
            <a:rPr lang="el-GR" sz="2600" dirty="0">
              <a:solidFill>
                <a:srgbClr val="FFFF00"/>
              </a:solidFill>
              <a:latin typeface="Times New Roman" panose="02020603050405020304" pitchFamily="18" charset="0"/>
              <a:cs typeface="Times New Roman" panose="02020603050405020304" pitchFamily="18" charset="0"/>
            </a:rPr>
            <a:t>προβλέψει</a:t>
          </a:r>
          <a:r>
            <a:rPr lang="el-GR" sz="2600" dirty="0">
              <a:latin typeface="Times New Roman" panose="02020603050405020304" pitchFamily="18" charset="0"/>
              <a:cs typeface="Times New Roman" panose="02020603050405020304" pitchFamily="18" charset="0"/>
            </a:rPr>
            <a:t> πιθανές ελλείψεις υλικών και να ενισχύσει τη συνεργασία με προμηθευτές μέσω έξυπνων πλατφορμών. </a:t>
          </a:r>
          <a:endParaRPr lang="en-US" sz="2600" dirty="0">
            <a:latin typeface="Times New Roman" panose="02020603050405020304" pitchFamily="18" charset="0"/>
            <a:cs typeface="Times New Roman" panose="02020603050405020304" pitchFamily="18" charset="0"/>
          </a:endParaRPr>
        </a:p>
      </dgm:t>
    </dgm:pt>
    <dgm:pt modelId="{97E30453-8AA9-4681-80EA-D184D93597C8}" type="parTrans" cxnId="{A015239B-97DD-4D44-AD37-7B0251D949C2}">
      <dgm:prSet/>
      <dgm:spPr/>
      <dgm:t>
        <a:bodyPr/>
        <a:lstStyle/>
        <a:p>
          <a:pPr algn="just"/>
          <a:endParaRPr lang="en-US" sz="2800">
            <a:latin typeface="Times New Roman" panose="02020603050405020304" pitchFamily="18" charset="0"/>
            <a:cs typeface="Times New Roman" panose="02020603050405020304" pitchFamily="18" charset="0"/>
          </a:endParaRPr>
        </a:p>
      </dgm:t>
    </dgm:pt>
    <dgm:pt modelId="{260C68C6-03F0-4A5C-BBF9-C8103AFE99F7}" type="sibTrans" cxnId="{A015239B-97DD-4D44-AD37-7B0251D949C2}">
      <dgm:prSet/>
      <dgm:spPr/>
      <dgm:t>
        <a:bodyPr/>
        <a:lstStyle/>
        <a:p>
          <a:pPr algn="just"/>
          <a:endParaRPr lang="en-US" sz="2800">
            <a:latin typeface="Times New Roman" panose="02020603050405020304" pitchFamily="18" charset="0"/>
            <a:cs typeface="Times New Roman" panose="02020603050405020304" pitchFamily="18" charset="0"/>
          </a:endParaRPr>
        </a:p>
      </dgm:t>
    </dgm:pt>
    <dgm:pt modelId="{2C168057-652B-4DD0-9B9A-A4E877F7850D}">
      <dgm:prSet custT="1"/>
      <dgm:spPr>
        <a:solidFill>
          <a:schemeClr val="accent6">
            <a:lumMod val="75000"/>
          </a:schemeClr>
        </a:solidFill>
      </dgm:spPr>
      <dgm:t>
        <a:bodyPr/>
        <a:lstStyle/>
        <a:p>
          <a:pPr algn="just"/>
          <a:r>
            <a:rPr lang="en-US" sz="2600" dirty="0">
              <a:latin typeface="Times New Roman" panose="02020603050405020304" pitchFamily="18" charset="0"/>
              <a:cs typeface="Times New Roman" panose="02020603050405020304" pitchFamily="18" charset="0"/>
            </a:rPr>
            <a:t>H </a:t>
          </a:r>
          <a:r>
            <a:rPr lang="el-GR" sz="2600" dirty="0">
              <a:latin typeface="Times New Roman" panose="02020603050405020304" pitchFamily="18" charset="0"/>
              <a:cs typeface="Times New Roman" panose="02020603050405020304" pitchFamily="18" charset="0"/>
            </a:rPr>
            <a:t>ΤΝ όχι μόνο </a:t>
          </a:r>
          <a:r>
            <a:rPr lang="el-GR" sz="2600" dirty="0">
              <a:solidFill>
                <a:srgbClr val="FFFF00"/>
              </a:solidFill>
              <a:latin typeface="Times New Roman" panose="02020603050405020304" pitchFamily="18" charset="0"/>
              <a:cs typeface="Times New Roman" panose="02020603050405020304" pitchFamily="18" charset="0"/>
            </a:rPr>
            <a:t>αντιμετωπίζει</a:t>
          </a:r>
          <a:r>
            <a:rPr lang="el-GR" sz="2600" dirty="0">
              <a:latin typeface="Times New Roman" panose="02020603050405020304" pitchFamily="18" charset="0"/>
              <a:cs typeface="Times New Roman" panose="02020603050405020304" pitchFamily="18" charset="0"/>
            </a:rPr>
            <a:t> τις υπάρχουσες προκλήσεις αλλά μετατρέπει την εφοδιαστική αλυσίδα σε ένα πιο ανθεκτικό, </a:t>
          </a:r>
          <a:r>
            <a:rPr lang="el-GR" sz="2600" dirty="0">
              <a:solidFill>
                <a:srgbClr val="FFFF00"/>
              </a:solidFill>
              <a:latin typeface="Times New Roman" panose="02020603050405020304" pitchFamily="18" charset="0"/>
              <a:cs typeface="Times New Roman" panose="02020603050405020304" pitchFamily="18" charset="0"/>
            </a:rPr>
            <a:t>αποδοτικό</a:t>
          </a:r>
          <a:r>
            <a:rPr lang="el-GR" sz="2600" dirty="0">
              <a:latin typeface="Times New Roman" panose="02020603050405020304" pitchFamily="18" charset="0"/>
              <a:cs typeface="Times New Roman" panose="02020603050405020304" pitchFamily="18" charset="0"/>
            </a:rPr>
            <a:t> και </a:t>
          </a:r>
          <a:r>
            <a:rPr lang="el-GR" sz="2600" dirty="0">
              <a:solidFill>
                <a:srgbClr val="FFFF00"/>
              </a:solidFill>
              <a:latin typeface="Times New Roman" panose="02020603050405020304" pitchFamily="18" charset="0"/>
              <a:cs typeface="Times New Roman" panose="02020603050405020304" pitchFamily="18" charset="0"/>
            </a:rPr>
            <a:t>βιώσιμο</a:t>
          </a:r>
          <a:r>
            <a:rPr lang="el-GR" sz="2600" dirty="0">
              <a:latin typeface="Times New Roman" panose="02020603050405020304" pitchFamily="18" charset="0"/>
              <a:cs typeface="Times New Roman" panose="02020603050405020304" pitchFamily="18" charset="0"/>
            </a:rPr>
            <a:t> σύστημα, ικανό να ανταποκριθεί στις σύγχρονες απαιτήσεις.</a:t>
          </a:r>
          <a:endParaRPr lang="en-US" sz="2600" dirty="0">
            <a:latin typeface="Times New Roman" panose="02020603050405020304" pitchFamily="18" charset="0"/>
            <a:cs typeface="Times New Roman" panose="02020603050405020304" pitchFamily="18" charset="0"/>
          </a:endParaRPr>
        </a:p>
      </dgm:t>
    </dgm:pt>
    <dgm:pt modelId="{C117578A-7E3E-4CFE-B275-8735B8C22AE4}" type="parTrans" cxnId="{972326BA-72ED-4449-BCAA-7A1EE54F4546}">
      <dgm:prSet/>
      <dgm:spPr/>
      <dgm:t>
        <a:bodyPr/>
        <a:lstStyle/>
        <a:p>
          <a:pPr algn="just"/>
          <a:endParaRPr lang="en-US" sz="2800">
            <a:latin typeface="Times New Roman" panose="02020603050405020304" pitchFamily="18" charset="0"/>
            <a:cs typeface="Times New Roman" panose="02020603050405020304" pitchFamily="18" charset="0"/>
          </a:endParaRPr>
        </a:p>
      </dgm:t>
    </dgm:pt>
    <dgm:pt modelId="{C1EA085E-07D6-45F6-9F70-623AC22EDBE3}" type="sibTrans" cxnId="{972326BA-72ED-4449-BCAA-7A1EE54F4546}">
      <dgm:prSet/>
      <dgm:spPr/>
      <dgm:t>
        <a:bodyPr/>
        <a:lstStyle/>
        <a:p>
          <a:pPr algn="just"/>
          <a:endParaRPr lang="en-US" sz="2800">
            <a:latin typeface="Times New Roman" panose="02020603050405020304" pitchFamily="18" charset="0"/>
            <a:cs typeface="Times New Roman" panose="02020603050405020304" pitchFamily="18" charset="0"/>
          </a:endParaRPr>
        </a:p>
      </dgm:t>
    </dgm:pt>
    <dgm:pt modelId="{60095AF7-6038-4B10-9C37-F0B5E34F0CC7}" type="pres">
      <dgm:prSet presAssocID="{9B12B3A8-7DA0-427C-BC9D-94FE85A2DFD2}" presName="linear" presStyleCnt="0">
        <dgm:presLayoutVars>
          <dgm:animLvl val="lvl"/>
          <dgm:resizeHandles val="exact"/>
        </dgm:presLayoutVars>
      </dgm:prSet>
      <dgm:spPr/>
    </dgm:pt>
    <dgm:pt modelId="{425B7069-FBAF-45B3-BF54-717B93A94223}" type="pres">
      <dgm:prSet presAssocID="{A030E80B-A2D7-46FD-9C15-7EAE478CF130}" presName="parentText" presStyleLbl="node1" presStyleIdx="0" presStyleCnt="3">
        <dgm:presLayoutVars>
          <dgm:chMax val="0"/>
          <dgm:bulletEnabled val="1"/>
        </dgm:presLayoutVars>
      </dgm:prSet>
      <dgm:spPr/>
    </dgm:pt>
    <dgm:pt modelId="{DC0B5062-60AD-4FDF-A0D9-B405EEEB4DE1}" type="pres">
      <dgm:prSet presAssocID="{F0DF6ADB-6935-42DF-BF9D-D6A52FCB2CA2}" presName="spacer" presStyleCnt="0"/>
      <dgm:spPr/>
    </dgm:pt>
    <dgm:pt modelId="{0DE7E824-F1A3-4D62-8585-FB430A618106}" type="pres">
      <dgm:prSet presAssocID="{0B5361C1-1658-4845-AA88-84B310AEEA4C}" presName="parentText" presStyleLbl="node1" presStyleIdx="1" presStyleCnt="3">
        <dgm:presLayoutVars>
          <dgm:chMax val="0"/>
          <dgm:bulletEnabled val="1"/>
        </dgm:presLayoutVars>
      </dgm:prSet>
      <dgm:spPr/>
    </dgm:pt>
    <dgm:pt modelId="{7EF3FB23-2BA8-48A8-A683-0AF593A0023F}" type="pres">
      <dgm:prSet presAssocID="{260C68C6-03F0-4A5C-BBF9-C8103AFE99F7}" presName="spacer" presStyleCnt="0"/>
      <dgm:spPr/>
    </dgm:pt>
    <dgm:pt modelId="{6AF34F7D-BF61-4B5B-8D3D-DE7F7B2EB988}" type="pres">
      <dgm:prSet presAssocID="{2C168057-652B-4DD0-9B9A-A4E877F7850D}" presName="parentText" presStyleLbl="node1" presStyleIdx="2" presStyleCnt="3" custLinFactNeighborY="44990">
        <dgm:presLayoutVars>
          <dgm:chMax val="0"/>
          <dgm:bulletEnabled val="1"/>
        </dgm:presLayoutVars>
      </dgm:prSet>
      <dgm:spPr/>
    </dgm:pt>
  </dgm:ptLst>
  <dgm:cxnLst>
    <dgm:cxn modelId="{EC414B08-4544-433E-B760-BB6DCACBF628}" type="presOf" srcId="{2C168057-652B-4DD0-9B9A-A4E877F7850D}" destId="{6AF34F7D-BF61-4B5B-8D3D-DE7F7B2EB988}" srcOrd="0" destOrd="0" presId="urn:microsoft.com/office/officeart/2005/8/layout/vList2"/>
    <dgm:cxn modelId="{6C9ADD0C-36AA-4B7D-90D5-910C01CE557A}" type="presOf" srcId="{0B5361C1-1658-4845-AA88-84B310AEEA4C}" destId="{0DE7E824-F1A3-4D62-8585-FB430A618106}" srcOrd="0" destOrd="0" presId="urn:microsoft.com/office/officeart/2005/8/layout/vList2"/>
    <dgm:cxn modelId="{3FCD8D10-502D-4395-A714-64892C5AEEAC}" srcId="{9B12B3A8-7DA0-427C-BC9D-94FE85A2DFD2}" destId="{A030E80B-A2D7-46FD-9C15-7EAE478CF130}" srcOrd="0" destOrd="0" parTransId="{4818E9C9-23A8-4C78-AA4A-91C037646189}" sibTransId="{F0DF6ADB-6935-42DF-BF9D-D6A52FCB2CA2}"/>
    <dgm:cxn modelId="{06BF8887-C757-43C5-8E43-AA7143489C66}" type="presOf" srcId="{9B12B3A8-7DA0-427C-BC9D-94FE85A2DFD2}" destId="{60095AF7-6038-4B10-9C37-F0B5E34F0CC7}" srcOrd="0" destOrd="0" presId="urn:microsoft.com/office/officeart/2005/8/layout/vList2"/>
    <dgm:cxn modelId="{A015239B-97DD-4D44-AD37-7B0251D949C2}" srcId="{9B12B3A8-7DA0-427C-BC9D-94FE85A2DFD2}" destId="{0B5361C1-1658-4845-AA88-84B310AEEA4C}" srcOrd="1" destOrd="0" parTransId="{97E30453-8AA9-4681-80EA-D184D93597C8}" sibTransId="{260C68C6-03F0-4A5C-BBF9-C8103AFE99F7}"/>
    <dgm:cxn modelId="{972326BA-72ED-4449-BCAA-7A1EE54F4546}" srcId="{9B12B3A8-7DA0-427C-BC9D-94FE85A2DFD2}" destId="{2C168057-652B-4DD0-9B9A-A4E877F7850D}" srcOrd="2" destOrd="0" parTransId="{C117578A-7E3E-4CFE-B275-8735B8C22AE4}" sibTransId="{C1EA085E-07D6-45F6-9F70-623AC22EDBE3}"/>
    <dgm:cxn modelId="{6F7DF6DE-18DF-4A4D-AE59-C7A4B352E49F}" type="presOf" srcId="{A030E80B-A2D7-46FD-9C15-7EAE478CF130}" destId="{425B7069-FBAF-45B3-BF54-717B93A94223}" srcOrd="0" destOrd="0" presId="urn:microsoft.com/office/officeart/2005/8/layout/vList2"/>
    <dgm:cxn modelId="{0FD06BE7-380A-436B-9376-96E7805220DF}" type="presParOf" srcId="{60095AF7-6038-4B10-9C37-F0B5E34F0CC7}" destId="{425B7069-FBAF-45B3-BF54-717B93A94223}" srcOrd="0" destOrd="0" presId="urn:microsoft.com/office/officeart/2005/8/layout/vList2"/>
    <dgm:cxn modelId="{AC41EBDB-3204-4FA5-8C11-3E96490B231F}" type="presParOf" srcId="{60095AF7-6038-4B10-9C37-F0B5E34F0CC7}" destId="{DC0B5062-60AD-4FDF-A0D9-B405EEEB4DE1}" srcOrd="1" destOrd="0" presId="urn:microsoft.com/office/officeart/2005/8/layout/vList2"/>
    <dgm:cxn modelId="{E4F49155-795F-4286-BD25-A14C3F0E8A25}" type="presParOf" srcId="{60095AF7-6038-4B10-9C37-F0B5E34F0CC7}" destId="{0DE7E824-F1A3-4D62-8585-FB430A618106}" srcOrd="2" destOrd="0" presId="urn:microsoft.com/office/officeart/2005/8/layout/vList2"/>
    <dgm:cxn modelId="{3C8D894C-0D26-45C9-8EDA-2D593B663A0E}" type="presParOf" srcId="{60095AF7-6038-4B10-9C37-F0B5E34F0CC7}" destId="{7EF3FB23-2BA8-48A8-A683-0AF593A0023F}" srcOrd="3" destOrd="0" presId="urn:microsoft.com/office/officeart/2005/8/layout/vList2"/>
    <dgm:cxn modelId="{1A8D9891-1C15-4E25-84C0-42F2134FCDE3}" type="presParOf" srcId="{60095AF7-6038-4B10-9C37-F0B5E34F0CC7}" destId="{6AF34F7D-BF61-4B5B-8D3D-DE7F7B2EB98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25E718F-598E-429B-B621-3FD470B58913}"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85F71379-DD7E-493B-ABD5-FCF5572E7204}">
      <dgm:prSet/>
      <dgm:spPr/>
      <dgm:t>
        <a:bodyPr/>
        <a:lstStyle/>
        <a:p>
          <a:pPr algn="just"/>
          <a:r>
            <a:rPr lang="el-GR" dirty="0">
              <a:latin typeface="Times New Roman" panose="02020603050405020304" pitchFamily="18" charset="0"/>
              <a:cs typeface="Times New Roman" panose="02020603050405020304" pitchFamily="18" charset="0"/>
            </a:rPr>
            <a:t>Στη διαχείριση αποθηκών, ρομποτικά συστήματα με τεχνολογία όρασης υπολογιστών ταξινομούν και μετακινούν προϊόντα, </a:t>
          </a:r>
          <a:r>
            <a:rPr lang="el-GR" dirty="0">
              <a:solidFill>
                <a:srgbClr val="FFFF00"/>
              </a:solidFill>
              <a:latin typeface="Times New Roman" panose="02020603050405020304" pitchFamily="18" charset="0"/>
              <a:cs typeface="Times New Roman" panose="02020603050405020304" pitchFamily="18" charset="0"/>
            </a:rPr>
            <a:t>μειώνοντας</a:t>
          </a:r>
          <a:r>
            <a:rPr lang="el-GR" dirty="0">
              <a:latin typeface="Times New Roman" panose="02020603050405020304" pitchFamily="18" charset="0"/>
              <a:cs typeface="Times New Roman" panose="02020603050405020304" pitchFamily="18" charset="0"/>
            </a:rPr>
            <a:t> τον χρόνο επεξεργασίας. </a:t>
          </a:r>
          <a:endParaRPr lang="en-US" dirty="0">
            <a:latin typeface="Times New Roman" panose="02020603050405020304" pitchFamily="18" charset="0"/>
            <a:cs typeface="Times New Roman" panose="02020603050405020304" pitchFamily="18" charset="0"/>
          </a:endParaRPr>
        </a:p>
      </dgm:t>
    </dgm:pt>
    <dgm:pt modelId="{1DDCD8C9-9B9E-4981-BBB2-AE4F6DB3B9EB}" type="parTrans" cxnId="{1DEF5C4C-9B95-44DC-83D7-A9568D6E5F69}">
      <dgm:prSet/>
      <dgm:spPr/>
      <dgm:t>
        <a:bodyPr/>
        <a:lstStyle/>
        <a:p>
          <a:pPr algn="just"/>
          <a:endParaRPr lang="en-US">
            <a:latin typeface="Times New Roman" panose="02020603050405020304" pitchFamily="18" charset="0"/>
            <a:cs typeface="Times New Roman" panose="02020603050405020304" pitchFamily="18" charset="0"/>
          </a:endParaRPr>
        </a:p>
      </dgm:t>
    </dgm:pt>
    <dgm:pt modelId="{51B58A1A-DA4B-495C-8E01-AB523B560890}" type="sibTrans" cxnId="{1DEF5C4C-9B95-44DC-83D7-A9568D6E5F69}">
      <dgm:prSet/>
      <dgm:spPr/>
      <dgm:t>
        <a:bodyPr/>
        <a:lstStyle/>
        <a:p>
          <a:pPr algn="just"/>
          <a:endParaRPr lang="en-US">
            <a:latin typeface="Times New Roman" panose="02020603050405020304" pitchFamily="18" charset="0"/>
            <a:cs typeface="Times New Roman" panose="02020603050405020304" pitchFamily="18" charset="0"/>
          </a:endParaRPr>
        </a:p>
      </dgm:t>
    </dgm:pt>
    <dgm:pt modelId="{9CED1817-C7B4-49EB-99D3-BC7B76D5EB58}">
      <dgm:prSet/>
      <dgm:spPr/>
      <dgm:t>
        <a:bodyPr/>
        <a:lstStyle/>
        <a:p>
          <a:pPr algn="just"/>
          <a:r>
            <a:rPr lang="el-GR" dirty="0">
              <a:latin typeface="Times New Roman" panose="02020603050405020304" pitchFamily="18" charset="0"/>
              <a:cs typeface="Times New Roman" panose="02020603050405020304" pitchFamily="18" charset="0"/>
            </a:rPr>
            <a:t>Επιπλέον, χρησιμοποιείται για τη </a:t>
          </a:r>
          <a:r>
            <a:rPr lang="el-GR" dirty="0">
              <a:solidFill>
                <a:srgbClr val="FFFF00"/>
              </a:solidFill>
              <a:latin typeface="Times New Roman" panose="02020603050405020304" pitchFamily="18" charset="0"/>
              <a:cs typeface="Times New Roman" panose="02020603050405020304" pitchFamily="18" charset="0"/>
            </a:rPr>
            <a:t>βελτιστοποίηση</a:t>
          </a:r>
          <a:r>
            <a:rPr lang="el-GR" dirty="0">
              <a:latin typeface="Times New Roman" panose="02020603050405020304" pitchFamily="18" charset="0"/>
              <a:cs typeface="Times New Roman" panose="02020603050405020304" pitchFamily="18" charset="0"/>
            </a:rPr>
            <a:t> των </a:t>
          </a:r>
          <a:r>
            <a:rPr lang="el-GR" dirty="0">
              <a:solidFill>
                <a:srgbClr val="FFFF00"/>
              </a:solidFill>
              <a:latin typeface="Times New Roman" panose="02020603050405020304" pitchFamily="18" charset="0"/>
              <a:cs typeface="Times New Roman" panose="02020603050405020304" pitchFamily="18" charset="0"/>
            </a:rPr>
            <a:t>μεταφορών</a:t>
          </a:r>
          <a:r>
            <a:rPr lang="el-GR" dirty="0">
              <a:latin typeface="Times New Roman" panose="02020603050405020304" pitchFamily="18" charset="0"/>
              <a:cs typeface="Times New Roman" panose="02020603050405020304" pitchFamily="18" charset="0"/>
            </a:rPr>
            <a:t> μέσω αλγορίθμων που υπολογίζουν τις πιο αποδοτικές διαδρομές, λαμβάνοντας υπόψη παράγοντες όπως η κατανάλωση καυσίμων και οι χρόνοι παράδοσης.</a:t>
          </a:r>
          <a:endParaRPr lang="en-US" dirty="0">
            <a:latin typeface="Times New Roman" panose="02020603050405020304" pitchFamily="18" charset="0"/>
            <a:cs typeface="Times New Roman" panose="02020603050405020304" pitchFamily="18" charset="0"/>
          </a:endParaRPr>
        </a:p>
      </dgm:t>
    </dgm:pt>
    <dgm:pt modelId="{4121E4DE-539D-4550-B7DF-A69423568B05}" type="parTrans" cxnId="{76B3C7E5-F41D-48A4-AE5C-546C5F87F89A}">
      <dgm:prSet/>
      <dgm:spPr/>
      <dgm:t>
        <a:bodyPr/>
        <a:lstStyle/>
        <a:p>
          <a:pPr algn="just"/>
          <a:endParaRPr lang="en-US">
            <a:latin typeface="Times New Roman" panose="02020603050405020304" pitchFamily="18" charset="0"/>
            <a:cs typeface="Times New Roman" panose="02020603050405020304" pitchFamily="18" charset="0"/>
          </a:endParaRPr>
        </a:p>
      </dgm:t>
    </dgm:pt>
    <dgm:pt modelId="{7A8C4884-3949-4BC5-9477-93CEAF86DC17}" type="sibTrans" cxnId="{76B3C7E5-F41D-48A4-AE5C-546C5F87F89A}">
      <dgm:prSet/>
      <dgm:spPr/>
      <dgm:t>
        <a:bodyPr/>
        <a:lstStyle/>
        <a:p>
          <a:pPr algn="just"/>
          <a:endParaRPr lang="en-US">
            <a:latin typeface="Times New Roman" panose="02020603050405020304" pitchFamily="18" charset="0"/>
            <a:cs typeface="Times New Roman" panose="02020603050405020304" pitchFamily="18" charset="0"/>
          </a:endParaRPr>
        </a:p>
      </dgm:t>
    </dgm:pt>
    <dgm:pt modelId="{F00BD307-5B8A-4D65-AE5A-5F41837361DA}">
      <dgm:prSet/>
      <dgm:spPr/>
      <dgm:t>
        <a:bodyPr/>
        <a:lstStyle/>
        <a:p>
          <a:pPr algn="just"/>
          <a:r>
            <a:rPr lang="el-GR" dirty="0">
              <a:latin typeface="Times New Roman" panose="02020603050405020304" pitchFamily="18" charset="0"/>
              <a:cs typeface="Times New Roman" panose="02020603050405020304" pitchFamily="18" charset="0"/>
            </a:rPr>
            <a:t>Εφαρμόζεται η επεξεργασία φυσικής γλώσσας (NLP) για την </a:t>
          </a:r>
          <a:r>
            <a:rPr lang="el-GR" dirty="0">
              <a:solidFill>
                <a:srgbClr val="FFFF00"/>
              </a:solidFill>
              <a:latin typeface="Times New Roman" panose="02020603050405020304" pitchFamily="18" charset="0"/>
              <a:cs typeface="Times New Roman" panose="02020603050405020304" pitchFamily="18" charset="0"/>
            </a:rPr>
            <a:t>αυτοματοποίηση</a:t>
          </a:r>
          <a:r>
            <a:rPr lang="el-GR" dirty="0">
              <a:latin typeface="Times New Roman" panose="02020603050405020304" pitchFamily="18" charset="0"/>
              <a:cs typeface="Times New Roman" panose="02020603050405020304" pitchFamily="18" charset="0"/>
            </a:rPr>
            <a:t> της επικοινωνίας με προμηθευτές, μέσω chatbot που διαχειρίζονται παραγγελίες και ερωτήσεις.</a:t>
          </a:r>
          <a:endParaRPr lang="en-US" dirty="0">
            <a:latin typeface="Times New Roman" panose="02020603050405020304" pitchFamily="18" charset="0"/>
            <a:cs typeface="Times New Roman" panose="02020603050405020304" pitchFamily="18" charset="0"/>
          </a:endParaRPr>
        </a:p>
      </dgm:t>
    </dgm:pt>
    <dgm:pt modelId="{853F78AA-E258-4B30-A25D-7CC60DF870A4}" type="parTrans" cxnId="{0EC6123C-0602-4BB8-98EC-3F236BE4DE6E}">
      <dgm:prSet/>
      <dgm:spPr/>
      <dgm:t>
        <a:bodyPr/>
        <a:lstStyle/>
        <a:p>
          <a:pPr algn="just"/>
          <a:endParaRPr lang="en-US">
            <a:latin typeface="Times New Roman" panose="02020603050405020304" pitchFamily="18" charset="0"/>
            <a:cs typeface="Times New Roman" panose="02020603050405020304" pitchFamily="18" charset="0"/>
          </a:endParaRPr>
        </a:p>
      </dgm:t>
    </dgm:pt>
    <dgm:pt modelId="{C51D11FB-009E-44FB-99AE-FB6CFE9B9054}" type="sibTrans" cxnId="{0EC6123C-0602-4BB8-98EC-3F236BE4DE6E}">
      <dgm:prSet/>
      <dgm:spPr/>
      <dgm:t>
        <a:bodyPr/>
        <a:lstStyle/>
        <a:p>
          <a:pPr algn="just"/>
          <a:endParaRPr lang="en-US">
            <a:latin typeface="Times New Roman" panose="02020603050405020304" pitchFamily="18" charset="0"/>
            <a:cs typeface="Times New Roman" panose="02020603050405020304" pitchFamily="18" charset="0"/>
          </a:endParaRPr>
        </a:p>
      </dgm:t>
    </dgm:pt>
    <dgm:pt modelId="{2760A1AE-6BD6-49DA-9DD1-61ADB85F18A8}" type="pres">
      <dgm:prSet presAssocID="{C25E718F-598E-429B-B621-3FD470B58913}" presName="linear" presStyleCnt="0">
        <dgm:presLayoutVars>
          <dgm:animLvl val="lvl"/>
          <dgm:resizeHandles val="exact"/>
        </dgm:presLayoutVars>
      </dgm:prSet>
      <dgm:spPr/>
    </dgm:pt>
    <dgm:pt modelId="{25C14355-44DC-48E2-935C-1E4443F38750}" type="pres">
      <dgm:prSet presAssocID="{85F71379-DD7E-493B-ABD5-FCF5572E7204}" presName="parentText" presStyleLbl="node1" presStyleIdx="0" presStyleCnt="3" custLinFactY="-13645" custLinFactNeighborX="-260" custLinFactNeighborY="-100000">
        <dgm:presLayoutVars>
          <dgm:chMax val="0"/>
          <dgm:bulletEnabled val="1"/>
        </dgm:presLayoutVars>
      </dgm:prSet>
      <dgm:spPr/>
    </dgm:pt>
    <dgm:pt modelId="{420518FE-203B-46F2-AA98-5F26E7A0E3EA}" type="pres">
      <dgm:prSet presAssocID="{51B58A1A-DA4B-495C-8E01-AB523B560890}" presName="spacer" presStyleCnt="0"/>
      <dgm:spPr/>
    </dgm:pt>
    <dgm:pt modelId="{DD3E289D-2101-498D-BF12-9EB1D8862AFA}" type="pres">
      <dgm:prSet presAssocID="{9CED1817-C7B4-49EB-99D3-BC7B76D5EB58}" presName="parentText" presStyleLbl="node1" presStyleIdx="1" presStyleCnt="3">
        <dgm:presLayoutVars>
          <dgm:chMax val="0"/>
          <dgm:bulletEnabled val="1"/>
        </dgm:presLayoutVars>
      </dgm:prSet>
      <dgm:spPr/>
    </dgm:pt>
    <dgm:pt modelId="{3EA3BCB8-DC4D-41B3-A30D-F9A6112FC81C}" type="pres">
      <dgm:prSet presAssocID="{7A8C4884-3949-4BC5-9477-93CEAF86DC17}" presName="spacer" presStyleCnt="0"/>
      <dgm:spPr/>
    </dgm:pt>
    <dgm:pt modelId="{03F0B19A-D30A-4C2D-8D28-55DEDAEF1E3D}" type="pres">
      <dgm:prSet presAssocID="{F00BD307-5B8A-4D65-AE5A-5F41837361DA}" presName="parentText" presStyleLbl="node1" presStyleIdx="2" presStyleCnt="3" custLinFactY="30233" custLinFactNeighborX="-246" custLinFactNeighborY="100000">
        <dgm:presLayoutVars>
          <dgm:chMax val="0"/>
          <dgm:bulletEnabled val="1"/>
        </dgm:presLayoutVars>
      </dgm:prSet>
      <dgm:spPr/>
    </dgm:pt>
  </dgm:ptLst>
  <dgm:cxnLst>
    <dgm:cxn modelId="{B5EBA934-32BD-426A-858E-99F3383F3334}" type="presOf" srcId="{C25E718F-598E-429B-B621-3FD470B58913}" destId="{2760A1AE-6BD6-49DA-9DD1-61ADB85F18A8}" srcOrd="0" destOrd="0" presId="urn:microsoft.com/office/officeart/2005/8/layout/vList2"/>
    <dgm:cxn modelId="{BCFD3C36-029D-4B2A-AAA9-DFA2C10C8476}" type="presOf" srcId="{9CED1817-C7B4-49EB-99D3-BC7B76D5EB58}" destId="{DD3E289D-2101-498D-BF12-9EB1D8862AFA}" srcOrd="0" destOrd="0" presId="urn:microsoft.com/office/officeart/2005/8/layout/vList2"/>
    <dgm:cxn modelId="{0EC6123C-0602-4BB8-98EC-3F236BE4DE6E}" srcId="{C25E718F-598E-429B-B621-3FD470B58913}" destId="{F00BD307-5B8A-4D65-AE5A-5F41837361DA}" srcOrd="2" destOrd="0" parTransId="{853F78AA-E258-4B30-A25D-7CC60DF870A4}" sibTransId="{C51D11FB-009E-44FB-99AE-FB6CFE9B9054}"/>
    <dgm:cxn modelId="{5B6CFD67-5EA8-44E8-9FF3-999D91DDFC44}" type="presOf" srcId="{85F71379-DD7E-493B-ABD5-FCF5572E7204}" destId="{25C14355-44DC-48E2-935C-1E4443F38750}" srcOrd="0" destOrd="0" presId="urn:microsoft.com/office/officeart/2005/8/layout/vList2"/>
    <dgm:cxn modelId="{1DEF5C4C-9B95-44DC-83D7-A9568D6E5F69}" srcId="{C25E718F-598E-429B-B621-3FD470B58913}" destId="{85F71379-DD7E-493B-ABD5-FCF5572E7204}" srcOrd="0" destOrd="0" parTransId="{1DDCD8C9-9B9E-4981-BBB2-AE4F6DB3B9EB}" sibTransId="{51B58A1A-DA4B-495C-8E01-AB523B560890}"/>
    <dgm:cxn modelId="{A72024D9-C697-4656-A4C6-0B9D9A75C8CA}" type="presOf" srcId="{F00BD307-5B8A-4D65-AE5A-5F41837361DA}" destId="{03F0B19A-D30A-4C2D-8D28-55DEDAEF1E3D}" srcOrd="0" destOrd="0" presId="urn:microsoft.com/office/officeart/2005/8/layout/vList2"/>
    <dgm:cxn modelId="{76B3C7E5-F41D-48A4-AE5C-546C5F87F89A}" srcId="{C25E718F-598E-429B-B621-3FD470B58913}" destId="{9CED1817-C7B4-49EB-99D3-BC7B76D5EB58}" srcOrd="1" destOrd="0" parTransId="{4121E4DE-539D-4550-B7DF-A69423568B05}" sibTransId="{7A8C4884-3949-4BC5-9477-93CEAF86DC17}"/>
    <dgm:cxn modelId="{68149D35-98CD-4634-9FFD-16220C8AFDBD}" type="presParOf" srcId="{2760A1AE-6BD6-49DA-9DD1-61ADB85F18A8}" destId="{25C14355-44DC-48E2-935C-1E4443F38750}" srcOrd="0" destOrd="0" presId="urn:microsoft.com/office/officeart/2005/8/layout/vList2"/>
    <dgm:cxn modelId="{85C45B5F-E6D3-44B5-9E77-7085CE6FEB41}" type="presParOf" srcId="{2760A1AE-6BD6-49DA-9DD1-61ADB85F18A8}" destId="{420518FE-203B-46F2-AA98-5F26E7A0E3EA}" srcOrd="1" destOrd="0" presId="urn:microsoft.com/office/officeart/2005/8/layout/vList2"/>
    <dgm:cxn modelId="{82A235DC-C996-4E58-887B-C5475FF81554}" type="presParOf" srcId="{2760A1AE-6BD6-49DA-9DD1-61ADB85F18A8}" destId="{DD3E289D-2101-498D-BF12-9EB1D8862AFA}" srcOrd="2" destOrd="0" presId="urn:microsoft.com/office/officeart/2005/8/layout/vList2"/>
    <dgm:cxn modelId="{8DD7D65C-8916-4BAA-AA77-50202F9EAAF2}" type="presParOf" srcId="{2760A1AE-6BD6-49DA-9DD1-61ADB85F18A8}" destId="{3EA3BCB8-DC4D-41B3-A30D-F9A6112FC81C}" srcOrd="3" destOrd="0" presId="urn:microsoft.com/office/officeart/2005/8/layout/vList2"/>
    <dgm:cxn modelId="{A308749C-DBC3-420A-86B1-65B4A0EBC85B}" type="presParOf" srcId="{2760A1AE-6BD6-49DA-9DD1-61ADB85F18A8}" destId="{03F0B19A-D30A-4C2D-8D28-55DEDAEF1E3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25E718F-598E-429B-B621-3FD470B58913}"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85F71379-DD7E-493B-ABD5-FCF5572E7204}">
      <dgm:prSet/>
      <dgm:spPr>
        <a:solidFill>
          <a:schemeClr val="accent5">
            <a:lumMod val="75000"/>
          </a:schemeClr>
        </a:solidFill>
      </dgm:spPr>
      <dgm:t>
        <a:bodyPr/>
        <a:lstStyle/>
        <a:p>
          <a:pPr algn="just"/>
          <a:r>
            <a:rPr lang="el-GR" dirty="0">
              <a:latin typeface="Times New Roman" panose="02020603050405020304" pitchFamily="18" charset="0"/>
              <a:cs typeface="Times New Roman" panose="02020603050405020304" pitchFamily="18" charset="0"/>
            </a:rPr>
            <a:t>Οι αλγόριθμοι ΤΝ μπορούν να </a:t>
          </a:r>
          <a:r>
            <a:rPr lang="el-GR" dirty="0">
              <a:solidFill>
                <a:srgbClr val="FFFF00"/>
              </a:solidFill>
              <a:latin typeface="Times New Roman" panose="02020603050405020304" pitchFamily="18" charset="0"/>
              <a:cs typeface="Times New Roman" panose="02020603050405020304" pitchFamily="18" charset="0"/>
            </a:rPr>
            <a:t>προτείνουν</a:t>
          </a:r>
          <a:r>
            <a:rPr lang="el-GR" dirty="0">
              <a:latin typeface="Times New Roman" panose="02020603050405020304" pitchFamily="18" charset="0"/>
              <a:cs typeface="Times New Roman" panose="02020603050405020304" pitchFamily="18" charset="0"/>
            </a:rPr>
            <a:t> εναλλακτικές πηγές προμήθειας ή να </a:t>
          </a:r>
          <a:r>
            <a:rPr lang="el-GR" dirty="0">
              <a:solidFill>
                <a:srgbClr val="FFFF00"/>
              </a:solidFill>
              <a:latin typeface="Times New Roman" panose="02020603050405020304" pitchFamily="18" charset="0"/>
              <a:cs typeface="Times New Roman" panose="02020603050405020304" pitchFamily="18" charset="0"/>
            </a:rPr>
            <a:t>αναδιατάξουν</a:t>
          </a:r>
          <a:r>
            <a:rPr lang="el-GR" dirty="0">
              <a:latin typeface="Times New Roman" panose="02020603050405020304" pitchFamily="18" charset="0"/>
              <a:cs typeface="Times New Roman" panose="02020603050405020304" pitchFamily="18" charset="0"/>
            </a:rPr>
            <a:t> προτεραιότητες παραγωγής, προλαμβάνοντας ελλείψεις. </a:t>
          </a:r>
          <a:endParaRPr lang="en-US" dirty="0">
            <a:latin typeface="Times New Roman" panose="02020603050405020304" pitchFamily="18" charset="0"/>
            <a:cs typeface="Times New Roman" panose="02020603050405020304" pitchFamily="18" charset="0"/>
          </a:endParaRPr>
        </a:p>
      </dgm:t>
    </dgm:pt>
    <dgm:pt modelId="{1DDCD8C9-9B9E-4981-BBB2-AE4F6DB3B9EB}" type="parTrans" cxnId="{1DEF5C4C-9B95-44DC-83D7-A9568D6E5F69}">
      <dgm:prSet/>
      <dgm:spPr/>
      <dgm:t>
        <a:bodyPr/>
        <a:lstStyle/>
        <a:p>
          <a:pPr algn="just"/>
          <a:endParaRPr lang="en-US">
            <a:latin typeface="Times New Roman" panose="02020603050405020304" pitchFamily="18" charset="0"/>
            <a:cs typeface="Times New Roman" panose="02020603050405020304" pitchFamily="18" charset="0"/>
          </a:endParaRPr>
        </a:p>
      </dgm:t>
    </dgm:pt>
    <dgm:pt modelId="{51B58A1A-DA4B-495C-8E01-AB523B560890}" type="sibTrans" cxnId="{1DEF5C4C-9B95-44DC-83D7-A9568D6E5F69}">
      <dgm:prSet/>
      <dgm:spPr/>
      <dgm:t>
        <a:bodyPr/>
        <a:lstStyle/>
        <a:p>
          <a:pPr algn="just"/>
          <a:endParaRPr lang="en-US">
            <a:latin typeface="Times New Roman" panose="02020603050405020304" pitchFamily="18" charset="0"/>
            <a:cs typeface="Times New Roman" panose="02020603050405020304" pitchFamily="18" charset="0"/>
          </a:endParaRPr>
        </a:p>
      </dgm:t>
    </dgm:pt>
    <dgm:pt modelId="{9CED1817-C7B4-49EB-99D3-BC7B76D5EB58}">
      <dgm:prSet custT="1"/>
      <dgm:spPr/>
      <dgm:t>
        <a:bodyPr/>
        <a:lstStyle/>
        <a:p>
          <a:pPr algn="just"/>
          <a:r>
            <a:rPr lang="el-GR" sz="2700" dirty="0">
              <a:latin typeface="Times New Roman" panose="02020603050405020304" pitchFamily="18" charset="0"/>
              <a:cs typeface="Times New Roman" panose="02020603050405020304" pitchFamily="18" charset="0"/>
            </a:rPr>
            <a:t>Διευκολύνει την </a:t>
          </a:r>
          <a:r>
            <a:rPr lang="el-GR" sz="2700" dirty="0">
              <a:solidFill>
                <a:srgbClr val="FFFF00"/>
              </a:solidFill>
              <a:latin typeface="Times New Roman" panose="02020603050405020304" pitchFamily="18" charset="0"/>
              <a:cs typeface="Times New Roman" panose="02020603050405020304" pitchFamily="18" charset="0"/>
            </a:rPr>
            <a:t>εξατομίκευση</a:t>
          </a:r>
          <a:r>
            <a:rPr lang="el-GR" sz="2700" dirty="0">
              <a:latin typeface="Times New Roman" panose="02020603050405020304" pitchFamily="18" charset="0"/>
              <a:cs typeface="Times New Roman" panose="02020603050405020304" pitchFamily="18" charset="0"/>
            </a:rPr>
            <a:t> της εμπειρίας πελατών μέσω έξυπνων συστημάτων διαχείρισης παραγγελιών.</a:t>
          </a:r>
          <a:endParaRPr lang="en-US" sz="2700" dirty="0">
            <a:latin typeface="Times New Roman" panose="02020603050405020304" pitchFamily="18" charset="0"/>
            <a:cs typeface="Times New Roman" panose="02020603050405020304" pitchFamily="18" charset="0"/>
          </a:endParaRPr>
        </a:p>
      </dgm:t>
    </dgm:pt>
    <dgm:pt modelId="{4121E4DE-539D-4550-B7DF-A69423568B05}" type="parTrans" cxnId="{76B3C7E5-F41D-48A4-AE5C-546C5F87F89A}">
      <dgm:prSet/>
      <dgm:spPr/>
      <dgm:t>
        <a:bodyPr/>
        <a:lstStyle/>
        <a:p>
          <a:pPr algn="just"/>
          <a:endParaRPr lang="en-US">
            <a:latin typeface="Times New Roman" panose="02020603050405020304" pitchFamily="18" charset="0"/>
            <a:cs typeface="Times New Roman" panose="02020603050405020304" pitchFamily="18" charset="0"/>
          </a:endParaRPr>
        </a:p>
      </dgm:t>
    </dgm:pt>
    <dgm:pt modelId="{7A8C4884-3949-4BC5-9477-93CEAF86DC17}" type="sibTrans" cxnId="{76B3C7E5-F41D-48A4-AE5C-546C5F87F89A}">
      <dgm:prSet/>
      <dgm:spPr/>
      <dgm:t>
        <a:bodyPr/>
        <a:lstStyle/>
        <a:p>
          <a:pPr algn="just"/>
          <a:endParaRPr lang="en-US">
            <a:latin typeface="Times New Roman" panose="02020603050405020304" pitchFamily="18" charset="0"/>
            <a:cs typeface="Times New Roman" panose="02020603050405020304" pitchFamily="18" charset="0"/>
          </a:endParaRPr>
        </a:p>
      </dgm:t>
    </dgm:pt>
    <dgm:pt modelId="{F00BD307-5B8A-4D65-AE5A-5F41837361DA}">
      <dgm:prSet/>
      <dgm:spPr>
        <a:solidFill>
          <a:schemeClr val="accent6">
            <a:lumMod val="75000"/>
          </a:schemeClr>
        </a:solidFill>
      </dgm:spPr>
      <dgm:t>
        <a:bodyPr/>
        <a:lstStyle/>
        <a:p>
          <a:pPr algn="just"/>
          <a:r>
            <a:rPr lang="el-GR" dirty="0">
              <a:latin typeface="Times New Roman" panose="02020603050405020304" pitchFamily="18" charset="0"/>
              <a:cs typeface="Times New Roman" panose="02020603050405020304" pitchFamily="18" charset="0"/>
            </a:rPr>
            <a:t>Χρησιμοποιώντας τεχνολογίες ανάλυσης συμπεριφοράς, όπως η επεξεργασία δεδομένων από ιστορικό αγορών και προτιμήσεις πελατών, τα συστήματα ΤΝ </a:t>
          </a:r>
          <a:r>
            <a:rPr lang="el-GR" dirty="0">
              <a:solidFill>
                <a:srgbClr val="FFFF00"/>
              </a:solidFill>
              <a:latin typeface="Times New Roman" panose="02020603050405020304" pitchFamily="18" charset="0"/>
              <a:cs typeface="Times New Roman" panose="02020603050405020304" pitchFamily="18" charset="0"/>
            </a:rPr>
            <a:t>προσαρμόζουν</a:t>
          </a:r>
          <a:r>
            <a:rPr lang="el-GR" dirty="0">
              <a:latin typeface="Times New Roman" panose="02020603050405020304" pitchFamily="18" charset="0"/>
              <a:cs typeface="Times New Roman" panose="02020603050405020304" pitchFamily="18" charset="0"/>
            </a:rPr>
            <a:t> τις διαδικασίες παράδοσης ώστε να </a:t>
          </a:r>
          <a:r>
            <a:rPr lang="el-GR" dirty="0">
              <a:solidFill>
                <a:srgbClr val="FFFF00"/>
              </a:solidFill>
              <a:latin typeface="Times New Roman" panose="02020603050405020304" pitchFamily="18" charset="0"/>
              <a:cs typeface="Times New Roman" panose="02020603050405020304" pitchFamily="18" charset="0"/>
            </a:rPr>
            <a:t>ανταποκρίνονται</a:t>
          </a:r>
          <a:r>
            <a:rPr lang="el-GR" dirty="0">
              <a:latin typeface="Times New Roman" panose="02020603050405020304" pitchFamily="18" charset="0"/>
              <a:cs typeface="Times New Roman" panose="02020603050405020304" pitchFamily="18" charset="0"/>
            </a:rPr>
            <a:t> σε συγκεκριμένες ανάγκες.</a:t>
          </a:r>
          <a:endParaRPr lang="en-US" dirty="0">
            <a:latin typeface="Times New Roman" panose="02020603050405020304" pitchFamily="18" charset="0"/>
            <a:cs typeface="Times New Roman" panose="02020603050405020304" pitchFamily="18" charset="0"/>
          </a:endParaRPr>
        </a:p>
      </dgm:t>
    </dgm:pt>
    <dgm:pt modelId="{853F78AA-E258-4B30-A25D-7CC60DF870A4}" type="parTrans" cxnId="{0EC6123C-0602-4BB8-98EC-3F236BE4DE6E}">
      <dgm:prSet/>
      <dgm:spPr/>
      <dgm:t>
        <a:bodyPr/>
        <a:lstStyle/>
        <a:p>
          <a:pPr algn="just"/>
          <a:endParaRPr lang="en-US">
            <a:latin typeface="Times New Roman" panose="02020603050405020304" pitchFamily="18" charset="0"/>
            <a:cs typeface="Times New Roman" panose="02020603050405020304" pitchFamily="18" charset="0"/>
          </a:endParaRPr>
        </a:p>
      </dgm:t>
    </dgm:pt>
    <dgm:pt modelId="{C51D11FB-009E-44FB-99AE-FB6CFE9B9054}" type="sibTrans" cxnId="{0EC6123C-0602-4BB8-98EC-3F236BE4DE6E}">
      <dgm:prSet/>
      <dgm:spPr/>
      <dgm:t>
        <a:bodyPr/>
        <a:lstStyle/>
        <a:p>
          <a:pPr algn="just"/>
          <a:endParaRPr lang="en-US">
            <a:latin typeface="Times New Roman" panose="02020603050405020304" pitchFamily="18" charset="0"/>
            <a:cs typeface="Times New Roman" panose="02020603050405020304" pitchFamily="18" charset="0"/>
          </a:endParaRPr>
        </a:p>
      </dgm:t>
    </dgm:pt>
    <dgm:pt modelId="{2760A1AE-6BD6-49DA-9DD1-61ADB85F18A8}" type="pres">
      <dgm:prSet presAssocID="{C25E718F-598E-429B-B621-3FD470B58913}" presName="linear" presStyleCnt="0">
        <dgm:presLayoutVars>
          <dgm:animLvl val="lvl"/>
          <dgm:resizeHandles val="exact"/>
        </dgm:presLayoutVars>
      </dgm:prSet>
      <dgm:spPr/>
    </dgm:pt>
    <dgm:pt modelId="{25C14355-44DC-48E2-935C-1E4443F38750}" type="pres">
      <dgm:prSet presAssocID="{85F71379-DD7E-493B-ABD5-FCF5572E7204}" presName="parentText" presStyleLbl="node1" presStyleIdx="0" presStyleCnt="3">
        <dgm:presLayoutVars>
          <dgm:chMax val="0"/>
          <dgm:bulletEnabled val="1"/>
        </dgm:presLayoutVars>
      </dgm:prSet>
      <dgm:spPr/>
    </dgm:pt>
    <dgm:pt modelId="{420518FE-203B-46F2-AA98-5F26E7A0E3EA}" type="pres">
      <dgm:prSet presAssocID="{51B58A1A-DA4B-495C-8E01-AB523B560890}" presName="spacer" presStyleCnt="0"/>
      <dgm:spPr/>
    </dgm:pt>
    <dgm:pt modelId="{DD3E289D-2101-498D-BF12-9EB1D8862AFA}" type="pres">
      <dgm:prSet presAssocID="{9CED1817-C7B4-49EB-99D3-BC7B76D5EB58}" presName="parentText" presStyleLbl="node1" presStyleIdx="1" presStyleCnt="3">
        <dgm:presLayoutVars>
          <dgm:chMax val="0"/>
          <dgm:bulletEnabled val="1"/>
        </dgm:presLayoutVars>
      </dgm:prSet>
      <dgm:spPr/>
    </dgm:pt>
    <dgm:pt modelId="{3EA3BCB8-DC4D-41B3-A30D-F9A6112FC81C}" type="pres">
      <dgm:prSet presAssocID="{7A8C4884-3949-4BC5-9477-93CEAF86DC17}" presName="spacer" presStyleCnt="0"/>
      <dgm:spPr/>
    </dgm:pt>
    <dgm:pt modelId="{03F0B19A-D30A-4C2D-8D28-55DEDAEF1E3D}" type="pres">
      <dgm:prSet presAssocID="{F00BD307-5B8A-4D65-AE5A-5F41837361DA}" presName="parentText" presStyleLbl="node1" presStyleIdx="2" presStyleCnt="3">
        <dgm:presLayoutVars>
          <dgm:chMax val="0"/>
          <dgm:bulletEnabled val="1"/>
        </dgm:presLayoutVars>
      </dgm:prSet>
      <dgm:spPr/>
    </dgm:pt>
  </dgm:ptLst>
  <dgm:cxnLst>
    <dgm:cxn modelId="{B5EBA934-32BD-426A-858E-99F3383F3334}" type="presOf" srcId="{C25E718F-598E-429B-B621-3FD470B58913}" destId="{2760A1AE-6BD6-49DA-9DD1-61ADB85F18A8}" srcOrd="0" destOrd="0" presId="urn:microsoft.com/office/officeart/2005/8/layout/vList2"/>
    <dgm:cxn modelId="{BCFD3C36-029D-4B2A-AAA9-DFA2C10C8476}" type="presOf" srcId="{9CED1817-C7B4-49EB-99D3-BC7B76D5EB58}" destId="{DD3E289D-2101-498D-BF12-9EB1D8862AFA}" srcOrd="0" destOrd="0" presId="urn:microsoft.com/office/officeart/2005/8/layout/vList2"/>
    <dgm:cxn modelId="{0EC6123C-0602-4BB8-98EC-3F236BE4DE6E}" srcId="{C25E718F-598E-429B-B621-3FD470B58913}" destId="{F00BD307-5B8A-4D65-AE5A-5F41837361DA}" srcOrd="2" destOrd="0" parTransId="{853F78AA-E258-4B30-A25D-7CC60DF870A4}" sibTransId="{C51D11FB-009E-44FB-99AE-FB6CFE9B9054}"/>
    <dgm:cxn modelId="{5B6CFD67-5EA8-44E8-9FF3-999D91DDFC44}" type="presOf" srcId="{85F71379-DD7E-493B-ABD5-FCF5572E7204}" destId="{25C14355-44DC-48E2-935C-1E4443F38750}" srcOrd="0" destOrd="0" presId="urn:microsoft.com/office/officeart/2005/8/layout/vList2"/>
    <dgm:cxn modelId="{1DEF5C4C-9B95-44DC-83D7-A9568D6E5F69}" srcId="{C25E718F-598E-429B-B621-3FD470B58913}" destId="{85F71379-DD7E-493B-ABD5-FCF5572E7204}" srcOrd="0" destOrd="0" parTransId="{1DDCD8C9-9B9E-4981-BBB2-AE4F6DB3B9EB}" sibTransId="{51B58A1A-DA4B-495C-8E01-AB523B560890}"/>
    <dgm:cxn modelId="{A72024D9-C697-4656-A4C6-0B9D9A75C8CA}" type="presOf" srcId="{F00BD307-5B8A-4D65-AE5A-5F41837361DA}" destId="{03F0B19A-D30A-4C2D-8D28-55DEDAEF1E3D}" srcOrd="0" destOrd="0" presId="urn:microsoft.com/office/officeart/2005/8/layout/vList2"/>
    <dgm:cxn modelId="{76B3C7E5-F41D-48A4-AE5C-546C5F87F89A}" srcId="{C25E718F-598E-429B-B621-3FD470B58913}" destId="{9CED1817-C7B4-49EB-99D3-BC7B76D5EB58}" srcOrd="1" destOrd="0" parTransId="{4121E4DE-539D-4550-B7DF-A69423568B05}" sibTransId="{7A8C4884-3949-4BC5-9477-93CEAF86DC17}"/>
    <dgm:cxn modelId="{68149D35-98CD-4634-9FFD-16220C8AFDBD}" type="presParOf" srcId="{2760A1AE-6BD6-49DA-9DD1-61ADB85F18A8}" destId="{25C14355-44DC-48E2-935C-1E4443F38750}" srcOrd="0" destOrd="0" presId="urn:microsoft.com/office/officeart/2005/8/layout/vList2"/>
    <dgm:cxn modelId="{85C45B5F-E6D3-44B5-9E77-7085CE6FEB41}" type="presParOf" srcId="{2760A1AE-6BD6-49DA-9DD1-61ADB85F18A8}" destId="{420518FE-203B-46F2-AA98-5F26E7A0E3EA}" srcOrd="1" destOrd="0" presId="urn:microsoft.com/office/officeart/2005/8/layout/vList2"/>
    <dgm:cxn modelId="{82A235DC-C996-4E58-887B-C5475FF81554}" type="presParOf" srcId="{2760A1AE-6BD6-49DA-9DD1-61ADB85F18A8}" destId="{DD3E289D-2101-498D-BF12-9EB1D8862AFA}" srcOrd="2" destOrd="0" presId="urn:microsoft.com/office/officeart/2005/8/layout/vList2"/>
    <dgm:cxn modelId="{8DD7D65C-8916-4BAA-AA77-50202F9EAAF2}" type="presParOf" srcId="{2760A1AE-6BD6-49DA-9DD1-61ADB85F18A8}" destId="{3EA3BCB8-DC4D-41B3-A30D-F9A6112FC81C}" srcOrd="3" destOrd="0" presId="urn:microsoft.com/office/officeart/2005/8/layout/vList2"/>
    <dgm:cxn modelId="{A308749C-DBC3-420A-86B1-65B4A0EBC85B}" type="presParOf" srcId="{2760A1AE-6BD6-49DA-9DD1-61ADB85F18A8}" destId="{03F0B19A-D30A-4C2D-8D28-55DEDAEF1E3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7BDFF04-F423-467C-B582-FB527B69FB5C}" type="doc">
      <dgm:prSet loTypeId="urn:microsoft.com/office/officeart/2005/8/layout/process1" loCatId="process" qsTypeId="urn:microsoft.com/office/officeart/2005/8/quickstyle/simple1" qsCatId="simple" csTypeId="urn:microsoft.com/office/officeart/2005/8/colors/colorful5" csCatId="colorful"/>
      <dgm:spPr/>
      <dgm:t>
        <a:bodyPr/>
        <a:lstStyle/>
        <a:p>
          <a:endParaRPr lang="en-US"/>
        </a:p>
      </dgm:t>
    </dgm:pt>
    <dgm:pt modelId="{06659FE4-6B05-4D39-A504-383C05AFC15C}">
      <dgm:prSet custT="1"/>
      <dgm:spPr/>
      <dgm:t>
        <a:bodyPr/>
        <a:lstStyle/>
        <a:p>
          <a:pPr algn="ctr"/>
          <a:r>
            <a:rPr lang="el-GR" sz="2000"/>
            <a:t>Μια σημαντική κατεύθυνση για τη μελλοντική εξέλιξη της ΤΝ στην εφοδιαστική αλυσίδα είναι η ανάπτυξη αλγορίθμων που αξιοποιούν την τεχνολογία blockchain για την ενίσχυση της διαφάνειας και της ασφάλειας στις διαδικασίες. </a:t>
          </a:r>
          <a:endParaRPr lang="en-US" sz="2000"/>
        </a:p>
      </dgm:t>
    </dgm:pt>
    <dgm:pt modelId="{622B11CF-4048-42B0-8CDE-6DF823CF6E8D}" type="parTrans" cxnId="{1CC1F008-6D0C-400B-A329-8D16D1F6DA46}">
      <dgm:prSet/>
      <dgm:spPr/>
      <dgm:t>
        <a:bodyPr/>
        <a:lstStyle/>
        <a:p>
          <a:pPr algn="just"/>
          <a:endParaRPr lang="en-US" sz="2000"/>
        </a:p>
      </dgm:t>
    </dgm:pt>
    <dgm:pt modelId="{16AD5D58-6F89-4471-BF52-5B4B6A666329}" type="sibTrans" cxnId="{1CC1F008-6D0C-400B-A329-8D16D1F6DA46}">
      <dgm:prSet custT="1"/>
      <dgm:spPr/>
      <dgm:t>
        <a:bodyPr/>
        <a:lstStyle/>
        <a:p>
          <a:pPr algn="just"/>
          <a:endParaRPr lang="en-US" sz="1600"/>
        </a:p>
      </dgm:t>
    </dgm:pt>
    <dgm:pt modelId="{FDA3EA3F-DA9E-46AC-84C1-E0ACEE4DB631}">
      <dgm:prSet custT="1"/>
      <dgm:spPr/>
      <dgm:t>
        <a:bodyPr/>
        <a:lstStyle/>
        <a:p>
          <a:pPr algn="ctr"/>
          <a:r>
            <a:rPr lang="el-GR" sz="2000" dirty="0"/>
            <a:t>Το blockchain, σε συνδυασμό με την ΤΝ, μπορεί να δημιουργήσει ένα αδιάβλητο σύστημα καταγραφής δεδομένων, επιτρέποντας την παρακολούθηση κάθε σταδίου της αλυσίδας—από την προμήθεια πρώτων υλών έως την παράδοση στον πελάτη—με απόλυτη διαφάνεια.</a:t>
          </a:r>
          <a:endParaRPr lang="en-US" sz="2000" dirty="0"/>
        </a:p>
      </dgm:t>
    </dgm:pt>
    <dgm:pt modelId="{9EF05196-A60A-487A-9DFC-EB4F1005DC9B}" type="parTrans" cxnId="{1FEF1B03-593C-4AF4-9CDF-F1CF4AD85148}">
      <dgm:prSet/>
      <dgm:spPr/>
      <dgm:t>
        <a:bodyPr/>
        <a:lstStyle/>
        <a:p>
          <a:pPr algn="just"/>
          <a:endParaRPr lang="en-US" sz="2000"/>
        </a:p>
      </dgm:t>
    </dgm:pt>
    <dgm:pt modelId="{28DA7551-92F4-4816-9EC4-AF1B23D26834}" type="sibTrans" cxnId="{1FEF1B03-593C-4AF4-9CDF-F1CF4AD85148}">
      <dgm:prSet custT="1"/>
      <dgm:spPr/>
      <dgm:t>
        <a:bodyPr/>
        <a:lstStyle/>
        <a:p>
          <a:pPr algn="just"/>
          <a:endParaRPr lang="en-US" sz="1600"/>
        </a:p>
      </dgm:t>
    </dgm:pt>
    <dgm:pt modelId="{BBB47CAC-19E9-4F93-B912-9B318DE15002}">
      <dgm:prSet custT="1"/>
      <dgm:spPr/>
      <dgm:t>
        <a:bodyPr/>
        <a:lstStyle/>
        <a:p>
          <a:pPr algn="ctr"/>
          <a:r>
            <a:rPr lang="el-GR" sz="2000"/>
            <a:t>Για παράδειγμα, η ΤΝ μπορεί να αναλύσει δεδομένα blockchain για να εντοπίσει περιπτώσεις απάτης, όπως αποκλίσεις στην προέλευση προϊόντων, ή να εξασφαλίσει τη συμμόρφωση με κανονισμούς βιωσιμότητας, όπως η χρήση υλικών από πιστοποιημένες πηγές.</a:t>
          </a:r>
          <a:endParaRPr lang="en-US" sz="2000"/>
        </a:p>
      </dgm:t>
    </dgm:pt>
    <dgm:pt modelId="{418042C9-1FCC-41FE-82C0-77F98D82D2C3}" type="parTrans" cxnId="{0649862E-0E3E-461C-BE38-562CB01921B9}">
      <dgm:prSet/>
      <dgm:spPr/>
      <dgm:t>
        <a:bodyPr/>
        <a:lstStyle/>
        <a:p>
          <a:pPr algn="just"/>
          <a:endParaRPr lang="en-US" sz="2000"/>
        </a:p>
      </dgm:t>
    </dgm:pt>
    <dgm:pt modelId="{AC0358CD-49B1-4990-984C-AAD4F7055111}" type="sibTrans" cxnId="{0649862E-0E3E-461C-BE38-562CB01921B9}">
      <dgm:prSet/>
      <dgm:spPr/>
      <dgm:t>
        <a:bodyPr/>
        <a:lstStyle/>
        <a:p>
          <a:pPr algn="just"/>
          <a:endParaRPr lang="en-US" sz="2000"/>
        </a:p>
      </dgm:t>
    </dgm:pt>
    <dgm:pt modelId="{99F3208C-DC66-4B3F-858E-E2ADDA856342}" type="pres">
      <dgm:prSet presAssocID="{47BDFF04-F423-467C-B582-FB527B69FB5C}" presName="Name0" presStyleCnt="0">
        <dgm:presLayoutVars>
          <dgm:dir/>
          <dgm:resizeHandles val="exact"/>
        </dgm:presLayoutVars>
      </dgm:prSet>
      <dgm:spPr/>
    </dgm:pt>
    <dgm:pt modelId="{B006D8A6-DEF7-4EEC-9FB7-2C835586FF4F}" type="pres">
      <dgm:prSet presAssocID="{06659FE4-6B05-4D39-A504-383C05AFC15C}" presName="node" presStyleLbl="node1" presStyleIdx="0" presStyleCnt="3">
        <dgm:presLayoutVars>
          <dgm:bulletEnabled val="1"/>
        </dgm:presLayoutVars>
      </dgm:prSet>
      <dgm:spPr/>
    </dgm:pt>
    <dgm:pt modelId="{6FE4FA89-7788-4FA6-91D7-6D994B133C1D}" type="pres">
      <dgm:prSet presAssocID="{16AD5D58-6F89-4471-BF52-5B4B6A666329}" presName="sibTrans" presStyleLbl="sibTrans2D1" presStyleIdx="0" presStyleCnt="2"/>
      <dgm:spPr/>
    </dgm:pt>
    <dgm:pt modelId="{44FB21BA-5F1A-4371-A15C-4EAC0360DC1B}" type="pres">
      <dgm:prSet presAssocID="{16AD5D58-6F89-4471-BF52-5B4B6A666329}" presName="connectorText" presStyleLbl="sibTrans2D1" presStyleIdx="0" presStyleCnt="2"/>
      <dgm:spPr/>
    </dgm:pt>
    <dgm:pt modelId="{350FDCB0-2B44-46B1-B683-A7579428ADC4}" type="pres">
      <dgm:prSet presAssocID="{FDA3EA3F-DA9E-46AC-84C1-E0ACEE4DB631}" presName="node" presStyleLbl="node1" presStyleIdx="1" presStyleCnt="3">
        <dgm:presLayoutVars>
          <dgm:bulletEnabled val="1"/>
        </dgm:presLayoutVars>
      </dgm:prSet>
      <dgm:spPr/>
    </dgm:pt>
    <dgm:pt modelId="{65E73567-2FE9-4CD6-963E-72A7A7635FDF}" type="pres">
      <dgm:prSet presAssocID="{28DA7551-92F4-4816-9EC4-AF1B23D26834}" presName="sibTrans" presStyleLbl="sibTrans2D1" presStyleIdx="1" presStyleCnt="2"/>
      <dgm:spPr/>
    </dgm:pt>
    <dgm:pt modelId="{E426ADC5-3827-4AD0-93E6-4158DD26D9DD}" type="pres">
      <dgm:prSet presAssocID="{28DA7551-92F4-4816-9EC4-AF1B23D26834}" presName="connectorText" presStyleLbl="sibTrans2D1" presStyleIdx="1" presStyleCnt="2"/>
      <dgm:spPr/>
    </dgm:pt>
    <dgm:pt modelId="{E27A70FD-FD9D-48F1-B413-80CFE3F774DD}" type="pres">
      <dgm:prSet presAssocID="{BBB47CAC-19E9-4F93-B912-9B318DE15002}" presName="node" presStyleLbl="node1" presStyleIdx="2" presStyleCnt="3">
        <dgm:presLayoutVars>
          <dgm:bulletEnabled val="1"/>
        </dgm:presLayoutVars>
      </dgm:prSet>
      <dgm:spPr/>
    </dgm:pt>
  </dgm:ptLst>
  <dgm:cxnLst>
    <dgm:cxn modelId="{1FEF1B03-593C-4AF4-9CDF-F1CF4AD85148}" srcId="{47BDFF04-F423-467C-B582-FB527B69FB5C}" destId="{FDA3EA3F-DA9E-46AC-84C1-E0ACEE4DB631}" srcOrd="1" destOrd="0" parTransId="{9EF05196-A60A-487A-9DFC-EB4F1005DC9B}" sibTransId="{28DA7551-92F4-4816-9EC4-AF1B23D26834}"/>
    <dgm:cxn modelId="{1CC1F008-6D0C-400B-A329-8D16D1F6DA46}" srcId="{47BDFF04-F423-467C-B582-FB527B69FB5C}" destId="{06659FE4-6B05-4D39-A504-383C05AFC15C}" srcOrd="0" destOrd="0" parTransId="{622B11CF-4048-42B0-8CDE-6DF823CF6E8D}" sibTransId="{16AD5D58-6F89-4471-BF52-5B4B6A666329}"/>
    <dgm:cxn modelId="{7210E42D-0E6E-4A85-AF59-C4CF90912563}" type="presOf" srcId="{28DA7551-92F4-4816-9EC4-AF1B23D26834}" destId="{E426ADC5-3827-4AD0-93E6-4158DD26D9DD}" srcOrd="1" destOrd="0" presId="urn:microsoft.com/office/officeart/2005/8/layout/process1"/>
    <dgm:cxn modelId="{0649862E-0E3E-461C-BE38-562CB01921B9}" srcId="{47BDFF04-F423-467C-B582-FB527B69FB5C}" destId="{BBB47CAC-19E9-4F93-B912-9B318DE15002}" srcOrd="2" destOrd="0" parTransId="{418042C9-1FCC-41FE-82C0-77F98D82D2C3}" sibTransId="{AC0358CD-49B1-4990-984C-AAD4F7055111}"/>
    <dgm:cxn modelId="{AD52FF31-2197-40E2-80C2-26BD1E71B394}" type="presOf" srcId="{16AD5D58-6F89-4471-BF52-5B4B6A666329}" destId="{44FB21BA-5F1A-4371-A15C-4EAC0360DC1B}" srcOrd="1" destOrd="0" presId="urn:microsoft.com/office/officeart/2005/8/layout/process1"/>
    <dgm:cxn modelId="{5D50F547-41F3-443A-8041-36B60A00CE1A}" type="presOf" srcId="{16AD5D58-6F89-4471-BF52-5B4B6A666329}" destId="{6FE4FA89-7788-4FA6-91D7-6D994B133C1D}" srcOrd="0" destOrd="0" presId="urn:microsoft.com/office/officeart/2005/8/layout/process1"/>
    <dgm:cxn modelId="{FBA2B66B-FC66-42E3-90C2-233788BA8C24}" type="presOf" srcId="{28DA7551-92F4-4816-9EC4-AF1B23D26834}" destId="{65E73567-2FE9-4CD6-963E-72A7A7635FDF}" srcOrd="0" destOrd="0" presId="urn:microsoft.com/office/officeart/2005/8/layout/process1"/>
    <dgm:cxn modelId="{A359678C-3E82-41AA-9BB9-0CD96BF83ACB}" type="presOf" srcId="{FDA3EA3F-DA9E-46AC-84C1-E0ACEE4DB631}" destId="{350FDCB0-2B44-46B1-B683-A7579428ADC4}" srcOrd="0" destOrd="0" presId="urn:microsoft.com/office/officeart/2005/8/layout/process1"/>
    <dgm:cxn modelId="{971D57AE-AC7D-4B26-931B-ADC715A5EEAD}" type="presOf" srcId="{BBB47CAC-19E9-4F93-B912-9B318DE15002}" destId="{E27A70FD-FD9D-48F1-B413-80CFE3F774DD}" srcOrd="0" destOrd="0" presId="urn:microsoft.com/office/officeart/2005/8/layout/process1"/>
    <dgm:cxn modelId="{877344F9-BAAB-4FFC-BF5C-7BA17A5C8197}" type="presOf" srcId="{47BDFF04-F423-467C-B582-FB527B69FB5C}" destId="{99F3208C-DC66-4B3F-858E-E2ADDA856342}" srcOrd="0" destOrd="0" presId="urn:microsoft.com/office/officeart/2005/8/layout/process1"/>
    <dgm:cxn modelId="{7A2BF3FA-659C-4C91-9FE9-C0DF3BF37D07}" type="presOf" srcId="{06659FE4-6B05-4D39-A504-383C05AFC15C}" destId="{B006D8A6-DEF7-4EEC-9FB7-2C835586FF4F}" srcOrd="0" destOrd="0" presId="urn:microsoft.com/office/officeart/2005/8/layout/process1"/>
    <dgm:cxn modelId="{21142506-2A45-4DD1-864F-62CD9B1F1C04}" type="presParOf" srcId="{99F3208C-DC66-4B3F-858E-E2ADDA856342}" destId="{B006D8A6-DEF7-4EEC-9FB7-2C835586FF4F}" srcOrd="0" destOrd="0" presId="urn:microsoft.com/office/officeart/2005/8/layout/process1"/>
    <dgm:cxn modelId="{C26D4DB9-626F-4EB6-BBC6-634960E8D0C6}" type="presParOf" srcId="{99F3208C-DC66-4B3F-858E-E2ADDA856342}" destId="{6FE4FA89-7788-4FA6-91D7-6D994B133C1D}" srcOrd="1" destOrd="0" presId="urn:microsoft.com/office/officeart/2005/8/layout/process1"/>
    <dgm:cxn modelId="{FE126024-F0A8-466A-9495-E55FC7B0D0A1}" type="presParOf" srcId="{6FE4FA89-7788-4FA6-91D7-6D994B133C1D}" destId="{44FB21BA-5F1A-4371-A15C-4EAC0360DC1B}" srcOrd="0" destOrd="0" presId="urn:microsoft.com/office/officeart/2005/8/layout/process1"/>
    <dgm:cxn modelId="{DEA421F0-1EFB-45DC-A68F-7471076780DF}" type="presParOf" srcId="{99F3208C-DC66-4B3F-858E-E2ADDA856342}" destId="{350FDCB0-2B44-46B1-B683-A7579428ADC4}" srcOrd="2" destOrd="0" presId="urn:microsoft.com/office/officeart/2005/8/layout/process1"/>
    <dgm:cxn modelId="{A5FB3724-A9C9-4A9F-8341-F5CC91D69601}" type="presParOf" srcId="{99F3208C-DC66-4B3F-858E-E2ADDA856342}" destId="{65E73567-2FE9-4CD6-963E-72A7A7635FDF}" srcOrd="3" destOrd="0" presId="urn:microsoft.com/office/officeart/2005/8/layout/process1"/>
    <dgm:cxn modelId="{96E5CDFB-A8DF-4F87-A16E-8CA2BCC17E3B}" type="presParOf" srcId="{65E73567-2FE9-4CD6-963E-72A7A7635FDF}" destId="{E426ADC5-3827-4AD0-93E6-4158DD26D9DD}" srcOrd="0" destOrd="0" presId="urn:microsoft.com/office/officeart/2005/8/layout/process1"/>
    <dgm:cxn modelId="{D7932290-67B3-4609-8E86-BE2CD1950F64}" type="presParOf" srcId="{99F3208C-DC66-4B3F-858E-E2ADDA856342}" destId="{E27A70FD-FD9D-48F1-B413-80CFE3F774DD}"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E11C0F0-2333-4092-9ED9-6730F7E9DD7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F2AB7CE-C7BF-4194-9929-F3EC52787845}">
      <dgm:prSet custT="1"/>
      <dgm:spPr/>
      <dgm:t>
        <a:bodyPr/>
        <a:lstStyle/>
        <a:p>
          <a:r>
            <a:rPr lang="el-GR" sz="2400" dirty="0"/>
            <a:t>Η ΤΝ αναδεικνύεται ως ένα μετασχηματιστικό εργαλείο για τη διαχείριση της εφοδιαστικής αλυσίδας, προσφέροντας λύσεις που αντιμετωπίζουν αποτελεσματικά τις σύγχρονες προκλήσεις, όπως η πρόβλεψη ζήτησης, η βελτιστοποίηση των </a:t>
          </a:r>
          <a:r>
            <a:rPr lang="el-GR" sz="2400" dirty="0" err="1"/>
            <a:t>logistics</a:t>
          </a:r>
          <a:r>
            <a:rPr lang="el-GR" sz="2400" dirty="0"/>
            <a:t>, η διαχείριση κινδύνων και η ενίσχυση της βιωσιμότητας.</a:t>
          </a:r>
          <a:endParaRPr lang="en-US" sz="2400" dirty="0"/>
        </a:p>
      </dgm:t>
    </dgm:pt>
    <dgm:pt modelId="{AB28E2D6-0CA6-422F-8896-5BD886828A1B}" type="parTrans" cxnId="{52C6B3FF-23A6-450A-AF03-FE96EA487471}">
      <dgm:prSet/>
      <dgm:spPr/>
      <dgm:t>
        <a:bodyPr/>
        <a:lstStyle/>
        <a:p>
          <a:endParaRPr lang="en-US" sz="2400"/>
        </a:p>
      </dgm:t>
    </dgm:pt>
    <dgm:pt modelId="{1326A89B-A91F-4030-ADCA-3904EA8CA69F}" type="sibTrans" cxnId="{52C6B3FF-23A6-450A-AF03-FE96EA487471}">
      <dgm:prSet/>
      <dgm:spPr/>
      <dgm:t>
        <a:bodyPr/>
        <a:lstStyle/>
        <a:p>
          <a:endParaRPr lang="en-US" sz="2000"/>
        </a:p>
      </dgm:t>
    </dgm:pt>
    <dgm:pt modelId="{BCD924EE-8A91-4DED-8D69-E0A60F8161DD}">
      <dgm:prSet custT="1"/>
      <dgm:spPr/>
      <dgm:t>
        <a:bodyPr/>
        <a:lstStyle/>
        <a:p>
          <a:r>
            <a:rPr lang="el-GR" sz="2400"/>
            <a:t>Η ανάλυση των σύγχρονων εργαλείων ΤΝ, όπως οι πλατφόρμες </a:t>
          </a:r>
          <a:r>
            <a:rPr lang="en-US" sz="2400"/>
            <a:t>Kinaxis</a:t>
          </a:r>
          <a:r>
            <a:rPr lang="el-GR" sz="2400"/>
            <a:t> RapidResponse, o9 </a:t>
          </a:r>
          <a:r>
            <a:rPr lang="en-US" sz="2400"/>
            <a:t>Solutions</a:t>
          </a:r>
          <a:r>
            <a:rPr lang="el-GR" sz="2400"/>
            <a:t> Digital </a:t>
          </a:r>
          <a:r>
            <a:rPr lang="en-US" sz="2400"/>
            <a:t>Brain</a:t>
          </a:r>
          <a:r>
            <a:rPr lang="el-GR" sz="2400"/>
            <a:t>, FourKites και </a:t>
          </a:r>
          <a:r>
            <a:rPr lang="en-US" sz="2400"/>
            <a:t>Blue Yonder</a:t>
          </a:r>
          <a:r>
            <a:rPr lang="el-GR" sz="2400"/>
            <a:t>, ανέδειξε την ικανότητά τους να παρέχουν ολιστικές λύσεις που καλύπτουν κάθε στάδιο της εφοδιαστικής αλυσίδας, από τον σχεδιασμό και την παραγωγή έως την παράδοση και τη διαχείριση επιστροφών.</a:t>
          </a:r>
          <a:endParaRPr lang="en-US" sz="2400"/>
        </a:p>
      </dgm:t>
    </dgm:pt>
    <dgm:pt modelId="{7F00ECFC-79BA-4E79-8F18-9CFB04BC723F}" type="parTrans" cxnId="{75E1CE3E-39DF-4998-9F55-7072642179CC}">
      <dgm:prSet/>
      <dgm:spPr/>
      <dgm:t>
        <a:bodyPr/>
        <a:lstStyle/>
        <a:p>
          <a:endParaRPr lang="en-US" sz="2400"/>
        </a:p>
      </dgm:t>
    </dgm:pt>
    <dgm:pt modelId="{66D7B56A-409B-4598-BE33-2BCC1E0793E8}" type="sibTrans" cxnId="{75E1CE3E-39DF-4998-9F55-7072642179CC}">
      <dgm:prSet/>
      <dgm:spPr/>
      <dgm:t>
        <a:bodyPr/>
        <a:lstStyle/>
        <a:p>
          <a:endParaRPr lang="en-US" sz="2000"/>
        </a:p>
      </dgm:t>
    </dgm:pt>
    <dgm:pt modelId="{C2D150CB-9DF4-4643-855E-299E4039BC59}">
      <dgm:prSet custT="1"/>
      <dgm:spPr/>
      <dgm:t>
        <a:bodyPr/>
        <a:lstStyle/>
        <a:p>
          <a:r>
            <a:rPr lang="el-GR" sz="2400"/>
            <a:t>Οι πρακτικές εφαρμογές που παρουσιάστηκαν, όπως η περίπτωση της DHL με το Resilience360, της </a:t>
          </a:r>
          <a:r>
            <a:rPr lang="en-US" sz="2400"/>
            <a:t>Walmart</a:t>
          </a:r>
          <a:r>
            <a:rPr lang="el-GR" sz="2400"/>
            <a:t> στη διαχείριση αποβλήτων και της UPS με το ORION, επιβεβαιώνουν την αξία της ΤΝ σε πραγματικές συνθήκες</a:t>
          </a:r>
          <a:endParaRPr lang="en-US" sz="2400"/>
        </a:p>
      </dgm:t>
    </dgm:pt>
    <dgm:pt modelId="{5C62BA7F-2FB8-4D0E-89AC-2A9D65F75A40}" type="parTrans" cxnId="{848BDDC6-61E1-447A-AB9E-23C2075118C5}">
      <dgm:prSet/>
      <dgm:spPr/>
      <dgm:t>
        <a:bodyPr/>
        <a:lstStyle/>
        <a:p>
          <a:endParaRPr lang="en-US" sz="2400"/>
        </a:p>
      </dgm:t>
    </dgm:pt>
    <dgm:pt modelId="{B96C9F50-FCB6-40A5-9AFF-C30939B07D06}" type="sibTrans" cxnId="{848BDDC6-61E1-447A-AB9E-23C2075118C5}">
      <dgm:prSet/>
      <dgm:spPr/>
      <dgm:t>
        <a:bodyPr/>
        <a:lstStyle/>
        <a:p>
          <a:endParaRPr lang="en-US" sz="2000"/>
        </a:p>
      </dgm:t>
    </dgm:pt>
    <dgm:pt modelId="{0F87440B-4260-44E3-8950-5F2E8CCB1D4F}" type="pres">
      <dgm:prSet presAssocID="{9E11C0F0-2333-4092-9ED9-6730F7E9DD76}" presName="linear" presStyleCnt="0">
        <dgm:presLayoutVars>
          <dgm:animLvl val="lvl"/>
          <dgm:resizeHandles val="exact"/>
        </dgm:presLayoutVars>
      </dgm:prSet>
      <dgm:spPr/>
    </dgm:pt>
    <dgm:pt modelId="{BEDCFA0A-E0D3-4193-BEF4-58122BA1EDC6}" type="pres">
      <dgm:prSet presAssocID="{EF2AB7CE-C7BF-4194-9929-F3EC52787845}" presName="parentText" presStyleLbl="node1" presStyleIdx="0" presStyleCnt="3">
        <dgm:presLayoutVars>
          <dgm:chMax val="0"/>
          <dgm:bulletEnabled val="1"/>
        </dgm:presLayoutVars>
      </dgm:prSet>
      <dgm:spPr/>
    </dgm:pt>
    <dgm:pt modelId="{543E9727-1FD4-40D6-900D-6433B022357F}" type="pres">
      <dgm:prSet presAssocID="{1326A89B-A91F-4030-ADCA-3904EA8CA69F}" presName="spacer" presStyleCnt="0"/>
      <dgm:spPr/>
    </dgm:pt>
    <dgm:pt modelId="{FB4A40FE-D0A2-4382-A1D0-BBB27BB8C784}" type="pres">
      <dgm:prSet presAssocID="{BCD924EE-8A91-4DED-8D69-E0A60F8161DD}" presName="parentText" presStyleLbl="node1" presStyleIdx="1" presStyleCnt="3">
        <dgm:presLayoutVars>
          <dgm:chMax val="0"/>
          <dgm:bulletEnabled val="1"/>
        </dgm:presLayoutVars>
      </dgm:prSet>
      <dgm:spPr/>
    </dgm:pt>
    <dgm:pt modelId="{75F00977-7D7A-4832-901B-1075F5F30D8B}" type="pres">
      <dgm:prSet presAssocID="{66D7B56A-409B-4598-BE33-2BCC1E0793E8}" presName="spacer" presStyleCnt="0"/>
      <dgm:spPr/>
    </dgm:pt>
    <dgm:pt modelId="{FCD08A96-748E-401D-80EF-B9718A18204F}" type="pres">
      <dgm:prSet presAssocID="{C2D150CB-9DF4-4643-855E-299E4039BC59}" presName="parentText" presStyleLbl="node1" presStyleIdx="2" presStyleCnt="3">
        <dgm:presLayoutVars>
          <dgm:chMax val="0"/>
          <dgm:bulletEnabled val="1"/>
        </dgm:presLayoutVars>
      </dgm:prSet>
      <dgm:spPr/>
    </dgm:pt>
  </dgm:ptLst>
  <dgm:cxnLst>
    <dgm:cxn modelId="{FBC12120-CF41-45DA-92C4-0D1C0C3847FB}" type="presOf" srcId="{EF2AB7CE-C7BF-4194-9929-F3EC52787845}" destId="{BEDCFA0A-E0D3-4193-BEF4-58122BA1EDC6}" srcOrd="0" destOrd="0" presId="urn:microsoft.com/office/officeart/2005/8/layout/vList2"/>
    <dgm:cxn modelId="{75E1CE3E-39DF-4998-9F55-7072642179CC}" srcId="{9E11C0F0-2333-4092-9ED9-6730F7E9DD76}" destId="{BCD924EE-8A91-4DED-8D69-E0A60F8161DD}" srcOrd="1" destOrd="0" parTransId="{7F00ECFC-79BA-4E79-8F18-9CFB04BC723F}" sibTransId="{66D7B56A-409B-4598-BE33-2BCC1E0793E8}"/>
    <dgm:cxn modelId="{0684527C-3C53-4213-8D03-84CD3F5F80CE}" type="presOf" srcId="{BCD924EE-8A91-4DED-8D69-E0A60F8161DD}" destId="{FB4A40FE-D0A2-4382-A1D0-BBB27BB8C784}" srcOrd="0" destOrd="0" presId="urn:microsoft.com/office/officeart/2005/8/layout/vList2"/>
    <dgm:cxn modelId="{45D8E288-4B3B-4EEA-B1FF-A62E38C4538E}" type="presOf" srcId="{9E11C0F0-2333-4092-9ED9-6730F7E9DD76}" destId="{0F87440B-4260-44E3-8950-5F2E8CCB1D4F}" srcOrd="0" destOrd="0" presId="urn:microsoft.com/office/officeart/2005/8/layout/vList2"/>
    <dgm:cxn modelId="{848BDDC6-61E1-447A-AB9E-23C2075118C5}" srcId="{9E11C0F0-2333-4092-9ED9-6730F7E9DD76}" destId="{C2D150CB-9DF4-4643-855E-299E4039BC59}" srcOrd="2" destOrd="0" parTransId="{5C62BA7F-2FB8-4D0E-89AC-2A9D65F75A40}" sibTransId="{B96C9F50-FCB6-40A5-9AFF-C30939B07D06}"/>
    <dgm:cxn modelId="{1DB191E3-2C1B-45A4-BC11-1216DCB84F27}" type="presOf" srcId="{C2D150CB-9DF4-4643-855E-299E4039BC59}" destId="{FCD08A96-748E-401D-80EF-B9718A18204F}" srcOrd="0" destOrd="0" presId="urn:microsoft.com/office/officeart/2005/8/layout/vList2"/>
    <dgm:cxn modelId="{52C6B3FF-23A6-450A-AF03-FE96EA487471}" srcId="{9E11C0F0-2333-4092-9ED9-6730F7E9DD76}" destId="{EF2AB7CE-C7BF-4194-9929-F3EC52787845}" srcOrd="0" destOrd="0" parTransId="{AB28E2D6-0CA6-422F-8896-5BD886828A1B}" sibTransId="{1326A89B-A91F-4030-ADCA-3904EA8CA69F}"/>
    <dgm:cxn modelId="{44C0E706-327E-4756-BC9C-80EA3622F59A}" type="presParOf" srcId="{0F87440B-4260-44E3-8950-5F2E8CCB1D4F}" destId="{BEDCFA0A-E0D3-4193-BEF4-58122BA1EDC6}" srcOrd="0" destOrd="0" presId="urn:microsoft.com/office/officeart/2005/8/layout/vList2"/>
    <dgm:cxn modelId="{F7615BF4-84C6-4E88-B5F1-9034E3615F09}" type="presParOf" srcId="{0F87440B-4260-44E3-8950-5F2E8CCB1D4F}" destId="{543E9727-1FD4-40D6-900D-6433B022357F}" srcOrd="1" destOrd="0" presId="urn:microsoft.com/office/officeart/2005/8/layout/vList2"/>
    <dgm:cxn modelId="{E302D2E5-162D-44C1-872D-CDF4B8443ACD}" type="presParOf" srcId="{0F87440B-4260-44E3-8950-5F2E8CCB1D4F}" destId="{FB4A40FE-D0A2-4382-A1D0-BBB27BB8C784}" srcOrd="2" destOrd="0" presId="urn:microsoft.com/office/officeart/2005/8/layout/vList2"/>
    <dgm:cxn modelId="{09A164AB-084B-4A3A-947C-C1A6117BFC19}" type="presParOf" srcId="{0F87440B-4260-44E3-8950-5F2E8CCB1D4F}" destId="{75F00977-7D7A-4832-901B-1075F5F30D8B}" srcOrd="3" destOrd="0" presId="urn:microsoft.com/office/officeart/2005/8/layout/vList2"/>
    <dgm:cxn modelId="{60108E12-A06F-44E2-942B-553188C324D3}" type="presParOf" srcId="{0F87440B-4260-44E3-8950-5F2E8CCB1D4F}" destId="{FCD08A96-748E-401D-80EF-B9718A18204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E11C0F0-2333-4092-9ED9-6730F7E9DD76}"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F2AB7CE-C7BF-4194-9929-F3EC52787845}">
      <dgm:prSet/>
      <dgm:spPr/>
      <dgm:t>
        <a:bodyPr/>
        <a:lstStyle/>
        <a:p>
          <a:r>
            <a:rPr lang="el-GR" dirty="0"/>
            <a:t>Ωστόσο, η υιοθέτηση της ΤΝ δεν είναι χωρίς προκλήσεις. Η υψηλή αρχική επένδυση για την ενσωμάτωση προηγμένων συστημάτων, όπως αυτά της </a:t>
          </a:r>
          <a:r>
            <a:rPr lang="en-MY" dirty="0"/>
            <a:t>Blue Yonder</a:t>
          </a:r>
          <a:r>
            <a:rPr lang="el-GR" dirty="0"/>
            <a:t> ή της </a:t>
          </a:r>
          <a:r>
            <a:rPr lang="en-MY" dirty="0"/>
            <a:t>Kinaxis</a:t>
          </a:r>
          <a:r>
            <a:rPr lang="el-GR" dirty="0"/>
            <a:t>, καθώς και η ανάγκη για εκπαίδευση του προσωπικού, αποτελούν σημαντικά εμπόδια, ιδιαίτερα για μικρότερες επιχειρήσεις.</a:t>
          </a:r>
          <a:endParaRPr lang="en-US" dirty="0"/>
        </a:p>
      </dgm:t>
    </dgm:pt>
    <dgm:pt modelId="{AB28E2D6-0CA6-422F-8896-5BD886828A1B}" type="parTrans" cxnId="{52C6B3FF-23A6-450A-AF03-FE96EA487471}">
      <dgm:prSet/>
      <dgm:spPr/>
      <dgm:t>
        <a:bodyPr/>
        <a:lstStyle/>
        <a:p>
          <a:endParaRPr lang="en-US" sz="2000"/>
        </a:p>
      </dgm:t>
    </dgm:pt>
    <dgm:pt modelId="{1326A89B-A91F-4030-ADCA-3904EA8CA69F}" type="sibTrans" cxnId="{52C6B3FF-23A6-450A-AF03-FE96EA487471}">
      <dgm:prSet/>
      <dgm:spPr/>
      <dgm:t>
        <a:bodyPr/>
        <a:lstStyle/>
        <a:p>
          <a:endParaRPr lang="en-US"/>
        </a:p>
      </dgm:t>
    </dgm:pt>
    <dgm:pt modelId="{BCD924EE-8A91-4DED-8D69-E0A60F8161DD}">
      <dgm:prSet/>
      <dgm:spPr/>
      <dgm:t>
        <a:bodyPr/>
        <a:lstStyle/>
        <a:p>
          <a:r>
            <a:rPr lang="el-GR" dirty="0"/>
            <a:t>Η διαφάνεια και η ηθική διαχείριση των δεδομένων είναι απαραίτητες για να διασφαλιστεί ότι η ΤΝ εξυπηρετεί τα συμφέροντα όλων των εμπλεκομένων, από τους προμηθευτές έως τους καταναλωτές.</a:t>
          </a:r>
          <a:endParaRPr lang="en-US" dirty="0"/>
        </a:p>
      </dgm:t>
    </dgm:pt>
    <dgm:pt modelId="{7F00ECFC-79BA-4E79-8F18-9CFB04BC723F}" type="parTrans" cxnId="{75E1CE3E-39DF-4998-9F55-7072642179CC}">
      <dgm:prSet/>
      <dgm:spPr/>
      <dgm:t>
        <a:bodyPr/>
        <a:lstStyle/>
        <a:p>
          <a:endParaRPr lang="en-US" sz="2000"/>
        </a:p>
      </dgm:t>
    </dgm:pt>
    <dgm:pt modelId="{66D7B56A-409B-4598-BE33-2BCC1E0793E8}" type="sibTrans" cxnId="{75E1CE3E-39DF-4998-9F55-7072642179CC}">
      <dgm:prSet/>
      <dgm:spPr/>
      <dgm:t>
        <a:bodyPr/>
        <a:lstStyle/>
        <a:p>
          <a:endParaRPr lang="en-US"/>
        </a:p>
      </dgm:t>
    </dgm:pt>
    <dgm:pt modelId="{C2D150CB-9DF4-4643-855E-299E4039BC59}">
      <dgm:prSet/>
      <dgm:spPr/>
      <dgm:t>
        <a:bodyPr/>
        <a:lstStyle/>
        <a:p>
          <a:r>
            <a:rPr lang="el-GR" dirty="0"/>
            <a:t>Η συνδυαστική χρήση ΤΝ και blockchain ανοίγει νέες προοπτικές για το μέλλον. Η δυνατότητα της ΤΝ να αναλύει δεδομένα blockchain για την ανίχνευση ανωμαλιών και την επαλήθευση της αυθεντικότητας προϊόντων.</a:t>
          </a:r>
          <a:endParaRPr lang="en-US" dirty="0"/>
        </a:p>
      </dgm:t>
    </dgm:pt>
    <dgm:pt modelId="{5C62BA7F-2FB8-4D0E-89AC-2A9D65F75A40}" type="parTrans" cxnId="{848BDDC6-61E1-447A-AB9E-23C2075118C5}">
      <dgm:prSet/>
      <dgm:spPr/>
      <dgm:t>
        <a:bodyPr/>
        <a:lstStyle/>
        <a:p>
          <a:endParaRPr lang="en-US" sz="2000"/>
        </a:p>
      </dgm:t>
    </dgm:pt>
    <dgm:pt modelId="{B96C9F50-FCB6-40A5-9AFF-C30939B07D06}" type="sibTrans" cxnId="{848BDDC6-61E1-447A-AB9E-23C2075118C5}">
      <dgm:prSet/>
      <dgm:spPr/>
      <dgm:t>
        <a:bodyPr/>
        <a:lstStyle/>
        <a:p>
          <a:endParaRPr lang="en-US"/>
        </a:p>
      </dgm:t>
    </dgm:pt>
    <dgm:pt modelId="{9EDF1936-BCF9-4675-BE93-EFDA36BA1DD4}" type="pres">
      <dgm:prSet presAssocID="{9E11C0F0-2333-4092-9ED9-6730F7E9DD76}" presName="linear" presStyleCnt="0">
        <dgm:presLayoutVars>
          <dgm:animLvl val="lvl"/>
          <dgm:resizeHandles val="exact"/>
        </dgm:presLayoutVars>
      </dgm:prSet>
      <dgm:spPr/>
    </dgm:pt>
    <dgm:pt modelId="{490E84E1-0044-442F-B663-9197D9C88CE5}" type="pres">
      <dgm:prSet presAssocID="{EF2AB7CE-C7BF-4194-9929-F3EC52787845}" presName="parentText" presStyleLbl="node1" presStyleIdx="0" presStyleCnt="3">
        <dgm:presLayoutVars>
          <dgm:chMax val="0"/>
          <dgm:bulletEnabled val="1"/>
        </dgm:presLayoutVars>
      </dgm:prSet>
      <dgm:spPr/>
    </dgm:pt>
    <dgm:pt modelId="{B04E5516-5C4A-4302-8A23-6EDCE7870256}" type="pres">
      <dgm:prSet presAssocID="{1326A89B-A91F-4030-ADCA-3904EA8CA69F}" presName="spacer" presStyleCnt="0"/>
      <dgm:spPr/>
    </dgm:pt>
    <dgm:pt modelId="{EFEAC82D-4825-4F5A-A793-1D58D5D9DEC3}" type="pres">
      <dgm:prSet presAssocID="{BCD924EE-8A91-4DED-8D69-E0A60F8161DD}" presName="parentText" presStyleLbl="node1" presStyleIdx="1" presStyleCnt="3">
        <dgm:presLayoutVars>
          <dgm:chMax val="0"/>
          <dgm:bulletEnabled val="1"/>
        </dgm:presLayoutVars>
      </dgm:prSet>
      <dgm:spPr/>
    </dgm:pt>
    <dgm:pt modelId="{FB3E02A3-48B9-4F7E-82B4-7085CFDE2A58}" type="pres">
      <dgm:prSet presAssocID="{66D7B56A-409B-4598-BE33-2BCC1E0793E8}" presName="spacer" presStyleCnt="0"/>
      <dgm:spPr/>
    </dgm:pt>
    <dgm:pt modelId="{6B39D2FF-DD23-4FC8-882B-451539B3B4FF}" type="pres">
      <dgm:prSet presAssocID="{C2D150CB-9DF4-4643-855E-299E4039BC59}" presName="parentText" presStyleLbl="node1" presStyleIdx="2" presStyleCnt="3">
        <dgm:presLayoutVars>
          <dgm:chMax val="0"/>
          <dgm:bulletEnabled val="1"/>
        </dgm:presLayoutVars>
      </dgm:prSet>
      <dgm:spPr/>
    </dgm:pt>
  </dgm:ptLst>
  <dgm:cxnLst>
    <dgm:cxn modelId="{75E1CE3E-39DF-4998-9F55-7072642179CC}" srcId="{9E11C0F0-2333-4092-9ED9-6730F7E9DD76}" destId="{BCD924EE-8A91-4DED-8D69-E0A60F8161DD}" srcOrd="1" destOrd="0" parTransId="{7F00ECFC-79BA-4E79-8F18-9CFB04BC723F}" sibTransId="{66D7B56A-409B-4598-BE33-2BCC1E0793E8}"/>
    <dgm:cxn modelId="{AB2B9F5A-31D3-40D3-A96E-9EC4AE899583}" type="presOf" srcId="{EF2AB7CE-C7BF-4194-9929-F3EC52787845}" destId="{490E84E1-0044-442F-B663-9197D9C88CE5}" srcOrd="0" destOrd="0" presId="urn:microsoft.com/office/officeart/2005/8/layout/vList2"/>
    <dgm:cxn modelId="{CAF0A2AC-508D-4AE0-8E70-D577823CEDCB}" type="presOf" srcId="{BCD924EE-8A91-4DED-8D69-E0A60F8161DD}" destId="{EFEAC82D-4825-4F5A-A793-1D58D5D9DEC3}" srcOrd="0" destOrd="0" presId="urn:microsoft.com/office/officeart/2005/8/layout/vList2"/>
    <dgm:cxn modelId="{848BDDC6-61E1-447A-AB9E-23C2075118C5}" srcId="{9E11C0F0-2333-4092-9ED9-6730F7E9DD76}" destId="{C2D150CB-9DF4-4643-855E-299E4039BC59}" srcOrd="2" destOrd="0" parTransId="{5C62BA7F-2FB8-4D0E-89AC-2A9D65F75A40}" sibTransId="{B96C9F50-FCB6-40A5-9AFF-C30939B07D06}"/>
    <dgm:cxn modelId="{42C5EDDD-87F7-4EC9-BCF8-516F1B799FA0}" type="presOf" srcId="{9E11C0F0-2333-4092-9ED9-6730F7E9DD76}" destId="{9EDF1936-BCF9-4675-BE93-EFDA36BA1DD4}" srcOrd="0" destOrd="0" presId="urn:microsoft.com/office/officeart/2005/8/layout/vList2"/>
    <dgm:cxn modelId="{4E7335E1-B25D-4DF6-BA9D-F00916526FAD}" type="presOf" srcId="{C2D150CB-9DF4-4643-855E-299E4039BC59}" destId="{6B39D2FF-DD23-4FC8-882B-451539B3B4FF}" srcOrd="0" destOrd="0" presId="urn:microsoft.com/office/officeart/2005/8/layout/vList2"/>
    <dgm:cxn modelId="{52C6B3FF-23A6-450A-AF03-FE96EA487471}" srcId="{9E11C0F0-2333-4092-9ED9-6730F7E9DD76}" destId="{EF2AB7CE-C7BF-4194-9929-F3EC52787845}" srcOrd="0" destOrd="0" parTransId="{AB28E2D6-0CA6-422F-8896-5BD886828A1B}" sibTransId="{1326A89B-A91F-4030-ADCA-3904EA8CA69F}"/>
    <dgm:cxn modelId="{D7AAB159-38EF-4034-8F4A-331A9EC8C0E1}" type="presParOf" srcId="{9EDF1936-BCF9-4675-BE93-EFDA36BA1DD4}" destId="{490E84E1-0044-442F-B663-9197D9C88CE5}" srcOrd="0" destOrd="0" presId="urn:microsoft.com/office/officeart/2005/8/layout/vList2"/>
    <dgm:cxn modelId="{5CA9B6B6-6E33-45AE-B8F8-708EB620186B}" type="presParOf" srcId="{9EDF1936-BCF9-4675-BE93-EFDA36BA1DD4}" destId="{B04E5516-5C4A-4302-8A23-6EDCE7870256}" srcOrd="1" destOrd="0" presId="urn:microsoft.com/office/officeart/2005/8/layout/vList2"/>
    <dgm:cxn modelId="{74C98018-05C6-42B1-8594-C866C30EFD49}" type="presParOf" srcId="{9EDF1936-BCF9-4675-BE93-EFDA36BA1DD4}" destId="{EFEAC82D-4825-4F5A-A793-1D58D5D9DEC3}" srcOrd="2" destOrd="0" presId="urn:microsoft.com/office/officeart/2005/8/layout/vList2"/>
    <dgm:cxn modelId="{42447FAE-AD6C-47B9-A174-DCFB8DEA7EE5}" type="presParOf" srcId="{9EDF1936-BCF9-4675-BE93-EFDA36BA1DD4}" destId="{FB3E02A3-48B9-4F7E-82B4-7085CFDE2A58}" srcOrd="3" destOrd="0" presId="urn:microsoft.com/office/officeart/2005/8/layout/vList2"/>
    <dgm:cxn modelId="{A03B5E5A-6F71-4072-94BC-975772C5CD26}" type="presParOf" srcId="{9EDF1936-BCF9-4675-BE93-EFDA36BA1DD4}" destId="{6B39D2FF-DD23-4FC8-882B-451539B3B4FF}"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A3924B-20A5-4B97-9CBD-0FF8960FFD72}">
      <dsp:nvSpPr>
        <dsp:cNvPr id="0" name=""/>
        <dsp:cNvSpPr/>
      </dsp:nvSpPr>
      <dsp:spPr>
        <a:xfrm>
          <a:off x="0" y="4332827"/>
          <a:ext cx="12108264" cy="947916"/>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l-GR" sz="2400" kern="1200" dirty="0">
              <a:solidFill>
                <a:schemeClr val="tx1"/>
              </a:solidFill>
              <a:latin typeface="Times New Roman" panose="02020603050405020304" pitchFamily="18" charset="0"/>
              <a:cs typeface="Times New Roman" panose="02020603050405020304" pitchFamily="18" charset="0"/>
            </a:rPr>
            <a:t>Εξωγενείς παράγοντες, όπως ακραία καιρικά φαινόμενα, κυκλοφοριακή συμφόρηση ή διακυμάνσεις στις τιμές καυσίμων, περιπλέκουν την επιλογή βέλτιστων διαδρομών και χρονοδιαγραμμάτων μεταφοράς.</a:t>
          </a:r>
          <a:endParaRPr lang="en-US" sz="2400" kern="1200" dirty="0">
            <a:solidFill>
              <a:schemeClr val="tx1"/>
            </a:solidFill>
            <a:latin typeface="Times New Roman" panose="02020603050405020304" pitchFamily="18" charset="0"/>
            <a:cs typeface="Times New Roman" panose="02020603050405020304" pitchFamily="18" charset="0"/>
          </a:endParaRPr>
        </a:p>
      </dsp:txBody>
      <dsp:txXfrm>
        <a:off x="0" y="4332827"/>
        <a:ext cx="12108264" cy="947916"/>
      </dsp:txXfrm>
    </dsp:sp>
    <dsp:sp modelId="{4D7C39E5-7818-4B1B-B671-9585F18DBFC0}">
      <dsp:nvSpPr>
        <dsp:cNvPr id="0" name=""/>
        <dsp:cNvSpPr/>
      </dsp:nvSpPr>
      <dsp:spPr>
        <a:xfrm rot="10800000">
          <a:off x="0" y="2889150"/>
          <a:ext cx="12108264" cy="1457895"/>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l-GR" sz="2400" kern="1200">
              <a:latin typeface="Times New Roman" panose="02020603050405020304" pitchFamily="18" charset="0"/>
              <a:cs typeface="Times New Roman" panose="02020603050405020304" pitchFamily="18" charset="0"/>
            </a:rPr>
            <a:t>Αυτές οι αποκλίσεις επιφέρουν υψηλότερα κόστη αποθήκευσης, απόσυρση απούλητων προϊόντων ή απώλεια πωλήσεων όταν η ζήτηση δεν καλύπτεται έγκαιρα.</a:t>
          </a:r>
          <a:endParaRPr lang="en-US" sz="2400" kern="1200">
            <a:latin typeface="Times New Roman" panose="02020603050405020304" pitchFamily="18" charset="0"/>
            <a:cs typeface="Times New Roman" panose="02020603050405020304" pitchFamily="18" charset="0"/>
          </a:endParaRPr>
        </a:p>
      </dsp:txBody>
      <dsp:txXfrm rot="10800000">
        <a:off x="0" y="2889150"/>
        <a:ext cx="12108264" cy="947296"/>
      </dsp:txXfrm>
    </dsp:sp>
    <dsp:sp modelId="{98AC098C-A686-4890-A07D-AD0830D0F95E}">
      <dsp:nvSpPr>
        <dsp:cNvPr id="0" name=""/>
        <dsp:cNvSpPr/>
      </dsp:nvSpPr>
      <dsp:spPr>
        <a:xfrm rot="10800000">
          <a:off x="0" y="1445473"/>
          <a:ext cx="12108264" cy="1457895"/>
        </a:xfrm>
        <a:prstGeom prst="upArrowCallou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l-GR" sz="2400" kern="1200" dirty="0">
              <a:solidFill>
                <a:schemeClr val="tx1"/>
              </a:solidFill>
              <a:latin typeface="Times New Roman" panose="02020603050405020304" pitchFamily="18" charset="0"/>
              <a:cs typeface="Times New Roman" panose="02020603050405020304" pitchFamily="18" charset="0"/>
            </a:rPr>
            <a:t>Οι ταχείες αλλαγές στις προτιμήσεις των πελατών, που ενισχύονται από την άνοδο του ηλεκτρονικού εμπορίου και την επιρροή των μέσων κοινωνικής δικτύωσης, οδηγούν σε υπερπαραγωγή ή ελλείψεις αποθεμάτων. </a:t>
          </a:r>
          <a:endParaRPr lang="en-US" sz="2400" kern="1200" dirty="0">
            <a:solidFill>
              <a:schemeClr val="tx1"/>
            </a:solidFill>
            <a:latin typeface="Times New Roman" panose="02020603050405020304" pitchFamily="18" charset="0"/>
            <a:cs typeface="Times New Roman" panose="02020603050405020304" pitchFamily="18" charset="0"/>
          </a:endParaRPr>
        </a:p>
      </dsp:txBody>
      <dsp:txXfrm rot="10800000">
        <a:off x="0" y="1445473"/>
        <a:ext cx="12108264" cy="947296"/>
      </dsp:txXfrm>
    </dsp:sp>
    <dsp:sp modelId="{EBE6D64F-0E4F-4AA8-A329-EC1B3BB1DCEB}">
      <dsp:nvSpPr>
        <dsp:cNvPr id="0" name=""/>
        <dsp:cNvSpPr/>
      </dsp:nvSpPr>
      <dsp:spPr>
        <a:xfrm rot="10800000">
          <a:off x="0" y="1795"/>
          <a:ext cx="12108264" cy="1457895"/>
        </a:xfrm>
        <a:prstGeom prst="upArrowCallou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l-GR" sz="2400" kern="1200" dirty="0">
              <a:latin typeface="Times New Roman" panose="02020603050405020304" pitchFamily="18" charset="0"/>
              <a:cs typeface="Times New Roman" panose="02020603050405020304" pitchFamily="18" charset="0"/>
            </a:rPr>
            <a:t>Η πρόβλεψη της ζήτησης παραμένει εξαιρετικά δύσκολη λόγω της αστάθειας στις καταναλωτικές συνήθειες. </a:t>
          </a:r>
          <a:endParaRPr lang="en-US" sz="2400" kern="1200" dirty="0">
            <a:latin typeface="Times New Roman" panose="02020603050405020304" pitchFamily="18" charset="0"/>
            <a:cs typeface="Times New Roman" panose="02020603050405020304" pitchFamily="18" charset="0"/>
          </a:endParaRPr>
        </a:p>
      </dsp:txBody>
      <dsp:txXfrm rot="10800000">
        <a:off x="0" y="1795"/>
        <a:ext cx="12108264" cy="9472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A6A5BA-10E4-4918-967A-D9AD508BB326}">
      <dsp:nvSpPr>
        <dsp:cNvPr id="0" name=""/>
        <dsp:cNvSpPr/>
      </dsp:nvSpPr>
      <dsp:spPr>
        <a:xfrm>
          <a:off x="0" y="4174558"/>
          <a:ext cx="12108264" cy="1107837"/>
        </a:xfrm>
        <a:prstGeom prst="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a:lnSpc>
              <a:spcPct val="90000"/>
            </a:lnSpc>
            <a:spcBef>
              <a:spcPct val="0"/>
            </a:spcBef>
            <a:spcAft>
              <a:spcPct val="35000"/>
            </a:spcAft>
            <a:buNone/>
          </a:pPr>
          <a:r>
            <a:rPr lang="en-US" sz="2600" kern="1200" dirty="0">
              <a:solidFill>
                <a:schemeClr val="bg1"/>
              </a:solidFill>
              <a:latin typeface="Times New Roman" panose="02020603050405020304" pitchFamily="18" charset="0"/>
              <a:cs typeface="Times New Roman" panose="02020603050405020304" pitchFamily="18" charset="0"/>
            </a:rPr>
            <a:t>H </a:t>
          </a:r>
          <a:r>
            <a:rPr lang="el-GR" sz="2600" kern="1200" dirty="0">
              <a:solidFill>
                <a:schemeClr val="bg1"/>
              </a:solidFill>
              <a:latin typeface="Times New Roman" panose="02020603050405020304" pitchFamily="18" charset="0"/>
              <a:cs typeface="Times New Roman" panose="02020603050405020304" pitchFamily="18" charset="0"/>
            </a:rPr>
            <a:t>πίεση για </a:t>
          </a:r>
          <a:r>
            <a:rPr lang="el-GR" sz="2600" kern="1200" dirty="0">
              <a:solidFill>
                <a:srgbClr val="FFFF00"/>
              </a:solidFill>
              <a:latin typeface="Times New Roman" panose="02020603050405020304" pitchFamily="18" charset="0"/>
              <a:cs typeface="Times New Roman" panose="02020603050405020304" pitchFamily="18" charset="0"/>
            </a:rPr>
            <a:t>βιώσιμες πρακτικές</a:t>
          </a:r>
          <a:r>
            <a:rPr lang="el-GR" sz="2600" kern="1200" dirty="0">
              <a:solidFill>
                <a:schemeClr val="tx1"/>
              </a:solidFill>
              <a:latin typeface="Times New Roman" panose="02020603050405020304" pitchFamily="18" charset="0"/>
              <a:cs typeface="Times New Roman" panose="02020603050405020304" pitchFamily="18" charset="0"/>
            </a:rPr>
            <a:t> </a:t>
          </a:r>
          <a:r>
            <a:rPr lang="el-GR" sz="2600" kern="1200" dirty="0">
              <a:solidFill>
                <a:schemeClr val="bg1"/>
              </a:solidFill>
              <a:latin typeface="Times New Roman" panose="02020603050405020304" pitchFamily="18" charset="0"/>
              <a:cs typeface="Times New Roman" panose="02020603050405020304" pitchFamily="18" charset="0"/>
            </a:rPr>
            <a:t>προσθέτει ένα επιπλέον επίπεδο πολυπλοκότητας</a:t>
          </a:r>
          <a:endParaRPr lang="en-US" sz="2600" kern="1200" dirty="0">
            <a:solidFill>
              <a:schemeClr val="bg1"/>
            </a:solidFill>
            <a:latin typeface="Times New Roman" panose="02020603050405020304" pitchFamily="18" charset="0"/>
            <a:cs typeface="Times New Roman" panose="02020603050405020304" pitchFamily="18" charset="0"/>
          </a:endParaRPr>
        </a:p>
      </dsp:txBody>
      <dsp:txXfrm>
        <a:off x="0" y="4174558"/>
        <a:ext cx="12108264" cy="1107837"/>
      </dsp:txXfrm>
    </dsp:sp>
    <dsp:sp modelId="{98AC098C-A686-4890-A07D-AD0830D0F95E}">
      <dsp:nvSpPr>
        <dsp:cNvPr id="0" name=""/>
        <dsp:cNvSpPr/>
      </dsp:nvSpPr>
      <dsp:spPr>
        <a:xfrm rot="10800000">
          <a:off x="0" y="2084991"/>
          <a:ext cx="12108264" cy="2106184"/>
        </a:xfrm>
        <a:prstGeom prst="upArrowCallou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l-GR" sz="2400" kern="1200" dirty="0">
              <a:solidFill>
                <a:srgbClr val="FFFF00"/>
              </a:solidFill>
              <a:latin typeface="Times New Roman" panose="02020603050405020304" pitchFamily="18" charset="0"/>
              <a:cs typeface="Times New Roman" panose="02020603050405020304" pitchFamily="18" charset="0"/>
            </a:rPr>
            <a:t>Έλλειψη διαφάνειας/συντονισμού </a:t>
          </a:r>
          <a:r>
            <a:rPr lang="el-GR" sz="2400" kern="1200" dirty="0">
              <a:latin typeface="Times New Roman" panose="02020603050405020304" pitchFamily="18" charset="0"/>
              <a:cs typeface="Times New Roman" panose="02020603050405020304" pitchFamily="18" charset="0"/>
            </a:rPr>
            <a:t>μεταξύ των εμπλεκομένων μερών - προμηθευτών, κατασκευαστών, αποθηκών και διανομέων. </a:t>
          </a:r>
          <a:endParaRPr lang="en-US" sz="2400" kern="1200" dirty="0">
            <a:latin typeface="Times New Roman" panose="02020603050405020304" pitchFamily="18" charset="0"/>
            <a:cs typeface="Times New Roman" panose="02020603050405020304" pitchFamily="18" charset="0"/>
          </a:endParaRPr>
        </a:p>
      </dsp:txBody>
      <dsp:txXfrm rot="10800000">
        <a:off x="0" y="2084991"/>
        <a:ext cx="12108264" cy="1368535"/>
      </dsp:txXfrm>
    </dsp:sp>
    <dsp:sp modelId="{EBE6D64F-0E4F-4AA8-A329-EC1B3BB1DCEB}">
      <dsp:nvSpPr>
        <dsp:cNvPr id="0" name=""/>
        <dsp:cNvSpPr/>
      </dsp:nvSpPr>
      <dsp:spPr>
        <a:xfrm rot="10800000">
          <a:off x="0" y="80889"/>
          <a:ext cx="12108264" cy="2101465"/>
        </a:xfrm>
        <a:prstGeom prst="upArrowCallout">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024" tIns="192024" rIns="192024" bIns="192024" numCol="1" spcCol="1270" anchor="ctr" anchorCtr="0">
          <a:noAutofit/>
        </a:bodyPr>
        <a:lstStyle/>
        <a:p>
          <a:pPr marL="0" lvl="0" indent="0" algn="ctr" defTabSz="1200150">
            <a:lnSpc>
              <a:spcPct val="90000"/>
            </a:lnSpc>
            <a:spcBef>
              <a:spcPct val="0"/>
            </a:spcBef>
            <a:spcAft>
              <a:spcPct val="35000"/>
            </a:spcAft>
            <a:buNone/>
          </a:pPr>
          <a:r>
            <a:rPr lang="en-US" sz="2700" kern="1200" dirty="0">
              <a:solidFill>
                <a:schemeClr val="bg1"/>
              </a:solidFill>
              <a:latin typeface="Times New Roman" panose="02020603050405020304" pitchFamily="18" charset="0"/>
              <a:cs typeface="Times New Roman" panose="02020603050405020304" pitchFamily="18" charset="0"/>
            </a:rPr>
            <a:t>H</a:t>
          </a:r>
          <a:r>
            <a:rPr lang="el-GR" sz="2700" kern="1200" dirty="0">
              <a:solidFill>
                <a:schemeClr val="tx1"/>
              </a:solidFill>
              <a:latin typeface="Times New Roman" panose="02020603050405020304" pitchFamily="18" charset="0"/>
              <a:cs typeface="Times New Roman" panose="02020603050405020304" pitchFamily="18" charset="0"/>
            </a:rPr>
            <a:t> </a:t>
          </a:r>
          <a:r>
            <a:rPr lang="el-GR" sz="2700" kern="1200" dirty="0">
              <a:solidFill>
                <a:srgbClr val="FFFF00"/>
              </a:solidFill>
              <a:latin typeface="Times New Roman" panose="02020603050405020304" pitchFamily="18" charset="0"/>
              <a:cs typeface="Times New Roman" panose="02020603050405020304" pitchFamily="18" charset="0"/>
            </a:rPr>
            <a:t>αύξηση του κόστους μεταφορών</a:t>
          </a:r>
          <a:r>
            <a:rPr lang="el-GR" sz="2700" kern="1200" dirty="0">
              <a:solidFill>
                <a:schemeClr val="tx1"/>
              </a:solidFill>
              <a:latin typeface="Times New Roman" panose="02020603050405020304" pitchFamily="18" charset="0"/>
              <a:cs typeface="Times New Roman" panose="02020603050405020304" pitchFamily="18" charset="0"/>
            </a:rPr>
            <a:t>, </a:t>
          </a:r>
          <a:r>
            <a:rPr lang="el-GR" sz="2700" kern="1200" dirty="0">
              <a:solidFill>
                <a:schemeClr val="bg1"/>
              </a:solidFill>
              <a:latin typeface="Times New Roman" panose="02020603050405020304" pitchFamily="18" charset="0"/>
              <a:cs typeface="Times New Roman" panose="02020603050405020304" pitchFamily="18" charset="0"/>
            </a:rPr>
            <a:t>που προκύπτει από την έλλειψη εμπορευματοκιβωτίων ή την υψηλή ζήτηση για φορτηγά, </a:t>
          </a:r>
          <a:r>
            <a:rPr lang="el-GR" sz="2700" kern="1200" dirty="0">
              <a:solidFill>
                <a:srgbClr val="FFFF00"/>
              </a:solidFill>
              <a:latin typeface="Times New Roman" panose="02020603050405020304" pitchFamily="18" charset="0"/>
              <a:cs typeface="Times New Roman" panose="02020603050405020304" pitchFamily="18" charset="0"/>
            </a:rPr>
            <a:t>επιβαρύνει</a:t>
          </a:r>
          <a:r>
            <a:rPr lang="el-GR" sz="2700" kern="1200" dirty="0">
              <a:solidFill>
                <a:schemeClr val="bg1"/>
              </a:solidFill>
              <a:latin typeface="Times New Roman" panose="02020603050405020304" pitchFamily="18" charset="0"/>
              <a:cs typeface="Times New Roman" panose="02020603050405020304" pitchFamily="18" charset="0"/>
            </a:rPr>
            <a:t> τις επιχειρήσεις.</a:t>
          </a:r>
          <a:endParaRPr lang="en-US" sz="2700" kern="1200" dirty="0">
            <a:solidFill>
              <a:schemeClr val="bg1"/>
            </a:solidFill>
            <a:latin typeface="Times New Roman" panose="02020603050405020304" pitchFamily="18" charset="0"/>
            <a:cs typeface="Times New Roman" panose="02020603050405020304" pitchFamily="18" charset="0"/>
          </a:endParaRPr>
        </a:p>
      </dsp:txBody>
      <dsp:txXfrm rot="10800000">
        <a:off x="0" y="80889"/>
        <a:ext cx="12108264" cy="13654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B7069-FBAF-45B3-BF54-717B93A94223}">
      <dsp:nvSpPr>
        <dsp:cNvPr id="0" name=""/>
        <dsp:cNvSpPr/>
      </dsp:nvSpPr>
      <dsp:spPr>
        <a:xfrm>
          <a:off x="0" y="281189"/>
          <a:ext cx="12027877" cy="1368900"/>
        </a:xfrm>
        <a:prstGeom prst="roundRect">
          <a:avLst/>
        </a:prstGeom>
        <a:solidFill>
          <a:schemeClr val="accent2">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l-GR" sz="2600" kern="1200" dirty="0">
              <a:solidFill>
                <a:schemeClr val="bg1"/>
              </a:solidFill>
              <a:latin typeface="Times New Roman" panose="02020603050405020304" pitchFamily="18" charset="0"/>
              <a:cs typeface="Times New Roman" panose="02020603050405020304" pitchFamily="18" charset="0"/>
            </a:rPr>
            <a:t>Η ΤΝ μπορεί να </a:t>
          </a:r>
          <a:r>
            <a:rPr lang="el-GR" sz="2600" kern="1200" dirty="0">
              <a:solidFill>
                <a:srgbClr val="FFFF00"/>
              </a:solidFill>
              <a:latin typeface="Times New Roman" panose="02020603050405020304" pitchFamily="18" charset="0"/>
              <a:cs typeface="Times New Roman" panose="02020603050405020304" pitchFamily="18" charset="0"/>
            </a:rPr>
            <a:t>βελτιστοποιήσει</a:t>
          </a:r>
          <a:r>
            <a:rPr lang="el-GR" sz="2600" kern="1200" dirty="0">
              <a:solidFill>
                <a:schemeClr val="tx1"/>
              </a:solidFill>
              <a:latin typeface="Times New Roman" panose="02020603050405020304" pitchFamily="18" charset="0"/>
              <a:cs typeface="Times New Roman" panose="02020603050405020304" pitchFamily="18" charset="0"/>
            </a:rPr>
            <a:t> </a:t>
          </a:r>
          <a:r>
            <a:rPr lang="el-GR" sz="2600" kern="1200" dirty="0">
              <a:solidFill>
                <a:schemeClr val="bg1"/>
              </a:solidFill>
              <a:latin typeface="Times New Roman" panose="02020603050405020304" pitchFamily="18" charset="0"/>
              <a:cs typeface="Times New Roman" panose="02020603050405020304" pitchFamily="18" charset="0"/>
            </a:rPr>
            <a:t>την πρόβλεψη ζήτησης μέσω ανάλυσης μεγάλων δεδομένων, να </a:t>
          </a:r>
          <a:r>
            <a:rPr lang="el-GR" sz="2600" kern="1200" dirty="0">
              <a:solidFill>
                <a:srgbClr val="FFFF00"/>
              </a:solidFill>
              <a:latin typeface="Times New Roman" panose="02020603050405020304" pitchFamily="18" charset="0"/>
              <a:cs typeface="Times New Roman" panose="02020603050405020304" pitchFamily="18" charset="0"/>
            </a:rPr>
            <a:t>ενισχύσει</a:t>
          </a:r>
          <a:r>
            <a:rPr lang="el-GR" sz="2600" kern="1200" dirty="0">
              <a:solidFill>
                <a:schemeClr val="tx1"/>
              </a:solidFill>
              <a:latin typeface="Times New Roman" panose="02020603050405020304" pitchFamily="18" charset="0"/>
              <a:cs typeface="Times New Roman" panose="02020603050405020304" pitchFamily="18" charset="0"/>
            </a:rPr>
            <a:t> </a:t>
          </a:r>
          <a:r>
            <a:rPr lang="el-GR" sz="2600" kern="1200" dirty="0">
              <a:solidFill>
                <a:schemeClr val="bg1"/>
              </a:solidFill>
              <a:latin typeface="Times New Roman" panose="02020603050405020304" pitchFamily="18" charset="0"/>
              <a:cs typeface="Times New Roman" panose="02020603050405020304" pitchFamily="18" charset="0"/>
            </a:rPr>
            <a:t>τη διαφάνεια με παρακολούθηση σε πραγματικό χρόνο και να </a:t>
          </a:r>
          <a:r>
            <a:rPr lang="el-GR" sz="2600" kern="1200" dirty="0">
              <a:solidFill>
                <a:srgbClr val="FFFF00"/>
              </a:solidFill>
              <a:latin typeface="Times New Roman" panose="02020603050405020304" pitchFamily="18" charset="0"/>
              <a:cs typeface="Times New Roman" panose="02020603050405020304" pitchFamily="18" charset="0"/>
            </a:rPr>
            <a:t>προωθήσει</a:t>
          </a:r>
          <a:r>
            <a:rPr lang="el-GR" sz="2600" kern="1200" dirty="0">
              <a:solidFill>
                <a:schemeClr val="tx1"/>
              </a:solidFill>
              <a:latin typeface="Times New Roman" panose="02020603050405020304" pitchFamily="18" charset="0"/>
              <a:cs typeface="Times New Roman" panose="02020603050405020304" pitchFamily="18" charset="0"/>
            </a:rPr>
            <a:t> </a:t>
          </a:r>
          <a:r>
            <a:rPr lang="el-GR" sz="2600" kern="1200" dirty="0">
              <a:solidFill>
                <a:schemeClr val="bg1"/>
              </a:solidFill>
              <a:latin typeface="Times New Roman" panose="02020603050405020304" pitchFamily="18" charset="0"/>
              <a:cs typeface="Times New Roman" panose="02020603050405020304" pitchFamily="18" charset="0"/>
            </a:rPr>
            <a:t>τη βιωσιμότητα μέσω έξυπνης διαχείρισης πόρων. </a:t>
          </a:r>
          <a:endParaRPr lang="en-US" sz="2600" kern="1200" dirty="0">
            <a:solidFill>
              <a:schemeClr val="bg1"/>
            </a:solidFill>
            <a:latin typeface="Times New Roman" panose="02020603050405020304" pitchFamily="18" charset="0"/>
            <a:cs typeface="Times New Roman" panose="02020603050405020304" pitchFamily="18" charset="0"/>
          </a:endParaRPr>
        </a:p>
      </dsp:txBody>
      <dsp:txXfrm>
        <a:off x="66824" y="348013"/>
        <a:ext cx="11894229" cy="1235252"/>
      </dsp:txXfrm>
    </dsp:sp>
    <dsp:sp modelId="{0DE7E824-F1A3-4D62-8585-FB430A618106}">
      <dsp:nvSpPr>
        <dsp:cNvPr id="0" name=""/>
        <dsp:cNvSpPr/>
      </dsp:nvSpPr>
      <dsp:spPr>
        <a:xfrm>
          <a:off x="0" y="1837289"/>
          <a:ext cx="12027877" cy="1368900"/>
        </a:xfrm>
        <a:prstGeom prst="roundRect">
          <a:avLst/>
        </a:prstGeom>
        <a:solidFill>
          <a:schemeClr val="accent1">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l-GR" sz="2600" kern="1200" dirty="0">
              <a:latin typeface="Times New Roman" panose="02020603050405020304" pitchFamily="18" charset="0"/>
              <a:cs typeface="Times New Roman" panose="02020603050405020304" pitchFamily="18" charset="0"/>
            </a:rPr>
            <a:t>Μπορεί να </a:t>
          </a:r>
          <a:r>
            <a:rPr lang="el-GR" sz="2600" kern="1200" dirty="0">
              <a:solidFill>
                <a:srgbClr val="FFFF00"/>
              </a:solidFill>
              <a:latin typeface="Times New Roman" panose="02020603050405020304" pitchFamily="18" charset="0"/>
              <a:cs typeface="Times New Roman" panose="02020603050405020304" pitchFamily="18" charset="0"/>
            </a:rPr>
            <a:t>αυτοματοποιήσει</a:t>
          </a:r>
          <a:r>
            <a:rPr lang="el-GR" sz="2600" kern="1200" dirty="0">
              <a:latin typeface="Times New Roman" panose="02020603050405020304" pitchFamily="18" charset="0"/>
              <a:cs typeface="Times New Roman" panose="02020603050405020304" pitchFamily="18" charset="0"/>
            </a:rPr>
            <a:t> τη διαχείριση αποθηκών, να </a:t>
          </a:r>
          <a:r>
            <a:rPr lang="el-GR" sz="2600" kern="1200" dirty="0">
              <a:solidFill>
                <a:srgbClr val="FFFF00"/>
              </a:solidFill>
              <a:latin typeface="Times New Roman" panose="02020603050405020304" pitchFamily="18" charset="0"/>
              <a:cs typeface="Times New Roman" panose="02020603050405020304" pitchFamily="18" charset="0"/>
            </a:rPr>
            <a:t>προβλέψει</a:t>
          </a:r>
          <a:r>
            <a:rPr lang="el-GR" sz="2600" kern="1200" dirty="0">
              <a:latin typeface="Times New Roman" panose="02020603050405020304" pitchFamily="18" charset="0"/>
              <a:cs typeface="Times New Roman" panose="02020603050405020304" pitchFamily="18" charset="0"/>
            </a:rPr>
            <a:t> πιθανές ελλείψεις υλικών και να ενισχύσει τη συνεργασία με προμηθευτές μέσω έξυπνων πλατφορμών. </a:t>
          </a:r>
          <a:endParaRPr lang="en-US" sz="2600" kern="1200" dirty="0">
            <a:latin typeface="Times New Roman" panose="02020603050405020304" pitchFamily="18" charset="0"/>
            <a:cs typeface="Times New Roman" panose="02020603050405020304" pitchFamily="18" charset="0"/>
          </a:endParaRPr>
        </a:p>
      </dsp:txBody>
      <dsp:txXfrm>
        <a:off x="66824" y="1904113"/>
        <a:ext cx="11894229" cy="1235252"/>
      </dsp:txXfrm>
    </dsp:sp>
    <dsp:sp modelId="{6AF34F7D-BF61-4B5B-8D3D-DE7F7B2EB988}">
      <dsp:nvSpPr>
        <dsp:cNvPr id="0" name=""/>
        <dsp:cNvSpPr/>
      </dsp:nvSpPr>
      <dsp:spPr>
        <a:xfrm>
          <a:off x="0" y="3477610"/>
          <a:ext cx="12027877" cy="1368900"/>
        </a:xfrm>
        <a:prstGeom prst="roundRect">
          <a:avLst/>
        </a:prstGeom>
        <a:solidFill>
          <a:schemeClr val="accent6">
            <a:lumMod val="75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n-US" sz="2600" kern="1200" dirty="0">
              <a:latin typeface="Times New Roman" panose="02020603050405020304" pitchFamily="18" charset="0"/>
              <a:cs typeface="Times New Roman" panose="02020603050405020304" pitchFamily="18" charset="0"/>
            </a:rPr>
            <a:t>H </a:t>
          </a:r>
          <a:r>
            <a:rPr lang="el-GR" sz="2600" kern="1200" dirty="0">
              <a:latin typeface="Times New Roman" panose="02020603050405020304" pitchFamily="18" charset="0"/>
              <a:cs typeface="Times New Roman" panose="02020603050405020304" pitchFamily="18" charset="0"/>
            </a:rPr>
            <a:t>ΤΝ όχι μόνο </a:t>
          </a:r>
          <a:r>
            <a:rPr lang="el-GR" sz="2600" kern="1200" dirty="0">
              <a:solidFill>
                <a:srgbClr val="FFFF00"/>
              </a:solidFill>
              <a:latin typeface="Times New Roman" panose="02020603050405020304" pitchFamily="18" charset="0"/>
              <a:cs typeface="Times New Roman" panose="02020603050405020304" pitchFamily="18" charset="0"/>
            </a:rPr>
            <a:t>αντιμετωπίζει</a:t>
          </a:r>
          <a:r>
            <a:rPr lang="el-GR" sz="2600" kern="1200" dirty="0">
              <a:latin typeface="Times New Roman" panose="02020603050405020304" pitchFamily="18" charset="0"/>
              <a:cs typeface="Times New Roman" panose="02020603050405020304" pitchFamily="18" charset="0"/>
            </a:rPr>
            <a:t> τις υπάρχουσες προκλήσεις αλλά μετατρέπει την εφοδιαστική αλυσίδα σε ένα πιο ανθεκτικό, </a:t>
          </a:r>
          <a:r>
            <a:rPr lang="el-GR" sz="2600" kern="1200" dirty="0">
              <a:solidFill>
                <a:srgbClr val="FFFF00"/>
              </a:solidFill>
              <a:latin typeface="Times New Roman" panose="02020603050405020304" pitchFamily="18" charset="0"/>
              <a:cs typeface="Times New Roman" panose="02020603050405020304" pitchFamily="18" charset="0"/>
            </a:rPr>
            <a:t>αποδοτικό</a:t>
          </a:r>
          <a:r>
            <a:rPr lang="el-GR" sz="2600" kern="1200" dirty="0">
              <a:latin typeface="Times New Roman" panose="02020603050405020304" pitchFamily="18" charset="0"/>
              <a:cs typeface="Times New Roman" panose="02020603050405020304" pitchFamily="18" charset="0"/>
            </a:rPr>
            <a:t> και </a:t>
          </a:r>
          <a:r>
            <a:rPr lang="el-GR" sz="2600" kern="1200" dirty="0">
              <a:solidFill>
                <a:srgbClr val="FFFF00"/>
              </a:solidFill>
              <a:latin typeface="Times New Roman" panose="02020603050405020304" pitchFamily="18" charset="0"/>
              <a:cs typeface="Times New Roman" panose="02020603050405020304" pitchFamily="18" charset="0"/>
            </a:rPr>
            <a:t>βιώσιμο</a:t>
          </a:r>
          <a:r>
            <a:rPr lang="el-GR" sz="2600" kern="1200" dirty="0">
              <a:latin typeface="Times New Roman" panose="02020603050405020304" pitchFamily="18" charset="0"/>
              <a:cs typeface="Times New Roman" panose="02020603050405020304" pitchFamily="18" charset="0"/>
            </a:rPr>
            <a:t> σύστημα, ικανό να ανταποκριθεί στις σύγχρονες απαιτήσεις.</a:t>
          </a:r>
          <a:endParaRPr lang="en-US" sz="2600" kern="1200" dirty="0">
            <a:latin typeface="Times New Roman" panose="02020603050405020304" pitchFamily="18" charset="0"/>
            <a:cs typeface="Times New Roman" panose="02020603050405020304" pitchFamily="18" charset="0"/>
          </a:endParaRPr>
        </a:p>
      </dsp:txBody>
      <dsp:txXfrm>
        <a:off x="66824" y="3544434"/>
        <a:ext cx="11894229" cy="12352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C14355-44DC-48E2-935C-1E4443F38750}">
      <dsp:nvSpPr>
        <dsp:cNvPr id="0" name=""/>
        <dsp:cNvSpPr/>
      </dsp:nvSpPr>
      <dsp:spPr>
        <a:xfrm>
          <a:off x="0" y="0"/>
          <a:ext cx="7962161" cy="176436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l-GR" sz="2600" kern="1200" dirty="0">
              <a:latin typeface="Times New Roman" panose="02020603050405020304" pitchFamily="18" charset="0"/>
              <a:cs typeface="Times New Roman" panose="02020603050405020304" pitchFamily="18" charset="0"/>
            </a:rPr>
            <a:t>Στη διαχείριση αποθηκών, ρομποτικά συστήματα με τεχνολογία όρασης υπολογιστών ταξινομούν και μετακινούν προϊόντα, </a:t>
          </a:r>
          <a:r>
            <a:rPr lang="el-GR" sz="2600" kern="1200" dirty="0">
              <a:solidFill>
                <a:srgbClr val="FFFF00"/>
              </a:solidFill>
              <a:latin typeface="Times New Roman" panose="02020603050405020304" pitchFamily="18" charset="0"/>
              <a:cs typeface="Times New Roman" panose="02020603050405020304" pitchFamily="18" charset="0"/>
            </a:rPr>
            <a:t>μειώνοντας</a:t>
          </a:r>
          <a:r>
            <a:rPr lang="el-GR" sz="2600" kern="1200" dirty="0">
              <a:latin typeface="Times New Roman" panose="02020603050405020304" pitchFamily="18" charset="0"/>
              <a:cs typeface="Times New Roman" panose="02020603050405020304" pitchFamily="18" charset="0"/>
            </a:rPr>
            <a:t> τον χρόνο επεξεργασίας. </a:t>
          </a:r>
          <a:endParaRPr lang="en-US" sz="2600" kern="1200" dirty="0">
            <a:latin typeface="Times New Roman" panose="02020603050405020304" pitchFamily="18" charset="0"/>
            <a:cs typeface="Times New Roman" panose="02020603050405020304" pitchFamily="18" charset="0"/>
          </a:endParaRPr>
        </a:p>
      </dsp:txBody>
      <dsp:txXfrm>
        <a:off x="86129" y="86129"/>
        <a:ext cx="7789903" cy="1592102"/>
      </dsp:txXfrm>
    </dsp:sp>
    <dsp:sp modelId="{DD3E289D-2101-498D-BF12-9EB1D8862AFA}">
      <dsp:nvSpPr>
        <dsp:cNvPr id="0" name=""/>
        <dsp:cNvSpPr/>
      </dsp:nvSpPr>
      <dsp:spPr>
        <a:xfrm>
          <a:off x="0" y="1966273"/>
          <a:ext cx="7962161" cy="176436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l-GR" sz="2600" kern="1200" dirty="0">
              <a:latin typeface="Times New Roman" panose="02020603050405020304" pitchFamily="18" charset="0"/>
              <a:cs typeface="Times New Roman" panose="02020603050405020304" pitchFamily="18" charset="0"/>
            </a:rPr>
            <a:t>Επιπλέον, χρησιμοποιείται για τη </a:t>
          </a:r>
          <a:r>
            <a:rPr lang="el-GR" sz="2600" kern="1200" dirty="0">
              <a:solidFill>
                <a:srgbClr val="FFFF00"/>
              </a:solidFill>
              <a:latin typeface="Times New Roman" panose="02020603050405020304" pitchFamily="18" charset="0"/>
              <a:cs typeface="Times New Roman" panose="02020603050405020304" pitchFamily="18" charset="0"/>
            </a:rPr>
            <a:t>βελτιστοποίηση</a:t>
          </a:r>
          <a:r>
            <a:rPr lang="el-GR" sz="2600" kern="1200" dirty="0">
              <a:latin typeface="Times New Roman" panose="02020603050405020304" pitchFamily="18" charset="0"/>
              <a:cs typeface="Times New Roman" panose="02020603050405020304" pitchFamily="18" charset="0"/>
            </a:rPr>
            <a:t> των </a:t>
          </a:r>
          <a:r>
            <a:rPr lang="el-GR" sz="2600" kern="1200" dirty="0">
              <a:solidFill>
                <a:srgbClr val="FFFF00"/>
              </a:solidFill>
              <a:latin typeface="Times New Roman" panose="02020603050405020304" pitchFamily="18" charset="0"/>
              <a:cs typeface="Times New Roman" panose="02020603050405020304" pitchFamily="18" charset="0"/>
            </a:rPr>
            <a:t>μεταφορών</a:t>
          </a:r>
          <a:r>
            <a:rPr lang="el-GR" sz="2600" kern="1200" dirty="0">
              <a:latin typeface="Times New Roman" panose="02020603050405020304" pitchFamily="18" charset="0"/>
              <a:cs typeface="Times New Roman" panose="02020603050405020304" pitchFamily="18" charset="0"/>
            </a:rPr>
            <a:t> μέσω αλγορίθμων που υπολογίζουν τις πιο αποδοτικές διαδρομές, λαμβάνοντας υπόψη παράγοντες όπως η κατανάλωση καυσίμων και οι χρόνοι παράδοσης.</a:t>
          </a:r>
          <a:endParaRPr lang="en-US" sz="2600" kern="1200" dirty="0">
            <a:latin typeface="Times New Roman" panose="02020603050405020304" pitchFamily="18" charset="0"/>
            <a:cs typeface="Times New Roman" panose="02020603050405020304" pitchFamily="18" charset="0"/>
          </a:endParaRPr>
        </a:p>
      </dsp:txBody>
      <dsp:txXfrm>
        <a:off x="86129" y="2052402"/>
        <a:ext cx="7789903" cy="1592102"/>
      </dsp:txXfrm>
    </dsp:sp>
    <dsp:sp modelId="{03F0B19A-D30A-4C2D-8D28-55DEDAEF1E3D}">
      <dsp:nvSpPr>
        <dsp:cNvPr id="0" name=""/>
        <dsp:cNvSpPr/>
      </dsp:nvSpPr>
      <dsp:spPr>
        <a:xfrm>
          <a:off x="0" y="3932547"/>
          <a:ext cx="7962161" cy="1764360"/>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just" defTabSz="1155700">
            <a:lnSpc>
              <a:spcPct val="90000"/>
            </a:lnSpc>
            <a:spcBef>
              <a:spcPct val="0"/>
            </a:spcBef>
            <a:spcAft>
              <a:spcPct val="35000"/>
            </a:spcAft>
            <a:buNone/>
          </a:pPr>
          <a:r>
            <a:rPr lang="el-GR" sz="2600" kern="1200" dirty="0">
              <a:latin typeface="Times New Roman" panose="02020603050405020304" pitchFamily="18" charset="0"/>
              <a:cs typeface="Times New Roman" panose="02020603050405020304" pitchFamily="18" charset="0"/>
            </a:rPr>
            <a:t>Εφαρμόζεται η επεξεργασία φυσικής γλώσσας (NLP) για την </a:t>
          </a:r>
          <a:r>
            <a:rPr lang="el-GR" sz="2600" kern="1200" dirty="0">
              <a:solidFill>
                <a:srgbClr val="FFFF00"/>
              </a:solidFill>
              <a:latin typeface="Times New Roman" panose="02020603050405020304" pitchFamily="18" charset="0"/>
              <a:cs typeface="Times New Roman" panose="02020603050405020304" pitchFamily="18" charset="0"/>
            </a:rPr>
            <a:t>αυτοματοποίηση</a:t>
          </a:r>
          <a:r>
            <a:rPr lang="el-GR" sz="2600" kern="1200" dirty="0">
              <a:latin typeface="Times New Roman" panose="02020603050405020304" pitchFamily="18" charset="0"/>
              <a:cs typeface="Times New Roman" panose="02020603050405020304" pitchFamily="18" charset="0"/>
            </a:rPr>
            <a:t> της επικοινωνίας με προμηθευτές, μέσω chatbot που διαχειρίζονται παραγγελίες και ερωτήσεις.</a:t>
          </a:r>
          <a:endParaRPr lang="en-US" sz="2600" kern="1200" dirty="0">
            <a:latin typeface="Times New Roman" panose="02020603050405020304" pitchFamily="18" charset="0"/>
            <a:cs typeface="Times New Roman" panose="02020603050405020304" pitchFamily="18" charset="0"/>
          </a:endParaRPr>
        </a:p>
      </dsp:txBody>
      <dsp:txXfrm>
        <a:off x="86129" y="4018676"/>
        <a:ext cx="7789903" cy="15921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C14355-44DC-48E2-935C-1E4443F38750}">
      <dsp:nvSpPr>
        <dsp:cNvPr id="0" name=""/>
        <dsp:cNvSpPr/>
      </dsp:nvSpPr>
      <dsp:spPr>
        <a:xfrm>
          <a:off x="0" y="16343"/>
          <a:ext cx="8134615" cy="2056640"/>
        </a:xfrm>
        <a:prstGeom prst="round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just" defTabSz="1111250">
            <a:lnSpc>
              <a:spcPct val="90000"/>
            </a:lnSpc>
            <a:spcBef>
              <a:spcPct val="0"/>
            </a:spcBef>
            <a:spcAft>
              <a:spcPct val="35000"/>
            </a:spcAft>
            <a:buNone/>
          </a:pPr>
          <a:r>
            <a:rPr lang="el-GR" sz="2500" kern="1200" dirty="0">
              <a:latin typeface="Times New Roman" panose="02020603050405020304" pitchFamily="18" charset="0"/>
              <a:cs typeface="Times New Roman" panose="02020603050405020304" pitchFamily="18" charset="0"/>
            </a:rPr>
            <a:t>Οι αλγόριθμοι ΤΝ μπορούν να </a:t>
          </a:r>
          <a:r>
            <a:rPr lang="el-GR" sz="2500" kern="1200" dirty="0">
              <a:solidFill>
                <a:srgbClr val="FFFF00"/>
              </a:solidFill>
              <a:latin typeface="Times New Roman" panose="02020603050405020304" pitchFamily="18" charset="0"/>
              <a:cs typeface="Times New Roman" panose="02020603050405020304" pitchFamily="18" charset="0"/>
            </a:rPr>
            <a:t>προτείνουν</a:t>
          </a:r>
          <a:r>
            <a:rPr lang="el-GR" sz="2500" kern="1200" dirty="0">
              <a:latin typeface="Times New Roman" panose="02020603050405020304" pitchFamily="18" charset="0"/>
              <a:cs typeface="Times New Roman" panose="02020603050405020304" pitchFamily="18" charset="0"/>
            </a:rPr>
            <a:t> εναλλακτικές πηγές προμήθειας ή να </a:t>
          </a:r>
          <a:r>
            <a:rPr lang="el-GR" sz="2500" kern="1200" dirty="0">
              <a:solidFill>
                <a:srgbClr val="FFFF00"/>
              </a:solidFill>
              <a:latin typeface="Times New Roman" panose="02020603050405020304" pitchFamily="18" charset="0"/>
              <a:cs typeface="Times New Roman" panose="02020603050405020304" pitchFamily="18" charset="0"/>
            </a:rPr>
            <a:t>αναδιατάξουν</a:t>
          </a:r>
          <a:r>
            <a:rPr lang="el-GR" sz="2500" kern="1200" dirty="0">
              <a:latin typeface="Times New Roman" panose="02020603050405020304" pitchFamily="18" charset="0"/>
              <a:cs typeface="Times New Roman" panose="02020603050405020304" pitchFamily="18" charset="0"/>
            </a:rPr>
            <a:t> προτεραιότητες παραγωγής, προλαμβάνοντας ελλείψεις. </a:t>
          </a:r>
          <a:endParaRPr lang="en-US" sz="2500" kern="1200" dirty="0">
            <a:latin typeface="Times New Roman" panose="02020603050405020304" pitchFamily="18" charset="0"/>
            <a:cs typeface="Times New Roman" panose="02020603050405020304" pitchFamily="18" charset="0"/>
          </a:endParaRPr>
        </a:p>
      </dsp:txBody>
      <dsp:txXfrm>
        <a:off x="100397" y="116740"/>
        <a:ext cx="7933821" cy="1855846"/>
      </dsp:txXfrm>
    </dsp:sp>
    <dsp:sp modelId="{DD3E289D-2101-498D-BF12-9EB1D8862AFA}">
      <dsp:nvSpPr>
        <dsp:cNvPr id="0" name=""/>
        <dsp:cNvSpPr/>
      </dsp:nvSpPr>
      <dsp:spPr>
        <a:xfrm>
          <a:off x="0" y="2144983"/>
          <a:ext cx="8134615" cy="2056640"/>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just" defTabSz="1200150">
            <a:lnSpc>
              <a:spcPct val="90000"/>
            </a:lnSpc>
            <a:spcBef>
              <a:spcPct val="0"/>
            </a:spcBef>
            <a:spcAft>
              <a:spcPct val="35000"/>
            </a:spcAft>
            <a:buNone/>
          </a:pPr>
          <a:r>
            <a:rPr lang="el-GR" sz="2700" kern="1200" dirty="0">
              <a:latin typeface="Times New Roman" panose="02020603050405020304" pitchFamily="18" charset="0"/>
              <a:cs typeface="Times New Roman" panose="02020603050405020304" pitchFamily="18" charset="0"/>
            </a:rPr>
            <a:t>Διευκολύνει την </a:t>
          </a:r>
          <a:r>
            <a:rPr lang="el-GR" sz="2700" kern="1200" dirty="0">
              <a:solidFill>
                <a:srgbClr val="FFFF00"/>
              </a:solidFill>
              <a:latin typeface="Times New Roman" panose="02020603050405020304" pitchFamily="18" charset="0"/>
              <a:cs typeface="Times New Roman" panose="02020603050405020304" pitchFamily="18" charset="0"/>
            </a:rPr>
            <a:t>εξατομίκευση</a:t>
          </a:r>
          <a:r>
            <a:rPr lang="el-GR" sz="2700" kern="1200" dirty="0">
              <a:latin typeface="Times New Roman" panose="02020603050405020304" pitchFamily="18" charset="0"/>
              <a:cs typeface="Times New Roman" panose="02020603050405020304" pitchFamily="18" charset="0"/>
            </a:rPr>
            <a:t> της εμπειρίας πελατών μέσω έξυπνων συστημάτων διαχείρισης παραγγελιών.</a:t>
          </a:r>
          <a:endParaRPr lang="en-US" sz="2700" kern="1200" dirty="0">
            <a:latin typeface="Times New Roman" panose="02020603050405020304" pitchFamily="18" charset="0"/>
            <a:cs typeface="Times New Roman" panose="02020603050405020304" pitchFamily="18" charset="0"/>
          </a:endParaRPr>
        </a:p>
      </dsp:txBody>
      <dsp:txXfrm>
        <a:off x="100397" y="2245380"/>
        <a:ext cx="7933821" cy="1855846"/>
      </dsp:txXfrm>
    </dsp:sp>
    <dsp:sp modelId="{03F0B19A-D30A-4C2D-8D28-55DEDAEF1E3D}">
      <dsp:nvSpPr>
        <dsp:cNvPr id="0" name=""/>
        <dsp:cNvSpPr/>
      </dsp:nvSpPr>
      <dsp:spPr>
        <a:xfrm>
          <a:off x="0" y="4273624"/>
          <a:ext cx="8134615" cy="2056640"/>
        </a:xfrm>
        <a:prstGeom prst="round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just" defTabSz="1111250">
            <a:lnSpc>
              <a:spcPct val="90000"/>
            </a:lnSpc>
            <a:spcBef>
              <a:spcPct val="0"/>
            </a:spcBef>
            <a:spcAft>
              <a:spcPct val="35000"/>
            </a:spcAft>
            <a:buNone/>
          </a:pPr>
          <a:r>
            <a:rPr lang="el-GR" sz="2500" kern="1200" dirty="0">
              <a:latin typeface="Times New Roman" panose="02020603050405020304" pitchFamily="18" charset="0"/>
              <a:cs typeface="Times New Roman" panose="02020603050405020304" pitchFamily="18" charset="0"/>
            </a:rPr>
            <a:t>Χρησιμοποιώντας τεχνολογίες ανάλυσης συμπεριφοράς, όπως η επεξεργασία δεδομένων από ιστορικό αγορών και προτιμήσεις πελατών, τα συστήματα ΤΝ </a:t>
          </a:r>
          <a:r>
            <a:rPr lang="el-GR" sz="2500" kern="1200" dirty="0">
              <a:solidFill>
                <a:srgbClr val="FFFF00"/>
              </a:solidFill>
              <a:latin typeface="Times New Roman" panose="02020603050405020304" pitchFamily="18" charset="0"/>
              <a:cs typeface="Times New Roman" panose="02020603050405020304" pitchFamily="18" charset="0"/>
            </a:rPr>
            <a:t>προσαρμόζουν</a:t>
          </a:r>
          <a:r>
            <a:rPr lang="el-GR" sz="2500" kern="1200" dirty="0">
              <a:latin typeface="Times New Roman" panose="02020603050405020304" pitchFamily="18" charset="0"/>
              <a:cs typeface="Times New Roman" panose="02020603050405020304" pitchFamily="18" charset="0"/>
            </a:rPr>
            <a:t> τις διαδικασίες παράδοσης ώστε να </a:t>
          </a:r>
          <a:r>
            <a:rPr lang="el-GR" sz="2500" kern="1200" dirty="0">
              <a:solidFill>
                <a:srgbClr val="FFFF00"/>
              </a:solidFill>
              <a:latin typeface="Times New Roman" panose="02020603050405020304" pitchFamily="18" charset="0"/>
              <a:cs typeface="Times New Roman" panose="02020603050405020304" pitchFamily="18" charset="0"/>
            </a:rPr>
            <a:t>ανταποκρίνονται</a:t>
          </a:r>
          <a:r>
            <a:rPr lang="el-GR" sz="2500" kern="1200" dirty="0">
              <a:latin typeface="Times New Roman" panose="02020603050405020304" pitchFamily="18" charset="0"/>
              <a:cs typeface="Times New Roman" panose="02020603050405020304" pitchFamily="18" charset="0"/>
            </a:rPr>
            <a:t> σε συγκεκριμένες ανάγκες.</a:t>
          </a:r>
          <a:endParaRPr lang="en-US" sz="2500" kern="1200" dirty="0">
            <a:latin typeface="Times New Roman" panose="02020603050405020304" pitchFamily="18" charset="0"/>
            <a:cs typeface="Times New Roman" panose="02020603050405020304" pitchFamily="18" charset="0"/>
          </a:endParaRPr>
        </a:p>
      </dsp:txBody>
      <dsp:txXfrm>
        <a:off x="100397" y="4374021"/>
        <a:ext cx="7933821" cy="18558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06D8A6-DEF7-4EEC-9FB7-2C835586FF4F}">
      <dsp:nvSpPr>
        <dsp:cNvPr id="0" name=""/>
        <dsp:cNvSpPr/>
      </dsp:nvSpPr>
      <dsp:spPr>
        <a:xfrm>
          <a:off x="10715" y="644515"/>
          <a:ext cx="3202780" cy="3980800"/>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l-GR" sz="2000" kern="1200"/>
            <a:t>Μια σημαντική κατεύθυνση για τη μελλοντική εξέλιξη της ΤΝ στην εφοδιαστική αλυσίδα είναι η ανάπτυξη αλγορίθμων που αξιοποιούν την τεχνολογία blockchain για την ενίσχυση της διαφάνειας και της ασφάλειας στις διαδικασίες. </a:t>
          </a:r>
          <a:endParaRPr lang="en-US" sz="2000" kern="1200"/>
        </a:p>
      </dsp:txBody>
      <dsp:txXfrm>
        <a:off x="104521" y="738321"/>
        <a:ext cx="3015168" cy="3793188"/>
      </dsp:txXfrm>
    </dsp:sp>
    <dsp:sp modelId="{6FE4FA89-7788-4FA6-91D7-6D994B133C1D}">
      <dsp:nvSpPr>
        <dsp:cNvPr id="0" name=""/>
        <dsp:cNvSpPr/>
      </dsp:nvSpPr>
      <dsp:spPr>
        <a:xfrm>
          <a:off x="3533774" y="2237771"/>
          <a:ext cx="678989" cy="794289"/>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711200">
            <a:lnSpc>
              <a:spcPct val="90000"/>
            </a:lnSpc>
            <a:spcBef>
              <a:spcPct val="0"/>
            </a:spcBef>
            <a:spcAft>
              <a:spcPct val="35000"/>
            </a:spcAft>
            <a:buNone/>
          </a:pPr>
          <a:endParaRPr lang="en-US" sz="1600" kern="1200"/>
        </a:p>
      </dsp:txBody>
      <dsp:txXfrm>
        <a:off x="3533774" y="2396629"/>
        <a:ext cx="475292" cy="476573"/>
      </dsp:txXfrm>
    </dsp:sp>
    <dsp:sp modelId="{350FDCB0-2B44-46B1-B683-A7579428ADC4}">
      <dsp:nvSpPr>
        <dsp:cNvPr id="0" name=""/>
        <dsp:cNvSpPr/>
      </dsp:nvSpPr>
      <dsp:spPr>
        <a:xfrm>
          <a:off x="4494609" y="644515"/>
          <a:ext cx="3202780" cy="3980800"/>
        </a:xfrm>
        <a:prstGeom prst="roundRect">
          <a:avLst>
            <a:gd name="adj" fmla="val 1000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l-GR" sz="2000" kern="1200" dirty="0"/>
            <a:t>Το blockchain, σε συνδυασμό με την ΤΝ, μπορεί να δημιουργήσει ένα αδιάβλητο σύστημα καταγραφής δεδομένων, επιτρέποντας την παρακολούθηση κάθε σταδίου της αλυσίδας—από την προμήθεια πρώτων υλών έως την παράδοση στον πελάτη—με απόλυτη διαφάνεια.</a:t>
          </a:r>
          <a:endParaRPr lang="en-US" sz="2000" kern="1200" dirty="0"/>
        </a:p>
      </dsp:txBody>
      <dsp:txXfrm>
        <a:off x="4588415" y="738321"/>
        <a:ext cx="3015168" cy="3793188"/>
      </dsp:txXfrm>
    </dsp:sp>
    <dsp:sp modelId="{65E73567-2FE9-4CD6-963E-72A7A7635FDF}">
      <dsp:nvSpPr>
        <dsp:cNvPr id="0" name=""/>
        <dsp:cNvSpPr/>
      </dsp:nvSpPr>
      <dsp:spPr>
        <a:xfrm>
          <a:off x="8017668" y="2237771"/>
          <a:ext cx="678989" cy="794289"/>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just" defTabSz="711200">
            <a:lnSpc>
              <a:spcPct val="90000"/>
            </a:lnSpc>
            <a:spcBef>
              <a:spcPct val="0"/>
            </a:spcBef>
            <a:spcAft>
              <a:spcPct val="35000"/>
            </a:spcAft>
            <a:buNone/>
          </a:pPr>
          <a:endParaRPr lang="en-US" sz="1600" kern="1200"/>
        </a:p>
      </dsp:txBody>
      <dsp:txXfrm>
        <a:off x="8017668" y="2396629"/>
        <a:ext cx="475292" cy="476573"/>
      </dsp:txXfrm>
    </dsp:sp>
    <dsp:sp modelId="{E27A70FD-FD9D-48F1-B413-80CFE3F774DD}">
      <dsp:nvSpPr>
        <dsp:cNvPr id="0" name=""/>
        <dsp:cNvSpPr/>
      </dsp:nvSpPr>
      <dsp:spPr>
        <a:xfrm>
          <a:off x="8978502" y="644515"/>
          <a:ext cx="3202780" cy="3980800"/>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l-GR" sz="2000" kern="1200"/>
            <a:t>Για παράδειγμα, η ΤΝ μπορεί να αναλύσει δεδομένα blockchain για να εντοπίσει περιπτώσεις απάτης, όπως αποκλίσεις στην προέλευση προϊόντων, ή να εξασφαλίσει τη συμμόρφωση με κανονισμούς βιωσιμότητας, όπως η χρήση υλικών από πιστοποιημένες πηγές.</a:t>
          </a:r>
          <a:endParaRPr lang="en-US" sz="2000" kern="1200"/>
        </a:p>
      </dsp:txBody>
      <dsp:txXfrm>
        <a:off x="9072308" y="738321"/>
        <a:ext cx="3015168" cy="379318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CFA0A-E0D3-4193-BEF4-58122BA1EDC6}">
      <dsp:nvSpPr>
        <dsp:cNvPr id="0" name=""/>
        <dsp:cNvSpPr/>
      </dsp:nvSpPr>
      <dsp:spPr>
        <a:xfrm>
          <a:off x="0" y="347"/>
          <a:ext cx="11224761" cy="1754314"/>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l-GR" sz="2400" kern="1200" dirty="0"/>
            <a:t>Η ΤΝ αναδεικνύεται ως ένα μετασχηματιστικό εργαλείο για τη διαχείριση της εφοδιαστικής αλυσίδας, προσφέροντας λύσεις που αντιμετωπίζουν αποτελεσματικά τις σύγχρονες προκλήσεις, όπως η πρόβλεψη ζήτησης, η βελτιστοποίηση των </a:t>
          </a:r>
          <a:r>
            <a:rPr lang="el-GR" sz="2400" kern="1200" dirty="0" err="1"/>
            <a:t>logistics</a:t>
          </a:r>
          <a:r>
            <a:rPr lang="el-GR" sz="2400" kern="1200" dirty="0"/>
            <a:t>, η διαχείριση κινδύνων και η ενίσχυση της βιωσιμότητας.</a:t>
          </a:r>
          <a:endParaRPr lang="en-US" sz="2400" kern="1200" dirty="0"/>
        </a:p>
      </dsp:txBody>
      <dsp:txXfrm>
        <a:off x="85639" y="85986"/>
        <a:ext cx="11053483" cy="1583036"/>
      </dsp:txXfrm>
    </dsp:sp>
    <dsp:sp modelId="{FB4A40FE-D0A2-4382-A1D0-BBB27BB8C784}">
      <dsp:nvSpPr>
        <dsp:cNvPr id="0" name=""/>
        <dsp:cNvSpPr/>
      </dsp:nvSpPr>
      <dsp:spPr>
        <a:xfrm>
          <a:off x="0" y="1766656"/>
          <a:ext cx="11224761" cy="1754314"/>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l-GR" sz="2400" kern="1200"/>
            <a:t>Η ανάλυση των σύγχρονων εργαλείων ΤΝ, όπως οι πλατφόρμες </a:t>
          </a:r>
          <a:r>
            <a:rPr lang="en-US" sz="2400" kern="1200"/>
            <a:t>Kinaxis</a:t>
          </a:r>
          <a:r>
            <a:rPr lang="el-GR" sz="2400" kern="1200"/>
            <a:t> RapidResponse, o9 </a:t>
          </a:r>
          <a:r>
            <a:rPr lang="en-US" sz="2400" kern="1200"/>
            <a:t>Solutions</a:t>
          </a:r>
          <a:r>
            <a:rPr lang="el-GR" sz="2400" kern="1200"/>
            <a:t> Digital </a:t>
          </a:r>
          <a:r>
            <a:rPr lang="en-US" sz="2400" kern="1200"/>
            <a:t>Brain</a:t>
          </a:r>
          <a:r>
            <a:rPr lang="el-GR" sz="2400" kern="1200"/>
            <a:t>, FourKites και </a:t>
          </a:r>
          <a:r>
            <a:rPr lang="en-US" sz="2400" kern="1200"/>
            <a:t>Blue Yonder</a:t>
          </a:r>
          <a:r>
            <a:rPr lang="el-GR" sz="2400" kern="1200"/>
            <a:t>, ανέδειξε την ικανότητά τους να παρέχουν ολιστικές λύσεις που καλύπτουν κάθε στάδιο της εφοδιαστικής αλυσίδας, από τον σχεδιασμό και την παραγωγή έως την παράδοση και τη διαχείριση επιστροφών.</a:t>
          </a:r>
          <a:endParaRPr lang="en-US" sz="2400" kern="1200"/>
        </a:p>
      </dsp:txBody>
      <dsp:txXfrm>
        <a:off x="85639" y="1852295"/>
        <a:ext cx="11053483" cy="1583036"/>
      </dsp:txXfrm>
    </dsp:sp>
    <dsp:sp modelId="{FCD08A96-748E-401D-80EF-B9718A18204F}">
      <dsp:nvSpPr>
        <dsp:cNvPr id="0" name=""/>
        <dsp:cNvSpPr/>
      </dsp:nvSpPr>
      <dsp:spPr>
        <a:xfrm>
          <a:off x="0" y="3532966"/>
          <a:ext cx="11224761" cy="1754314"/>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l-GR" sz="2400" kern="1200"/>
            <a:t>Οι πρακτικές εφαρμογές που παρουσιάστηκαν, όπως η περίπτωση της DHL με το Resilience360, της </a:t>
          </a:r>
          <a:r>
            <a:rPr lang="en-US" sz="2400" kern="1200"/>
            <a:t>Walmart</a:t>
          </a:r>
          <a:r>
            <a:rPr lang="el-GR" sz="2400" kern="1200"/>
            <a:t> στη διαχείριση αποβλήτων και της UPS με το ORION, επιβεβαιώνουν την αξία της ΤΝ σε πραγματικές συνθήκες</a:t>
          </a:r>
          <a:endParaRPr lang="en-US" sz="2400" kern="1200"/>
        </a:p>
      </dsp:txBody>
      <dsp:txXfrm>
        <a:off x="85639" y="3618605"/>
        <a:ext cx="11053483" cy="158303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0E84E1-0044-442F-B663-9197D9C88CE5}">
      <dsp:nvSpPr>
        <dsp:cNvPr id="0" name=""/>
        <dsp:cNvSpPr/>
      </dsp:nvSpPr>
      <dsp:spPr>
        <a:xfrm>
          <a:off x="0" y="30923"/>
          <a:ext cx="11309683" cy="14274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l-GR" sz="2000" kern="1200" dirty="0"/>
            <a:t>Ωστόσο, η υιοθέτηση της ΤΝ δεν είναι χωρίς προκλήσεις. Η υψηλή αρχική επένδυση για την ενσωμάτωση προηγμένων συστημάτων, όπως αυτά της </a:t>
          </a:r>
          <a:r>
            <a:rPr lang="en-MY" sz="2000" kern="1200" dirty="0"/>
            <a:t>Blue Yonder</a:t>
          </a:r>
          <a:r>
            <a:rPr lang="el-GR" sz="2000" kern="1200" dirty="0"/>
            <a:t> ή της </a:t>
          </a:r>
          <a:r>
            <a:rPr lang="en-MY" sz="2000" kern="1200" dirty="0"/>
            <a:t>Kinaxis</a:t>
          </a:r>
          <a:r>
            <a:rPr lang="el-GR" sz="2000" kern="1200" dirty="0"/>
            <a:t>, καθώς και η ανάγκη για εκπαίδευση του προσωπικού, αποτελούν σημαντικά εμπόδια, ιδιαίτερα για μικρότερες επιχειρήσεις.</a:t>
          </a:r>
          <a:endParaRPr lang="en-US" sz="2000" kern="1200" dirty="0"/>
        </a:p>
      </dsp:txBody>
      <dsp:txXfrm>
        <a:off x="69680" y="100603"/>
        <a:ext cx="11170323" cy="1288040"/>
      </dsp:txXfrm>
    </dsp:sp>
    <dsp:sp modelId="{EFEAC82D-4825-4F5A-A793-1D58D5D9DEC3}">
      <dsp:nvSpPr>
        <dsp:cNvPr id="0" name=""/>
        <dsp:cNvSpPr/>
      </dsp:nvSpPr>
      <dsp:spPr>
        <a:xfrm>
          <a:off x="0" y="1515924"/>
          <a:ext cx="11309683" cy="142740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l-GR" sz="2000" kern="1200" dirty="0"/>
            <a:t>Η διαφάνεια και η ηθική διαχείριση των δεδομένων είναι απαραίτητες για να διασφαλιστεί ότι η ΤΝ εξυπηρετεί τα συμφέροντα όλων των εμπλεκομένων, από τους προμηθευτές έως τους καταναλωτές.</a:t>
          </a:r>
          <a:endParaRPr lang="en-US" sz="2000" kern="1200" dirty="0"/>
        </a:p>
      </dsp:txBody>
      <dsp:txXfrm>
        <a:off x="69680" y="1585604"/>
        <a:ext cx="11170323" cy="1288040"/>
      </dsp:txXfrm>
    </dsp:sp>
    <dsp:sp modelId="{6B39D2FF-DD23-4FC8-882B-451539B3B4FF}">
      <dsp:nvSpPr>
        <dsp:cNvPr id="0" name=""/>
        <dsp:cNvSpPr/>
      </dsp:nvSpPr>
      <dsp:spPr>
        <a:xfrm>
          <a:off x="0" y="3000923"/>
          <a:ext cx="11309683" cy="14274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l-GR" sz="2000" kern="1200" dirty="0"/>
            <a:t>Η συνδυαστική χρήση ΤΝ και blockchain ανοίγει νέες προοπτικές για το μέλλον. Η δυνατότητα της ΤΝ να αναλύει δεδομένα blockchain για την ανίχνευση ανωμαλιών και την επαλήθευση της αυθεντικότητας προϊόντων.</a:t>
          </a:r>
          <a:endParaRPr lang="en-US" sz="2000" kern="1200" dirty="0"/>
        </a:p>
      </dsp:txBody>
      <dsp:txXfrm>
        <a:off x="69680" y="3070603"/>
        <a:ext cx="11170323" cy="128804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l-GR"/>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883C18-848C-468A-ABC6-26FECC32A247}" type="datetimeFigureOut">
              <a:rPr lang="el-GR" smtClean="0"/>
              <a:t>5/11/2025</a:t>
            </a:fld>
            <a:endParaRPr lang="el-GR"/>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l-GR"/>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l-GR"/>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D147F4-572F-4C38-B63E-6DFA53597243}" type="slidenum">
              <a:rPr lang="el-GR" smtClean="0"/>
              <a:t>‹#›</a:t>
            </a:fld>
            <a:endParaRPr lang="el-GR"/>
          </a:p>
        </p:txBody>
      </p:sp>
    </p:spTree>
    <p:extLst>
      <p:ext uri="{BB962C8B-B14F-4D97-AF65-F5344CB8AC3E}">
        <p14:creationId xmlns:p14="http://schemas.microsoft.com/office/powerpoint/2010/main" val="3989671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192A57A-F0AD-461B-B8A1-46567B2C0173}" type="slidenum">
              <a:rPr kumimoji="0" lang="el-GR"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l-GR"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688415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marL="0" marR="0" lvl="0" indent="0" algn="just" defTabSz="914400" rtl="0" eaLnBrk="1" fontAlgn="auto" latinLnBrk="0" hangingPunct="1">
              <a:lnSpc>
                <a:spcPct val="150000"/>
              </a:lnSpc>
              <a:spcBef>
                <a:spcPts val="0"/>
              </a:spcBef>
              <a:spcAft>
                <a:spcPts val="0"/>
              </a:spcAft>
              <a:buClrTx/>
              <a:buSzTx/>
              <a:buFontTx/>
              <a:buNone/>
              <a:tabLst/>
              <a:defRPr/>
            </a:pPr>
            <a:r>
              <a:rPr lang="el-GR" sz="1050" b="1" dirty="0">
                <a:latin typeface="Times New Roman" panose="02020603050405020304" pitchFamily="18" charset="0"/>
                <a:cs typeface="Times New Roman" panose="02020603050405020304" pitchFamily="18" charset="0"/>
              </a:rPr>
              <a:t>Προσθήκη 1</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 …..</a:t>
            </a:r>
            <a:r>
              <a:rPr lang="el-GR" sz="1050" dirty="0">
                <a:solidFill>
                  <a:schemeClr val="bg1"/>
                </a:solidFill>
                <a:latin typeface="Times New Roman" panose="02020603050405020304" pitchFamily="18" charset="0"/>
                <a:cs typeface="Times New Roman" panose="02020603050405020304" pitchFamily="18" charset="0"/>
              </a:rPr>
              <a:t>ιδιαίτερα αυτές που βασίζονται σε διεθνείς μεταφορές</a:t>
            </a:r>
            <a:endParaRPr lang="el-GR" sz="1050" b="1" dirty="0">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50000"/>
              </a:lnSpc>
              <a:spcBef>
                <a:spcPts val="0"/>
              </a:spcBef>
              <a:spcAft>
                <a:spcPts val="0"/>
              </a:spcAft>
              <a:buClrTx/>
              <a:buSzTx/>
              <a:buFontTx/>
              <a:buNone/>
              <a:tabLst/>
              <a:defRPr/>
            </a:pPr>
            <a:r>
              <a:rPr lang="el-GR" sz="1050" b="1" dirty="0">
                <a:latin typeface="Times New Roman" panose="02020603050405020304" pitchFamily="18" charset="0"/>
                <a:cs typeface="Times New Roman" panose="02020603050405020304" pitchFamily="18" charset="0"/>
              </a:rPr>
              <a:t>Προσθήκη 2</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 </a:t>
            </a:r>
            <a:r>
              <a:rPr lang="el-GR" sz="1050" dirty="0">
                <a:latin typeface="Times New Roman" panose="02020603050405020304" pitchFamily="18" charset="0"/>
                <a:cs typeface="Times New Roman" panose="02020603050405020304" pitchFamily="18" charset="0"/>
              </a:rPr>
              <a:t>Η κατακερματισμένη φύση πολλών εφοδιαστικών αλυσίδων, ιδιαίτερα σε διεθνές επίπεδο, δυσχεραίνει την ανταλλαγή δεδομένων σε πραγματικό χρόνο, οδηγώντας σε σφάλματα, καθυστερήσεις και κρυφές αναποτελεσματικότητες</a:t>
            </a:r>
          </a:p>
          <a:p>
            <a:pPr algn="just">
              <a:lnSpc>
                <a:spcPct val="150000"/>
              </a:lnSpc>
            </a:pP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3</a:t>
            </a:fld>
            <a:endParaRPr lang="el-GR"/>
          </a:p>
        </p:txBody>
      </p:sp>
    </p:spTree>
    <p:extLst>
      <p:ext uri="{BB962C8B-B14F-4D97-AF65-F5344CB8AC3E}">
        <p14:creationId xmlns:p14="http://schemas.microsoft.com/office/powerpoint/2010/main" val="27735054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D2364-6BDA-CCD8-4B11-BE7F2A4B0E5F}"/>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C882763F-8814-B515-690A-0112094EA82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68C52FDA-7B9D-ADE0-6674-C1EFBC9403EC}"/>
              </a:ext>
            </a:extLst>
          </p:cNvPr>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marL="0" marR="0" lvl="0" indent="0" algn="just" defTabSz="914400" rtl="0" eaLnBrk="1" fontAlgn="auto" latinLnBrk="0" hangingPunct="1">
              <a:lnSpc>
                <a:spcPct val="100000"/>
              </a:lnSpc>
              <a:spcBef>
                <a:spcPts val="200"/>
              </a:spcBef>
              <a:spcAft>
                <a:spcPts val="0"/>
              </a:spcAft>
              <a:buClrTx/>
              <a:buSzTx/>
              <a:buFontTx/>
              <a:buNone/>
              <a:tabLst/>
              <a:defRPr/>
            </a:pPr>
            <a:r>
              <a:rPr lang="el-GR" sz="1800" dirty="0">
                <a:effectLst/>
                <a:latin typeface="Times New Roman" panose="02020603050405020304" pitchFamily="18" charset="0"/>
                <a:ea typeface="Times New Roman" panose="02020603050405020304" pitchFamily="18" charset="0"/>
              </a:rPr>
              <a:t>Η Εικόνα παρουσιάζει το </a:t>
            </a:r>
            <a:r>
              <a:rPr lang="en-US" sz="1800" dirty="0">
                <a:effectLst/>
                <a:latin typeface="Times New Roman" panose="02020603050405020304" pitchFamily="18" charset="0"/>
                <a:ea typeface="Times New Roman" panose="02020603050405020304" pitchFamily="18" charset="0"/>
              </a:rPr>
              <a:t>Gartner</a:t>
            </a:r>
            <a:r>
              <a:rPr lang="el-GR" sz="1800" dirty="0">
                <a:effectLst/>
                <a:latin typeface="Times New Roman" panose="02020603050405020304" pitchFamily="18" charset="0"/>
                <a:ea typeface="Times New Roman" panose="02020603050405020304" pitchFamily="18" charset="0"/>
              </a:rPr>
              <a:t> Magic </a:t>
            </a:r>
            <a:r>
              <a:rPr lang="en-US" sz="1800" dirty="0">
                <a:effectLst/>
                <a:latin typeface="Times New Roman" panose="02020603050405020304" pitchFamily="18" charset="0"/>
                <a:ea typeface="Times New Roman" panose="02020603050405020304" pitchFamily="18" charset="0"/>
              </a:rPr>
              <a:t>Quadrant</a:t>
            </a:r>
            <a:r>
              <a:rPr lang="el-GR" sz="1800" dirty="0">
                <a:effectLst/>
                <a:latin typeface="Times New Roman" panose="02020603050405020304" pitchFamily="18" charset="0"/>
                <a:ea typeface="Times New Roman" panose="02020603050405020304" pitchFamily="18" charset="0"/>
              </a:rPr>
              <a:t> για </a:t>
            </a:r>
            <a:r>
              <a:rPr lang="en-US" sz="1800" dirty="0">
                <a:effectLst/>
                <a:latin typeface="Times New Roman" panose="02020603050405020304" pitchFamily="18" charset="0"/>
                <a:ea typeface="Times New Roman" panose="02020603050405020304" pitchFamily="18" charset="0"/>
              </a:rPr>
              <a:t>Supply Chain Planning Solutions</a:t>
            </a:r>
            <a:r>
              <a:rPr lang="el-GR" sz="1800" dirty="0">
                <a:effectLst/>
                <a:latin typeface="Times New Roman" panose="02020603050405020304" pitchFamily="18" charset="0"/>
                <a:ea typeface="Times New Roman" panose="02020603050405020304" pitchFamily="18" charset="0"/>
              </a:rPr>
              <a:t> του 202</a:t>
            </a:r>
            <a:r>
              <a:rPr lang="en-US" sz="1800" dirty="0">
                <a:effectLst/>
                <a:latin typeface="Times New Roman" panose="02020603050405020304" pitchFamily="18" charset="0"/>
                <a:ea typeface="Times New Roman" panose="02020603050405020304" pitchFamily="18" charset="0"/>
              </a:rPr>
              <a:t>4</a:t>
            </a:r>
            <a:r>
              <a:rPr lang="el-GR" sz="1800" dirty="0">
                <a:effectLst/>
                <a:latin typeface="Times New Roman" panose="02020603050405020304" pitchFamily="18" charset="0"/>
                <a:ea typeface="Times New Roman" panose="02020603050405020304" pitchFamily="18" charset="0"/>
              </a:rPr>
              <a:t>, όπου η </a:t>
            </a:r>
            <a:r>
              <a:rPr lang="en-US" sz="1800" dirty="0">
                <a:effectLst/>
                <a:latin typeface="Times New Roman" panose="02020603050405020304" pitchFamily="18" charset="0"/>
                <a:ea typeface="Times New Roman" panose="02020603050405020304" pitchFamily="18" charset="0"/>
              </a:rPr>
              <a:t>Kinaxis</a:t>
            </a:r>
            <a:r>
              <a:rPr lang="el-GR" sz="1800" dirty="0">
                <a:effectLst/>
                <a:latin typeface="Times New Roman" panose="02020603050405020304" pitchFamily="18" charset="0"/>
                <a:ea typeface="Times New Roman" panose="02020603050405020304" pitchFamily="18" charset="0"/>
              </a:rPr>
              <a:t> κατατάσσεται ως </a:t>
            </a:r>
            <a:r>
              <a:rPr lang="en-US" sz="1800" dirty="0">
                <a:effectLst/>
                <a:latin typeface="Times New Roman" panose="02020603050405020304" pitchFamily="18" charset="0"/>
                <a:ea typeface="Times New Roman" panose="02020603050405020304" pitchFamily="18" charset="0"/>
              </a:rPr>
              <a:t>Leader</a:t>
            </a:r>
            <a:r>
              <a:rPr lang="el-GR" sz="1800" dirty="0">
                <a:effectLst/>
                <a:latin typeface="Times New Roman" panose="02020603050405020304" pitchFamily="18" charset="0"/>
                <a:ea typeface="Times New Roman" panose="02020603050405020304" pitchFamily="18" charset="0"/>
              </a:rPr>
              <a:t>, με υψηλή ικανότητα εκτέλεσης και πληρότητα οράματος. Η πλατφόρμα RapidResponse® της </a:t>
            </a:r>
            <a:r>
              <a:rPr lang="en-US" sz="1800" dirty="0">
                <a:effectLst/>
                <a:latin typeface="Times New Roman" panose="02020603050405020304" pitchFamily="18" charset="0"/>
                <a:ea typeface="Times New Roman" panose="02020603050405020304" pitchFamily="18" charset="0"/>
              </a:rPr>
              <a:t>Kinaxis</a:t>
            </a:r>
            <a:r>
              <a:rPr lang="el-GR" sz="1800" dirty="0">
                <a:effectLst/>
                <a:latin typeface="Times New Roman" panose="02020603050405020304" pitchFamily="18" charset="0"/>
                <a:ea typeface="Times New Roman" panose="02020603050405020304" pitchFamily="18" charset="0"/>
              </a:rPr>
              <a:t> χρησιμοποιεί AI για ανάλυση δεδομένων σε πραγματικό χρόνο, προσομοιώσεις και έξυπνο προγραμματισμό, μειώνοντας απόβλητα και βελτιώνοντας τη βιωσιμότητα στην εφοδιαστική αλυσίδα</a:t>
            </a:r>
            <a:r>
              <a:rPr lang="el-GR" sz="1400" dirty="0">
                <a:effectLst/>
              </a:rPr>
              <a:t> </a:t>
            </a:r>
            <a:r>
              <a:rPr lang="el-GR" sz="1800" dirty="0">
                <a:effectLst/>
                <a:latin typeface="Times New Roman" panose="02020603050405020304" pitchFamily="18" charset="0"/>
                <a:ea typeface="Times New Roman" panose="02020603050405020304" pitchFamily="18" charset="0"/>
              </a:rPr>
              <a:t>Διάγραμμα αξιολόγησης της </a:t>
            </a:r>
            <a:r>
              <a:rPr lang="en-US" sz="1800" dirty="0">
                <a:effectLst/>
                <a:latin typeface="Times New Roman" panose="02020603050405020304" pitchFamily="18" charset="0"/>
                <a:ea typeface="Times New Roman" panose="02020603050405020304" pitchFamily="18" charset="0"/>
              </a:rPr>
              <a:t>Gartner</a:t>
            </a:r>
            <a:r>
              <a:rPr lang="el-GR" sz="1800" dirty="0">
                <a:effectLst/>
                <a:latin typeface="Times New Roman" panose="02020603050405020304" pitchFamily="18" charset="0"/>
                <a:ea typeface="Times New Roman" panose="02020603050405020304" pitchFamily="18" charset="0"/>
              </a:rPr>
              <a:t> που κατατάσσει εταιρείες στον τομέα του προγραμματισμού εφοδιαστικής αλυσίδας. Βασίζεται σε δύο άξονες: την πληρότητα οράματος (</a:t>
            </a:r>
            <a:r>
              <a:rPr lang="en-US" sz="1800" dirty="0">
                <a:effectLst/>
                <a:latin typeface="Times New Roman" panose="02020603050405020304" pitchFamily="18" charset="0"/>
                <a:ea typeface="Times New Roman" panose="02020603050405020304" pitchFamily="18" charset="0"/>
              </a:rPr>
              <a:t>vision</a:t>
            </a:r>
            <a:r>
              <a:rPr lang="el-GR" sz="1800" dirty="0">
                <a:effectLst/>
                <a:latin typeface="Times New Roman" panose="02020603050405020304" pitchFamily="18" charset="0"/>
                <a:ea typeface="Times New Roman" panose="02020603050405020304" pitchFamily="18" charset="0"/>
              </a:rPr>
              <a:t>) και την ικανότητα εκτέλεσης (</a:t>
            </a:r>
            <a:r>
              <a:rPr lang="en-US" sz="1800" dirty="0">
                <a:effectLst/>
                <a:latin typeface="Times New Roman" panose="02020603050405020304" pitchFamily="18" charset="0"/>
                <a:ea typeface="Times New Roman" panose="02020603050405020304" pitchFamily="18" charset="0"/>
              </a:rPr>
              <a:t>execution</a:t>
            </a:r>
            <a:r>
              <a:rPr lang="el-GR" sz="1800" dirty="0">
                <a:effectLst/>
                <a:latin typeface="Times New Roman" panose="02020603050405020304" pitchFamily="18" charset="0"/>
                <a:ea typeface="Times New Roman" panose="02020603050405020304" pitchFamily="18" charset="0"/>
              </a:rPr>
              <a:t>)</a:t>
            </a:r>
            <a:r>
              <a:rPr lang="en-US" sz="1800" dirty="0">
                <a:effectLst/>
                <a:latin typeface="Times New Roman" panose="02020603050405020304" pitchFamily="18" charset="0"/>
                <a:ea typeface="Times New Roman" panose="02020603050405020304" pitchFamily="18" charset="0"/>
              </a:rPr>
              <a:t>. H Gartner </a:t>
            </a:r>
            <a:r>
              <a:rPr lang="el-GR" sz="1800" dirty="0">
                <a:effectLst/>
                <a:latin typeface="Times New Roman" panose="02020603050405020304" pitchFamily="18" charset="0"/>
                <a:ea typeface="Times New Roman" panose="02020603050405020304" pitchFamily="18" charset="0"/>
              </a:rPr>
              <a:t>είναι μια εταιρεία έρευνας και συμβουλευτικής στον τομέα της τεχνολογίας, με σκοπό την παροχή αναλύσεων, εκθέσεων και εργαλείων αξιολόγησης, όπως το </a:t>
            </a:r>
            <a:r>
              <a:rPr lang="en-US" sz="1800" dirty="0">
                <a:effectLst/>
                <a:latin typeface="Times New Roman" panose="02020603050405020304" pitchFamily="18" charset="0"/>
                <a:ea typeface="Times New Roman" panose="02020603050405020304" pitchFamily="18" charset="0"/>
              </a:rPr>
              <a:t>Gartner</a:t>
            </a:r>
            <a:r>
              <a:rPr lang="el-GR" sz="1800" dirty="0">
                <a:effectLst/>
                <a:latin typeface="Times New Roman" panose="02020603050405020304" pitchFamily="18" charset="0"/>
                <a:ea typeface="Times New Roman" panose="02020603050405020304" pitchFamily="18" charset="0"/>
              </a:rPr>
              <a:t> Magic </a:t>
            </a:r>
            <a:r>
              <a:rPr lang="en-US" sz="1800" dirty="0">
                <a:effectLst/>
                <a:latin typeface="Times New Roman" panose="02020603050405020304" pitchFamily="18" charset="0"/>
                <a:ea typeface="Times New Roman" panose="02020603050405020304" pitchFamily="18" charset="0"/>
              </a:rPr>
              <a:t>Quadrant</a:t>
            </a:r>
            <a:r>
              <a:rPr lang="el-GR" sz="1800" dirty="0">
                <a:effectLst/>
                <a:latin typeface="Times New Roman" panose="02020603050405020304" pitchFamily="18" charset="0"/>
                <a:ea typeface="Times New Roman" panose="02020603050405020304" pitchFamily="18" charset="0"/>
              </a:rPr>
              <a:t>, για να βοηθήσει επιχειρήσεις να λαμβάνουν τεκμηριωμένες αποφάσεις σχετικά με τεχνολογίες, λογισμικά και στρατηγικές.</a:t>
            </a:r>
          </a:p>
          <a:p>
            <a:pPr algn="just">
              <a:spcBef>
                <a:spcPts val="200"/>
              </a:spcBef>
            </a:pPr>
            <a:r>
              <a:rPr lang="el-GR" sz="1050" dirty="0">
                <a:effectLst/>
                <a:latin typeface="Times New Roman" panose="02020603050405020304" pitchFamily="18" charset="0"/>
                <a:ea typeface="Times New Roman" panose="02020603050405020304" pitchFamily="18" charset="0"/>
              </a:rPr>
              <a:t>Η αναγνώριση της </a:t>
            </a:r>
            <a:r>
              <a:rPr lang="en-US" sz="1050" dirty="0">
                <a:effectLst/>
                <a:latin typeface="Times New Roman" panose="02020603050405020304" pitchFamily="18" charset="0"/>
                <a:ea typeface="Times New Roman" panose="02020603050405020304" pitchFamily="18" charset="0"/>
              </a:rPr>
              <a:t>Kinaxis</a:t>
            </a:r>
            <a:r>
              <a:rPr lang="el-GR" sz="1050" dirty="0">
                <a:effectLst/>
                <a:latin typeface="Times New Roman" panose="02020603050405020304" pitchFamily="18" charset="0"/>
                <a:ea typeface="Times New Roman" panose="02020603050405020304" pitchFamily="18" charset="0"/>
              </a:rPr>
              <a:t> ως 2024 </a:t>
            </a:r>
            <a:r>
              <a:rPr lang="en-US" sz="1050" dirty="0">
                <a:effectLst/>
                <a:latin typeface="Times New Roman" panose="02020603050405020304" pitchFamily="18" charset="0"/>
                <a:ea typeface="Times New Roman" panose="02020603050405020304" pitchFamily="18" charset="0"/>
              </a:rPr>
              <a:t>Customers’ Choice</a:t>
            </a:r>
            <a:r>
              <a:rPr lang="el-GR" sz="1050" dirty="0">
                <a:effectLst/>
                <a:latin typeface="Times New Roman" panose="02020603050405020304" pitchFamily="18" charset="0"/>
                <a:ea typeface="Times New Roman" panose="02020603050405020304" pitchFamily="18" charset="0"/>
              </a:rPr>
              <a:t> υπογραμμίζει την αξιοπιστία της. Η λύση της </a:t>
            </a:r>
            <a:r>
              <a:rPr lang="en-US" sz="1050" dirty="0">
                <a:effectLst/>
                <a:latin typeface="Times New Roman" panose="02020603050405020304" pitchFamily="18" charset="0"/>
                <a:ea typeface="Times New Roman" panose="02020603050405020304" pitchFamily="18" charset="0"/>
              </a:rPr>
              <a:t>Kinaxis</a:t>
            </a:r>
            <a:r>
              <a:rPr lang="el-GR" sz="1050" dirty="0">
                <a:effectLst/>
                <a:latin typeface="Times New Roman" panose="02020603050405020304" pitchFamily="18" charset="0"/>
                <a:ea typeface="Times New Roman" panose="02020603050405020304" pitchFamily="18" charset="0"/>
              </a:rPr>
              <a:t> συνδέεται με τη χρήση AI για τη διαχείριση δεδομένων, την ενεργειακή αποδοτικότητα και τη μείωση αποβλήτων, παρόμοια με την περίπτωση της </a:t>
            </a:r>
            <a:r>
              <a:rPr lang="en-US" sz="1050" dirty="0">
                <a:effectLst/>
                <a:latin typeface="Times New Roman" panose="02020603050405020304" pitchFamily="18" charset="0"/>
                <a:ea typeface="Times New Roman" panose="02020603050405020304" pitchFamily="18" charset="0"/>
              </a:rPr>
              <a:t>Walmart</a:t>
            </a:r>
            <a:r>
              <a:rPr lang="el-GR" sz="1050" dirty="0">
                <a:effectLst/>
                <a:latin typeface="Times New Roman" panose="02020603050405020304" pitchFamily="18" charset="0"/>
                <a:ea typeface="Times New Roman" panose="02020603050405020304" pitchFamily="18" charset="0"/>
              </a:rPr>
              <a:t>. </a:t>
            </a:r>
          </a:p>
          <a:p>
            <a:pPr algn="just">
              <a:spcBef>
                <a:spcPts val="200"/>
              </a:spcBef>
            </a:pPr>
            <a:r>
              <a:rPr lang="el-GR" sz="1050" dirty="0">
                <a:effectLst/>
                <a:latin typeface="Times New Roman" panose="02020603050405020304" pitchFamily="18" charset="0"/>
                <a:ea typeface="Times New Roman" panose="02020603050405020304" pitchFamily="18" charset="0"/>
              </a:rPr>
              <a:t>Η AI της </a:t>
            </a:r>
            <a:r>
              <a:rPr lang="en-US" sz="1050" dirty="0">
                <a:effectLst/>
                <a:latin typeface="Times New Roman" panose="02020603050405020304" pitchFamily="18" charset="0"/>
                <a:ea typeface="Times New Roman" panose="02020603050405020304" pitchFamily="18" charset="0"/>
              </a:rPr>
              <a:t>Kinaxis</a:t>
            </a:r>
            <a:r>
              <a:rPr lang="el-GR" sz="1050" dirty="0">
                <a:effectLst/>
                <a:latin typeface="Times New Roman" panose="02020603050405020304" pitchFamily="18" charset="0"/>
                <a:ea typeface="Times New Roman" panose="02020603050405020304" pitchFamily="18" charset="0"/>
              </a:rPr>
              <a:t> μπορεί να εμπνεύσει τη βελτιστοποίηση πόρων σε </a:t>
            </a:r>
            <a:r>
              <a:rPr lang="en-US" sz="1050" dirty="0">
                <a:effectLst/>
                <a:latin typeface="Times New Roman" panose="02020603050405020304" pitchFamily="18" charset="0"/>
                <a:ea typeface="Times New Roman" panose="02020603050405020304" pitchFamily="18" charset="0"/>
              </a:rPr>
              <a:t>server farms</a:t>
            </a:r>
            <a:r>
              <a:rPr lang="el-GR" sz="1050" dirty="0">
                <a:effectLst/>
                <a:latin typeface="Times New Roman" panose="02020603050405020304" pitchFamily="18" charset="0"/>
                <a:ea typeface="Times New Roman" panose="02020603050405020304" pitchFamily="18" charset="0"/>
              </a:rPr>
              <a:t> (Μεγάλες εγκαταστάσεις που φιλοξενούν πολλούς διακομιστές για την αποθήκευση, επεξεργασία και διαχείριση δεδομένων σε κατανεμημένα συστήματα. Χρησιμοποιούνται ευρέως από εταιρείες για την υποστήριξη υπηρεσιών cloud, τη διαχείριση μεγάλων όγκων δεδομένων και την εξασφάλιση υψηλής διαθεσιμότητας), ενισχύοντας την αποδοτικότητα και τη βιωσιμότητα.</a:t>
            </a:r>
            <a:r>
              <a:rPr lang="el-GR" sz="1400" dirty="0">
                <a:effectLst/>
              </a:rPr>
              <a:t> </a:t>
            </a:r>
            <a:endParaRPr lang="el-GR" sz="800" dirty="0">
              <a:effectLst/>
              <a:latin typeface="Times New Roman" panose="02020603050405020304" pitchFamily="18" charset="0"/>
              <a:ea typeface="Times New Roman" panose="02020603050405020304" pitchFamily="18" charset="0"/>
            </a:endParaRPr>
          </a:p>
        </p:txBody>
      </p:sp>
      <p:sp>
        <p:nvSpPr>
          <p:cNvPr id="4" name="Θέση αριθμού διαφάνειας 3">
            <a:extLst>
              <a:ext uri="{FF2B5EF4-FFF2-40B4-BE49-F238E27FC236}">
                <a16:creationId xmlns:a16="http://schemas.microsoft.com/office/drawing/2014/main" id="{68DB5783-58FD-6600-79F2-806ABCB8DF66}"/>
              </a:ext>
            </a:extLst>
          </p:cNvPr>
          <p:cNvSpPr>
            <a:spLocks noGrp="1"/>
          </p:cNvSpPr>
          <p:nvPr>
            <p:ph type="sldNum" sz="quarter" idx="5"/>
          </p:nvPr>
        </p:nvSpPr>
        <p:spPr/>
        <p:txBody>
          <a:bodyPr/>
          <a:lstStyle/>
          <a:p>
            <a:fld id="{E6D147F4-572F-4C38-B63E-6DFA53597243}" type="slidenum">
              <a:rPr lang="el-GR" smtClean="0"/>
              <a:t>5</a:t>
            </a:fld>
            <a:endParaRPr lang="el-GR"/>
          </a:p>
        </p:txBody>
      </p:sp>
    </p:spTree>
    <p:extLst>
      <p:ext uri="{BB962C8B-B14F-4D97-AF65-F5344CB8AC3E}">
        <p14:creationId xmlns:p14="http://schemas.microsoft.com/office/powerpoint/2010/main" val="19401774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algn="just">
              <a:lnSpc>
                <a:spcPct val="150000"/>
              </a:lnSpc>
            </a:pPr>
            <a:r>
              <a:rPr lang="el-GR" sz="1050" b="1" dirty="0">
                <a:latin typeface="Times New Roman" panose="02020603050405020304" pitchFamily="18" charset="0"/>
                <a:cs typeface="Times New Roman" panose="02020603050405020304" pitchFamily="18" charset="0"/>
              </a:rPr>
              <a:t>Συνέχεια </a:t>
            </a:r>
            <a:r>
              <a:rPr lang="en-US" sz="1050" b="1" dirty="0">
                <a:latin typeface="Times New Roman" panose="02020603050405020304" pitchFamily="18" charset="0"/>
                <a:cs typeface="Times New Roman" panose="02020603050405020304" pitchFamily="18" charset="0"/>
              </a:rPr>
              <a:t>3</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 ….</a:t>
            </a:r>
            <a:r>
              <a:rPr lang="el-GR" sz="1050" dirty="0">
                <a:latin typeface="Times New Roman" panose="02020603050405020304" pitchFamily="18" charset="0"/>
                <a:cs typeface="Times New Roman" panose="02020603050405020304" pitchFamily="18" charset="0"/>
              </a:rPr>
              <a:t>……</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Η δυνατότητα αυτή είναι ιδιαίτερα χρήσιμη για επιχειρήσεις με γεωγραφικά διασκορπισμένες λειτουργίες, καθώς εξασφαλίζει συντονισμό και ευελιξία</a:t>
            </a: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6</a:t>
            </a:fld>
            <a:endParaRPr lang="el-GR"/>
          </a:p>
        </p:txBody>
      </p:sp>
    </p:spTree>
    <p:extLst>
      <p:ext uri="{BB962C8B-B14F-4D97-AF65-F5344CB8AC3E}">
        <p14:creationId xmlns:p14="http://schemas.microsoft.com/office/powerpoint/2010/main" val="6361409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436AD8-03B7-1EDA-27FD-67EFB2144F18}"/>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F887AFEB-A30E-A81D-D108-BF386249708F}"/>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4BBD0D6B-E486-DBF0-D269-07D9C2683909}"/>
              </a:ext>
            </a:extLst>
          </p:cNvPr>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algn="just">
              <a:lnSpc>
                <a:spcPct val="150000"/>
              </a:lnSpc>
            </a:pPr>
            <a:r>
              <a:rPr lang="el-GR" sz="1050" b="1" dirty="0">
                <a:latin typeface="Times New Roman" panose="02020603050405020304" pitchFamily="18" charset="0"/>
                <a:cs typeface="Times New Roman" panose="02020603050405020304" pitchFamily="18" charset="0"/>
              </a:rPr>
              <a:t>Συνέχεια 2</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 ….</a:t>
            </a:r>
            <a:r>
              <a:rPr lang="el-GR" sz="1050" dirty="0">
                <a:effectLst/>
                <a:latin typeface="Times New Roman" panose="02020603050405020304" pitchFamily="18" charset="0"/>
                <a:ea typeface="Times New Roman" panose="02020603050405020304" pitchFamily="18" charset="0"/>
              </a:rPr>
              <a:t>Η πλατφόρμα ξεχωρίζει για την ικανότητά της να προσαρμόζεται σε κλάδους με υψηλή μεταβλητότητα, όπως η μόδα ή τα φαρμακευτικά προϊόντα.</a:t>
            </a:r>
          </a:p>
          <a:p>
            <a:pPr algn="just">
              <a:lnSpc>
                <a:spcPct val="150000"/>
              </a:lnSpc>
            </a:pPr>
            <a:endParaRPr lang="el-GR" sz="1050" b="1" dirty="0">
              <a:latin typeface="Times New Roman" panose="02020603050405020304" pitchFamily="18" charset="0"/>
              <a:cs typeface="Times New Roman" panose="02020603050405020304" pitchFamily="18" charset="0"/>
            </a:endParaRPr>
          </a:p>
        </p:txBody>
      </p:sp>
      <p:sp>
        <p:nvSpPr>
          <p:cNvPr id="4" name="Θέση αριθμού διαφάνειας 3">
            <a:extLst>
              <a:ext uri="{FF2B5EF4-FFF2-40B4-BE49-F238E27FC236}">
                <a16:creationId xmlns:a16="http://schemas.microsoft.com/office/drawing/2014/main" id="{344DB6BB-B542-2D2D-DC81-6669BDC51A4C}"/>
              </a:ext>
            </a:extLst>
          </p:cNvPr>
          <p:cNvSpPr>
            <a:spLocks noGrp="1"/>
          </p:cNvSpPr>
          <p:nvPr>
            <p:ph type="sldNum" sz="quarter" idx="5"/>
          </p:nvPr>
        </p:nvSpPr>
        <p:spPr/>
        <p:txBody>
          <a:bodyPr/>
          <a:lstStyle/>
          <a:p>
            <a:fld id="{E6D147F4-572F-4C38-B63E-6DFA53597243}" type="slidenum">
              <a:rPr lang="el-GR" smtClean="0"/>
              <a:t>7</a:t>
            </a:fld>
            <a:endParaRPr lang="el-GR"/>
          </a:p>
        </p:txBody>
      </p:sp>
    </p:spTree>
    <p:extLst>
      <p:ext uri="{BB962C8B-B14F-4D97-AF65-F5344CB8AC3E}">
        <p14:creationId xmlns:p14="http://schemas.microsoft.com/office/powerpoint/2010/main" val="2630392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0BB27-2DA2-C82D-C0EF-9C484174432A}"/>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E5A0A166-BF4D-1BD7-BF10-83E3302A6020}"/>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358B8644-806B-A4C3-2F5D-7C6B3E413C69}"/>
              </a:ext>
            </a:extLst>
          </p:cNvPr>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marL="0" marR="0" lvl="0" indent="0" algn="just" defTabSz="914400" rtl="0" eaLnBrk="1" fontAlgn="auto" latinLnBrk="0" hangingPunct="1">
              <a:lnSpc>
                <a:spcPct val="150000"/>
              </a:lnSpc>
              <a:spcBef>
                <a:spcPts val="0"/>
              </a:spcBef>
              <a:spcAft>
                <a:spcPts val="0"/>
              </a:spcAft>
              <a:buClrTx/>
              <a:buSzTx/>
              <a:buFontTx/>
              <a:buNone/>
              <a:tabLst/>
              <a:defRPr/>
            </a:pPr>
            <a:r>
              <a:rPr lang="el-GR" sz="1050" b="1" dirty="0">
                <a:latin typeface="Times New Roman" panose="02020603050405020304" pitchFamily="18" charset="0"/>
                <a:cs typeface="Times New Roman" panose="02020603050405020304" pitchFamily="18" charset="0"/>
              </a:rPr>
              <a:t>Συνέχεια 2ης κουκκίδας …</a:t>
            </a:r>
            <a:r>
              <a:rPr lang="el-GR" sz="1050" dirty="0">
                <a:effectLst/>
                <a:latin typeface="Times New Roman" panose="02020603050405020304" pitchFamily="18" charset="0"/>
                <a:ea typeface="Times New Roman" panose="02020603050405020304" pitchFamily="18" charset="0"/>
              </a:rPr>
              <a:t>Για παράδειγμα, μπορεί να προτείνει την αλλαγή προμηθευτή ή την προσαρμογή των χρονοδιαγραμμάτων παραγωγής για να αποφευχθούν ελλείψεις. </a:t>
            </a:r>
            <a:endParaRPr lang="el-GR" sz="1050" b="1" dirty="0">
              <a:latin typeface="Times New Roman" panose="02020603050405020304" pitchFamily="18" charset="0"/>
              <a:cs typeface="Times New Roman" panose="02020603050405020304" pitchFamily="18" charset="0"/>
            </a:endParaRPr>
          </a:p>
          <a:p>
            <a:pPr algn="just">
              <a:lnSpc>
                <a:spcPct val="150000"/>
              </a:lnSpc>
            </a:pPr>
            <a:r>
              <a:rPr lang="el-GR" sz="1050" b="1" dirty="0">
                <a:latin typeface="Times New Roman" panose="02020603050405020304" pitchFamily="18" charset="0"/>
                <a:cs typeface="Times New Roman" panose="02020603050405020304" pitchFamily="18" charset="0"/>
              </a:rPr>
              <a:t>Συνέχεια 5</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a:t>
            </a:r>
            <a:r>
              <a:rPr lang="el-GR" sz="1050" dirty="0">
                <a:effectLst/>
                <a:latin typeface="Times New Roman" panose="02020603050405020304" pitchFamily="18" charset="0"/>
                <a:ea typeface="Times New Roman" panose="02020603050405020304" pitchFamily="18" charset="0"/>
              </a:rPr>
              <a:t> Η πλατφόρμα είναι ιδανική για επιχειρήσεις που επιθυμούν να ενισχύσουν τη συνεργασία και να μειώσουν τις καθυστερήσεις που προκύπτουν από την έλλειψη επικοινωνίας.</a:t>
            </a:r>
            <a:endParaRPr lang="el-GR" sz="1050" b="1" dirty="0">
              <a:latin typeface="Times New Roman" panose="02020603050405020304" pitchFamily="18" charset="0"/>
              <a:cs typeface="Times New Roman" panose="02020603050405020304" pitchFamily="18" charset="0"/>
            </a:endParaRPr>
          </a:p>
        </p:txBody>
      </p:sp>
      <p:sp>
        <p:nvSpPr>
          <p:cNvPr id="4" name="Θέση αριθμού διαφάνειας 3">
            <a:extLst>
              <a:ext uri="{FF2B5EF4-FFF2-40B4-BE49-F238E27FC236}">
                <a16:creationId xmlns:a16="http://schemas.microsoft.com/office/drawing/2014/main" id="{A7F85F9B-2E6B-7DF1-A1CA-AC939C771A51}"/>
              </a:ext>
            </a:extLst>
          </p:cNvPr>
          <p:cNvSpPr>
            <a:spLocks noGrp="1"/>
          </p:cNvSpPr>
          <p:nvPr>
            <p:ph type="sldNum" sz="quarter" idx="5"/>
          </p:nvPr>
        </p:nvSpPr>
        <p:spPr/>
        <p:txBody>
          <a:bodyPr/>
          <a:lstStyle/>
          <a:p>
            <a:fld id="{E6D147F4-572F-4C38-B63E-6DFA53597243}" type="slidenum">
              <a:rPr lang="el-GR" smtClean="0"/>
              <a:t>8</a:t>
            </a:fld>
            <a:endParaRPr lang="el-GR"/>
          </a:p>
        </p:txBody>
      </p:sp>
    </p:spTree>
    <p:extLst>
      <p:ext uri="{BB962C8B-B14F-4D97-AF65-F5344CB8AC3E}">
        <p14:creationId xmlns:p14="http://schemas.microsoft.com/office/powerpoint/2010/main" val="118526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5709E-DBD8-7566-D392-DD7895F4583E}"/>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90697C01-2F61-F5A6-29F4-777431651146}"/>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7CF12EF0-4B99-CF59-C9F2-25CC44DFA0E0}"/>
              </a:ext>
            </a:extLst>
          </p:cNvPr>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p:txBody>
      </p:sp>
      <p:sp>
        <p:nvSpPr>
          <p:cNvPr id="4" name="Θέση αριθμού διαφάνειας 3">
            <a:extLst>
              <a:ext uri="{FF2B5EF4-FFF2-40B4-BE49-F238E27FC236}">
                <a16:creationId xmlns:a16="http://schemas.microsoft.com/office/drawing/2014/main" id="{5AC64F5C-4F1B-A463-87D0-3A93FF1999E6}"/>
              </a:ext>
            </a:extLst>
          </p:cNvPr>
          <p:cNvSpPr>
            <a:spLocks noGrp="1"/>
          </p:cNvSpPr>
          <p:nvPr>
            <p:ph type="sldNum" sz="quarter" idx="5"/>
          </p:nvPr>
        </p:nvSpPr>
        <p:spPr/>
        <p:txBody>
          <a:bodyPr/>
          <a:lstStyle/>
          <a:p>
            <a:fld id="{E6D147F4-572F-4C38-B63E-6DFA53597243}" type="slidenum">
              <a:rPr lang="el-GR" smtClean="0"/>
              <a:t>9</a:t>
            </a:fld>
            <a:endParaRPr lang="el-GR"/>
          </a:p>
        </p:txBody>
      </p:sp>
    </p:spTree>
    <p:extLst>
      <p:ext uri="{BB962C8B-B14F-4D97-AF65-F5344CB8AC3E}">
        <p14:creationId xmlns:p14="http://schemas.microsoft.com/office/powerpoint/2010/main" val="2401279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algn="just">
              <a:lnSpc>
                <a:spcPct val="150000"/>
              </a:lnSpc>
              <a:spcAft>
                <a:spcPts val="800"/>
              </a:spcAft>
              <a:buNone/>
            </a:pP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Η σελίδα περιλαμβάνει διάφορα γραφικά στοιχεία, όπως:</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Ένα διάγραμμα που δείχνει τη διαχείριση ραντεβού μεταφορών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Appointment Manager),</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με λεπτομέρειες για αριθμούς φορτίων, ώρα άφιξης και κατάσταση (π.χ.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Automatically Rescheduled</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Έναν παγκόσμιο χάρτη που απεικονίζει ζωντανές διαταραχές (Live Global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Disruptions</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υποδεικνύοντας 65 επηρεαζόμενα πλοία, 35 κοντέινερ και 18 λιμάνια.</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Μια ενότητα για την παρακολούθηση προμηθευτών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Supplier Bill of Lading</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με πληροφορίες για την έγκαιρη παράδοση και την κατάσταση φορτίων (π.χ.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On Time by 2nd 14th 5m").</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Ένα γράφημα κινδύνου αποθεμάτων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Stockout Risk</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που κατηγοριοποιεί τον κίνδυνο ως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Very High" ή "High</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για συγκεκριμένους αριθμούς παραγγελιών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POs</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Μια ενότητα λεπτομερειών παραγγελίας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Order Details</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που δείχνει την κατάσταση αποστολής (π.χ. 5.000 παραγγελίες, 5.000 αποσταλμένες) και προειδοποιήσεις για κινδύνους ελλείψεων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Short Fill Risk).</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marL="342900" lvl="0" indent="-342900" algn="just">
              <a:lnSpc>
                <a:spcPct val="150000"/>
              </a:lnSpc>
              <a:spcAft>
                <a:spcPts val="800"/>
              </a:spcAft>
              <a:buSzPts val="1000"/>
              <a:buFont typeface="Symbol" panose="05050102010706020507" pitchFamily="18" charset="2"/>
              <a:buChar char=""/>
              <a:tabLst>
                <a:tab pos="457200" algn="l"/>
              </a:tabLst>
            </a:pP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Ένα chatbot που εμφανίζεται στη δεξιά πλευρά, προσφέροντας υποστήριξη για την παρακολούθηση φορτίων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tracking</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50000"/>
              </a:lnSpc>
            </a:pP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10</a:t>
            </a:fld>
            <a:endParaRPr lang="el-GR"/>
          </a:p>
        </p:txBody>
      </p:sp>
    </p:spTree>
    <p:extLst>
      <p:ext uri="{BB962C8B-B14F-4D97-AF65-F5344CB8AC3E}">
        <p14:creationId xmlns:p14="http://schemas.microsoft.com/office/powerpoint/2010/main" val="147939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11</a:t>
            </a:fld>
            <a:endParaRPr lang="el-GR"/>
          </a:p>
        </p:txBody>
      </p:sp>
    </p:spTree>
    <p:extLst>
      <p:ext uri="{BB962C8B-B14F-4D97-AF65-F5344CB8AC3E}">
        <p14:creationId xmlns:p14="http://schemas.microsoft.com/office/powerpoint/2010/main" val="24447052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algn="just">
              <a:lnSpc>
                <a:spcPct val="150000"/>
              </a:lnSpc>
            </a:pPr>
            <a:r>
              <a:rPr lang="el-GR" sz="1050" b="1" dirty="0">
                <a:latin typeface="Times New Roman" panose="02020603050405020304" pitchFamily="18" charset="0"/>
                <a:cs typeface="Times New Roman" panose="02020603050405020304" pitchFamily="18" charset="0"/>
              </a:rPr>
              <a:t>Προσθήκη 1</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a:t>
            </a:r>
            <a:r>
              <a:rPr lang="el-GR" sz="1050" dirty="0">
                <a:latin typeface="Times New Roman" panose="02020603050405020304" pitchFamily="18" charset="0"/>
                <a:cs typeface="Times New Roman" panose="02020603050405020304" pitchFamily="18" charset="0"/>
              </a:rPr>
              <a:t>: …. </a:t>
            </a:r>
            <a:r>
              <a:rPr lang="el-GR" sz="1800" dirty="0">
                <a:effectLst/>
                <a:latin typeface="Times New Roman" panose="02020603050405020304" pitchFamily="18" charset="0"/>
                <a:ea typeface="Times New Roman" panose="02020603050405020304" pitchFamily="18" charset="0"/>
              </a:rPr>
              <a:t>Αυτή η προσέγγιση ενισχύει την ανθεκτικότητα των επιχειρήσεων, επιτρέποντας τη διατήρηση της συνέχειας των λειτουργιών ακόμη και σε περιόδους κρίσης, χωρίς να βασίζεται αποκλειστικά σε ανθρώπινες αποφάσεις.</a:t>
            </a:r>
          </a:p>
          <a:p>
            <a:pPr algn="just">
              <a:lnSpc>
                <a:spcPct val="150000"/>
              </a:lnSpc>
            </a:pPr>
            <a:r>
              <a:rPr lang="el-GR" sz="1050" b="1" dirty="0">
                <a:latin typeface="Times New Roman" panose="02020603050405020304" pitchFamily="18" charset="0"/>
                <a:cs typeface="Times New Roman" panose="02020603050405020304" pitchFamily="18" charset="0"/>
              </a:rPr>
              <a:t>Προσθήκη 3</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a:t>
            </a:r>
            <a:r>
              <a:rPr lang="el-GR" sz="1050" dirty="0">
                <a:latin typeface="Times New Roman" panose="02020603050405020304" pitchFamily="18" charset="0"/>
                <a:cs typeface="Times New Roman" panose="02020603050405020304" pitchFamily="18" charset="0"/>
              </a:rPr>
              <a:t>: …..</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Για παράδειγμα, μπορούν να προτείνουν ευέλικτες επιλογές παράδοσης, όπως παράδοση την ίδια ημέρα για επείγουσες παραγγελίες, ή να προσαρμόσουν τη συσκευασία με βάση τις περιβαλλοντικές προτιμήσεις του πελάτη. </a:t>
            </a: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12</a:t>
            </a:fld>
            <a:endParaRPr lang="el-GR"/>
          </a:p>
        </p:txBody>
      </p:sp>
    </p:spTree>
    <p:extLst>
      <p:ext uri="{BB962C8B-B14F-4D97-AF65-F5344CB8AC3E}">
        <p14:creationId xmlns:p14="http://schemas.microsoft.com/office/powerpoint/2010/main" val="970760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algn="just">
              <a:lnSpc>
                <a:spcPct val="150000"/>
              </a:lnSpc>
            </a:pP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Η Blue Yonder</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προσφέρει λύσεις που καλύπτουν την πρόβλεψη ζήτησης, τη διαχείριση αποθεμάτων και τη βελτιστοποίηση των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logistics</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Η πλατφόρμα βασίζεται σε αλγορίθμους μηχανικής μάθησης που μαθαίνουν από δεδομένα σε πραγματικό χρόνο, προσαρμόζοντας τις προβλέψεις και τις αποφάσεις της. Η ΤΝ αποτελεί τον πυρήνα της πλατφόρμας </a:t>
            </a:r>
            <a:r>
              <a:rPr lang="en-ZA" sz="1050" dirty="0">
                <a:effectLst/>
                <a:latin typeface="Times New Roman" panose="02020603050405020304" pitchFamily="18" charset="0"/>
                <a:ea typeface="Times New Roman" panose="02020603050405020304" pitchFamily="18" charset="0"/>
                <a:cs typeface="Times New Roman" panose="02020603050405020304" pitchFamily="18" charset="0"/>
              </a:rPr>
              <a:t>Blue Yonder</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η οποία χρησιμοποιεί προηγμένους αλγορίθμους μηχανικής μάθησης για τη διαχείριση της εφοδιαστικής αλυσίδας, καλύπτοντας κρίσιμες λειτουργίες όπως η πρόβλεψη ζήτησης, η διαχείριση αποθεμάτων και η βελτιστοποίηση των </a:t>
            </a:r>
            <a:r>
              <a:rPr lang="en-ZA" sz="1050" dirty="0">
                <a:effectLst/>
                <a:latin typeface="Times New Roman" panose="02020603050405020304" pitchFamily="18" charset="0"/>
                <a:ea typeface="Times New Roman" panose="02020603050405020304" pitchFamily="18" charset="0"/>
                <a:cs typeface="Times New Roman" panose="02020603050405020304" pitchFamily="18" charset="0"/>
              </a:rPr>
              <a:t>logistics</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Η πλατφόρμα αξιοποιεί δεδομένα σε πραγματικό χρόνο από πολλαπλές πηγές, όπως συστήματα ERP, αισθητήρες IoT και εξωτερικές βάσεις δεδομένων, για να προσαρμόζει δυναμικά τις προβλέψεις και τις αποφάσεις της, εξασφαλίζοντας μέγιστη ακρίβεια και ευελιξία.</a:t>
            </a: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13</a:t>
            </a:fld>
            <a:endParaRPr lang="el-GR"/>
          </a:p>
        </p:txBody>
      </p:sp>
    </p:spTree>
    <p:extLst>
      <p:ext uri="{BB962C8B-B14F-4D97-AF65-F5344CB8AC3E}">
        <p14:creationId xmlns:p14="http://schemas.microsoft.com/office/powerpoint/2010/main" val="382914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42194-9D64-EB46-AEC4-7D56F692FFE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3CD7D180-7311-DB2A-B03E-938AF2D7820B}"/>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AADE0A3F-304C-D7A1-43F6-CA086F601007}"/>
              </a:ext>
            </a:extLst>
          </p:cNvPr>
          <p:cNvSpPr>
            <a:spLocks noGrp="1"/>
          </p:cNvSpPr>
          <p:nvPr>
            <p:ph type="body" idx="1"/>
          </p:nvPr>
        </p:nvSpPr>
        <p:spPr/>
        <p:txBody>
          <a:bodyPr/>
          <a:lstStyle/>
          <a:p>
            <a:endParaRPr lang="el-GR" dirty="0"/>
          </a:p>
        </p:txBody>
      </p:sp>
      <p:sp>
        <p:nvSpPr>
          <p:cNvPr id="4" name="Θέση αριθμού διαφάνειας 3">
            <a:extLst>
              <a:ext uri="{FF2B5EF4-FFF2-40B4-BE49-F238E27FC236}">
                <a16:creationId xmlns:a16="http://schemas.microsoft.com/office/drawing/2014/main" id="{995B89BB-1DF6-41A4-FFC6-DE0B578B9433}"/>
              </a:ext>
            </a:extLst>
          </p:cNvPr>
          <p:cNvSpPr>
            <a:spLocks noGrp="1"/>
          </p:cNvSpPr>
          <p:nvPr>
            <p:ph type="sldNum" sz="quarter" idx="5"/>
          </p:nvPr>
        </p:nvSpPr>
        <p:spPr/>
        <p:txBody>
          <a:bodyPr/>
          <a:lstStyle/>
          <a:p>
            <a:fld id="{E6D147F4-572F-4C38-B63E-6DFA53597243}" type="slidenum">
              <a:rPr lang="el-GR" smtClean="0"/>
              <a:t>14</a:t>
            </a:fld>
            <a:endParaRPr lang="el-GR"/>
          </a:p>
        </p:txBody>
      </p:sp>
    </p:spTree>
    <p:extLst>
      <p:ext uri="{BB962C8B-B14F-4D97-AF65-F5344CB8AC3E}">
        <p14:creationId xmlns:p14="http://schemas.microsoft.com/office/powerpoint/2010/main" val="3609333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15</a:t>
            </a:fld>
            <a:endParaRPr lang="el-GR"/>
          </a:p>
        </p:txBody>
      </p:sp>
    </p:spTree>
    <p:extLst>
      <p:ext uri="{BB962C8B-B14F-4D97-AF65-F5344CB8AC3E}">
        <p14:creationId xmlns:p14="http://schemas.microsoft.com/office/powerpoint/2010/main" val="6517547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E60B7-5EB1-E182-6893-78781EBADB04}"/>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2D43341D-DE74-4754-31C6-94D81674736E}"/>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EB2DE6E6-C020-0F34-DB64-688B4BC98DC6}"/>
              </a:ext>
            </a:extLst>
          </p:cNvPr>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algn="just">
              <a:lnSpc>
                <a:spcPct val="150000"/>
              </a:lnSpc>
            </a:pPr>
            <a:r>
              <a:rPr lang="el-GR" sz="1050" b="1" dirty="0">
                <a:latin typeface="Times New Roman" panose="02020603050405020304" pitchFamily="18" charset="0"/>
                <a:cs typeface="Times New Roman" panose="02020603050405020304" pitchFamily="18" charset="0"/>
              </a:rPr>
              <a:t>Συνέχεια 1</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 από παράδειγμα μεροληψιών: </a:t>
            </a:r>
            <a:r>
              <a:rPr lang="el-GR" sz="1050" dirty="0">
                <a:latin typeface="Times New Roman" panose="02020603050405020304" pitchFamily="18" charset="0"/>
                <a:cs typeface="Times New Roman" panose="02020603050405020304" pitchFamily="18" charset="0"/>
              </a:rPr>
              <a:t>…</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Για παράδειγμα, σε μια διεθνή εφοδιαστική αλυσίδα που περιλαμβάνει πολλούς προμηθευτές, η ΤΝ μπορεί να διασφαλίσει ότι οι αποφάσεις για την κατανομή πόρων δεν ευνοούν αδικαιολόγητα μεγάλους προμηθευτές, αλλά λαμβάνουν υπόψη τις ανάγκες μικρότερων συνεργατών, διατηρώντας έτσι την ισορροπία και την εμπιστοσύνη στο δίκτυο.</a:t>
            </a:r>
            <a:r>
              <a:rPr lang="el-GR" sz="1050" b="1" dirty="0">
                <a:latin typeface="Times New Roman" panose="02020603050405020304" pitchFamily="18" charset="0"/>
                <a:cs typeface="Times New Roman" panose="02020603050405020304" pitchFamily="18" charset="0"/>
              </a:rPr>
              <a:t> </a:t>
            </a:r>
          </a:p>
          <a:p>
            <a:pPr marL="0" marR="0" lvl="0" indent="0" algn="just" defTabSz="914400" rtl="0" eaLnBrk="1" fontAlgn="auto" latinLnBrk="0" hangingPunct="1">
              <a:lnSpc>
                <a:spcPct val="150000"/>
              </a:lnSpc>
              <a:spcBef>
                <a:spcPts val="0"/>
              </a:spcBef>
              <a:spcAft>
                <a:spcPts val="0"/>
              </a:spcAft>
              <a:buClrTx/>
              <a:buSzTx/>
              <a:buFontTx/>
              <a:buNone/>
              <a:tabLst/>
              <a:defRPr/>
            </a:pPr>
            <a:r>
              <a:rPr lang="el-GR" sz="1050" b="1" dirty="0">
                <a:latin typeface="Times New Roman" panose="02020603050405020304" pitchFamily="18" charset="0"/>
                <a:cs typeface="Times New Roman" panose="02020603050405020304" pitchFamily="18" charset="0"/>
              </a:rPr>
              <a:t>Συνέχεια 2</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 από παράδειγμα μεροληψιών: …..</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Για παράδειγμα, αν τα δεδομένα που χρησιμοποιεί ένας αλγόριθμος ΤΝ για την πρόβλεψη ζήτησης βασίζονται κυρίως σε ιστορικά δεδομένα από μια συγκεκριμένη περιοχή ή δημογραφική ομάδα, μπορεί να υποεκτιμήσει τη ζήτηση σε άλλες περιοχές ή ομάδες, οδηγώντας σε άνιση κατανομή πόρων. Τέτοιες μεροληψίες μπορεί να οδηγήσουν σε άδικες αποφάσεις, π.χ., προτεραιότητα σε ορισμένους προμηθευτές έναντι άλλων, ή σε αναποτελεσματικότητα, όπως η υπερπαραγωγή για λάθος αγορές.</a:t>
            </a:r>
            <a:endParaRPr lang="el-GR" sz="1050" dirty="0">
              <a:effectLst/>
              <a:latin typeface="Times New Roman" panose="02020603050405020304" pitchFamily="18" charset="0"/>
              <a:ea typeface="Aptos" panose="020B0004020202020204" pitchFamily="34" charset="0"/>
              <a:cs typeface="Times New Roman" panose="02020603050405020304" pitchFamily="18" charset="0"/>
            </a:endParaRPr>
          </a:p>
          <a:p>
            <a:pPr algn="just">
              <a:lnSpc>
                <a:spcPct val="150000"/>
              </a:lnSpc>
            </a:pP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a:extLst>
              <a:ext uri="{FF2B5EF4-FFF2-40B4-BE49-F238E27FC236}">
                <a16:creationId xmlns:a16="http://schemas.microsoft.com/office/drawing/2014/main" id="{4D4C7989-C248-CC32-2F81-778334756250}"/>
              </a:ext>
            </a:extLst>
          </p:cNvPr>
          <p:cNvSpPr>
            <a:spLocks noGrp="1"/>
          </p:cNvSpPr>
          <p:nvPr>
            <p:ph type="sldNum" sz="quarter" idx="5"/>
          </p:nvPr>
        </p:nvSpPr>
        <p:spPr/>
        <p:txBody>
          <a:bodyPr/>
          <a:lstStyle/>
          <a:p>
            <a:fld id="{E6D147F4-572F-4C38-B63E-6DFA53597243}" type="slidenum">
              <a:rPr lang="el-GR" smtClean="0"/>
              <a:t>16</a:t>
            </a:fld>
            <a:endParaRPr lang="el-GR"/>
          </a:p>
        </p:txBody>
      </p:sp>
    </p:spTree>
    <p:extLst>
      <p:ext uri="{BB962C8B-B14F-4D97-AF65-F5344CB8AC3E}">
        <p14:creationId xmlns:p14="http://schemas.microsoft.com/office/powerpoint/2010/main" val="2160518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algn="just"/>
            <a:r>
              <a:rPr lang="el-GR" sz="1050" b="1" dirty="0">
                <a:latin typeface="Times New Roman" panose="02020603050405020304" pitchFamily="18" charset="0"/>
                <a:cs typeface="Times New Roman" panose="02020603050405020304" pitchFamily="18" charset="0"/>
              </a:rPr>
              <a:t>Επιπρόσθετα διαφάνειας:</a:t>
            </a:r>
          </a:p>
          <a:p>
            <a:pPr algn="just"/>
            <a:r>
              <a:rPr lang="en-US" sz="1050" dirty="0" err="1">
                <a:effectLst/>
                <a:latin typeface="Times New Roman" panose="02020603050405020304" pitchFamily="18" charset="0"/>
                <a:ea typeface="Aptos" panose="020B0004020202020204" pitchFamily="34" charset="0"/>
                <a:cs typeface="Times New Roman" panose="02020603050405020304" pitchFamily="18" charset="0"/>
              </a:rPr>
              <a:t>Wallmart</a:t>
            </a:r>
            <a:r>
              <a:rPr lang="en-US" sz="1050" dirty="0">
                <a:effectLst/>
                <a:latin typeface="Times New Roman" panose="02020603050405020304" pitchFamily="18" charset="0"/>
                <a:ea typeface="Aptos" panose="020B0004020202020204" pitchFamily="34" charset="0"/>
                <a:cs typeface="Times New Roman" panose="02020603050405020304" pitchFamily="18" charset="0"/>
              </a:rPr>
              <a:t> = </a:t>
            </a:r>
            <a:r>
              <a:rPr lang="el-GR" sz="1050" dirty="0">
                <a:effectLst/>
                <a:latin typeface="Times New Roman" panose="02020603050405020304" pitchFamily="18" charset="0"/>
                <a:ea typeface="Aptos" panose="020B0004020202020204" pitchFamily="34" charset="0"/>
                <a:cs typeface="Times New Roman" panose="02020603050405020304" pitchFamily="18" charset="0"/>
              </a:rPr>
              <a:t>ένας από τους μεγαλύτερους λιανοπωλητές παγκοσμίως,</a:t>
            </a:r>
          </a:p>
          <a:p>
            <a:pPr algn="just"/>
            <a:r>
              <a:rPr lang="el-GR" sz="1050" b="1" dirty="0">
                <a:latin typeface="Times New Roman" panose="02020603050405020304" pitchFamily="18" charset="0"/>
                <a:cs typeface="Times New Roman" panose="02020603050405020304" pitchFamily="18" charset="0"/>
              </a:rPr>
              <a:t>Συνέχεια 4</a:t>
            </a:r>
            <a:r>
              <a:rPr lang="el-GR" sz="1050" b="1" baseline="30000" dirty="0">
                <a:latin typeface="Times New Roman" panose="02020603050405020304" pitchFamily="18" charset="0"/>
                <a:cs typeface="Times New Roman" panose="02020603050405020304" pitchFamily="18" charset="0"/>
              </a:rPr>
              <a:t>ης</a:t>
            </a:r>
            <a:r>
              <a:rPr lang="el-GR" sz="1050" b="1" dirty="0">
                <a:latin typeface="Times New Roman" panose="02020603050405020304" pitchFamily="18" charset="0"/>
                <a:cs typeface="Times New Roman" panose="02020603050405020304" pitchFamily="18" charset="0"/>
              </a:rPr>
              <a:t> κουκκίδας ….</a:t>
            </a:r>
            <a:r>
              <a:rPr lang="el-GR" sz="1050" dirty="0">
                <a:effectLst/>
                <a:latin typeface="Times New Roman" panose="02020603050405020304" pitchFamily="18" charset="0"/>
                <a:ea typeface="Aptos" panose="020B0004020202020204" pitchFamily="34" charset="0"/>
                <a:cs typeface="Times New Roman" panose="02020603050405020304" pitchFamily="18" charset="0"/>
              </a:rPr>
              <a:t>Με αυτόν τον τρόπο, η </a:t>
            </a:r>
            <a:r>
              <a:rPr lang="en-CA" sz="1050" dirty="0">
                <a:effectLst/>
                <a:latin typeface="Times New Roman" panose="02020603050405020304" pitchFamily="18" charset="0"/>
                <a:ea typeface="Aptos" panose="020B0004020202020204" pitchFamily="34" charset="0"/>
                <a:cs typeface="Times New Roman" panose="02020603050405020304" pitchFamily="18" charset="0"/>
              </a:rPr>
              <a:t>Walmart</a:t>
            </a:r>
            <a:r>
              <a:rPr lang="el-GR" sz="1050" dirty="0">
                <a:effectLst/>
                <a:latin typeface="Times New Roman" panose="02020603050405020304" pitchFamily="18" charset="0"/>
                <a:ea typeface="Aptos" panose="020B0004020202020204" pitchFamily="34" charset="0"/>
                <a:cs typeface="Times New Roman" panose="02020603050405020304" pitchFamily="18" charset="0"/>
              </a:rPr>
              <a:t> μείωσε τα απόβλητά της κατά 25% σε ετήσια βάση, ενώ παράλληλα ενίσχυσε τη δέσμευσή της για βιωσιμότητα</a:t>
            </a:r>
            <a:endParaRPr lang="el-GR" sz="1050" dirty="0">
              <a:latin typeface="Times New Roman" panose="02020603050405020304" pitchFamily="18" charset="0"/>
              <a:cs typeface="Times New Roman" panose="02020603050405020304" pitchFamily="18" charset="0"/>
            </a:endParaRPr>
          </a:p>
          <a:p>
            <a:pPr algn="just"/>
            <a:r>
              <a:rPr lang="el-GR" sz="1050" dirty="0">
                <a:effectLst/>
                <a:latin typeface="Times New Roman" panose="02020603050405020304" pitchFamily="18" charset="0"/>
                <a:ea typeface="Aptos" panose="020B0004020202020204" pitchFamily="34" charset="0"/>
                <a:cs typeface="Times New Roman" panose="02020603050405020304" pitchFamily="18" charset="0"/>
              </a:rPr>
              <a:t> </a:t>
            </a: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17</a:t>
            </a:fld>
            <a:endParaRPr lang="el-GR"/>
          </a:p>
        </p:txBody>
      </p:sp>
    </p:spTree>
    <p:extLst>
      <p:ext uri="{BB962C8B-B14F-4D97-AF65-F5344CB8AC3E}">
        <p14:creationId xmlns:p14="http://schemas.microsoft.com/office/powerpoint/2010/main" val="935812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F6483-5160-B6E0-9AD4-B931531BA919}"/>
            </a:ext>
          </a:extLst>
        </p:cNvPr>
        <p:cNvGrpSpPr/>
        <p:nvPr/>
      </p:nvGrpSpPr>
      <p:grpSpPr>
        <a:xfrm>
          <a:off x="0" y="0"/>
          <a:ext cx="0" cy="0"/>
          <a:chOff x="0" y="0"/>
          <a:chExt cx="0" cy="0"/>
        </a:xfrm>
      </p:grpSpPr>
      <p:sp>
        <p:nvSpPr>
          <p:cNvPr id="2" name="Θέση εικόνας διαφάνειας 1">
            <a:extLst>
              <a:ext uri="{FF2B5EF4-FFF2-40B4-BE49-F238E27FC236}">
                <a16:creationId xmlns:a16="http://schemas.microsoft.com/office/drawing/2014/main" id="{5910368C-D9A2-F26B-34D9-363E927DA968}"/>
              </a:ext>
            </a:extLst>
          </p:cNvPr>
          <p:cNvSpPr>
            <a:spLocks noGrp="1" noRot="1" noChangeAspect="1"/>
          </p:cNvSpPr>
          <p:nvPr>
            <p:ph type="sldImg"/>
          </p:nvPr>
        </p:nvSpPr>
        <p:spPr/>
      </p:sp>
      <p:sp>
        <p:nvSpPr>
          <p:cNvPr id="3" name="Θέση σημειώσεων 2">
            <a:extLst>
              <a:ext uri="{FF2B5EF4-FFF2-40B4-BE49-F238E27FC236}">
                <a16:creationId xmlns:a16="http://schemas.microsoft.com/office/drawing/2014/main" id="{11F91BB7-5535-4C18-CFAB-F0558EF80B98}"/>
              </a:ext>
            </a:extLst>
          </p:cNvPr>
          <p:cNvSpPr>
            <a:spLocks noGrp="1"/>
          </p:cNvSpPr>
          <p:nvPr>
            <p:ph type="body" idx="1"/>
          </p:nvPr>
        </p:nvSpPr>
        <p:spPr/>
        <p:txBody>
          <a:bodyPr/>
          <a:lstStyle/>
          <a:p>
            <a:pPr algn="just"/>
            <a:r>
              <a:rPr lang="el-GR" sz="1050" b="1" dirty="0">
                <a:latin typeface="Times New Roman" panose="02020603050405020304" pitchFamily="18" charset="0"/>
                <a:cs typeface="Times New Roman" panose="02020603050405020304" pitchFamily="18" charset="0"/>
              </a:rPr>
              <a:t>Επιπρόσθετα διαφάνειας:</a:t>
            </a:r>
          </a:p>
        </p:txBody>
      </p:sp>
      <p:sp>
        <p:nvSpPr>
          <p:cNvPr id="4" name="Θέση αριθμού διαφάνειας 3">
            <a:extLst>
              <a:ext uri="{FF2B5EF4-FFF2-40B4-BE49-F238E27FC236}">
                <a16:creationId xmlns:a16="http://schemas.microsoft.com/office/drawing/2014/main" id="{EB102A3F-26F9-E6A9-FC7B-F35901FADD11}"/>
              </a:ext>
            </a:extLst>
          </p:cNvPr>
          <p:cNvSpPr>
            <a:spLocks noGrp="1"/>
          </p:cNvSpPr>
          <p:nvPr>
            <p:ph type="sldNum" sz="quarter" idx="5"/>
          </p:nvPr>
        </p:nvSpPr>
        <p:spPr/>
        <p:txBody>
          <a:bodyPr/>
          <a:lstStyle/>
          <a:p>
            <a:fld id="{E6D147F4-572F-4C38-B63E-6DFA53597243}" type="slidenum">
              <a:rPr lang="el-GR" smtClean="0"/>
              <a:t>18</a:t>
            </a:fld>
            <a:endParaRPr lang="el-GR"/>
          </a:p>
        </p:txBody>
      </p:sp>
    </p:spTree>
    <p:extLst>
      <p:ext uri="{BB962C8B-B14F-4D97-AF65-F5344CB8AC3E}">
        <p14:creationId xmlns:p14="http://schemas.microsoft.com/office/powerpoint/2010/main" val="33086964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pPr algn="just">
              <a:lnSpc>
                <a:spcPct val="150000"/>
              </a:lnSpc>
            </a:pPr>
            <a:r>
              <a:rPr lang="el-GR" sz="1050" b="1" dirty="0">
                <a:latin typeface="Times New Roman" panose="02020603050405020304" pitchFamily="18" charset="0"/>
                <a:cs typeface="Times New Roman" panose="02020603050405020304" pitchFamily="18" charset="0"/>
              </a:rPr>
              <a:t>Επιπρόσθετα διαφάνειας:</a:t>
            </a:r>
          </a:p>
          <a:p>
            <a:pPr algn="just">
              <a:lnSpc>
                <a:spcPct val="150000"/>
              </a:lnSpc>
              <a:buNone/>
            </a:pPr>
            <a:r>
              <a:rPr lang="el-GR" sz="1050" dirty="0">
                <a:effectLst/>
                <a:latin typeface="Times New Roman" panose="02020603050405020304" pitchFamily="18" charset="0"/>
                <a:cs typeface="Times New Roman" panose="02020603050405020304" pitchFamily="18" charset="0"/>
              </a:rPr>
              <a:t>Στην </a:t>
            </a:r>
            <a:r>
              <a:rPr lang="el-GR" sz="1050" b="1" dirty="0">
                <a:effectLst/>
                <a:latin typeface="Times New Roman" panose="02020603050405020304" pitchFamily="18" charset="0"/>
                <a:cs typeface="Times New Roman" panose="02020603050405020304" pitchFamily="18" charset="0"/>
              </a:rPr>
              <a:t>πάνω εικόνα (</a:t>
            </a:r>
            <a:r>
              <a:rPr lang="el-GR" sz="1050" b="1" dirty="0">
                <a:effectLst/>
                <a:latin typeface="Times New Roman" panose="02020603050405020304" pitchFamily="18" charset="0"/>
                <a:ea typeface="Aptos" panose="020B0004020202020204" pitchFamily="34" charset="0"/>
                <a:cs typeface="Times New Roman" panose="02020603050405020304" pitchFamily="18" charset="0"/>
              </a:rPr>
              <a:t>παραδοσιακό μοντέλο),</a:t>
            </a:r>
            <a:r>
              <a:rPr lang="el-GR" sz="1050" dirty="0">
                <a:effectLst/>
                <a:latin typeface="Times New Roman" panose="02020603050405020304" pitchFamily="18" charset="0"/>
                <a:ea typeface="Aptos" panose="020B0004020202020204" pitchFamily="34" charset="0"/>
                <a:cs typeface="Times New Roman" panose="02020603050405020304" pitchFamily="18" charset="0"/>
              </a:rPr>
              <a:t> η πληροφορία περνά από πολλούς μεσολαβητές, γεγονός που αυξάνει τον κίνδυνο σφαλμάτων, καθυστερήσεων ή απάτης. Επίσης, δεν υπάρχει διαφάνεια ή δυνατότητα ελέγχου της αυθεντικότητας των δεδομένων σε κάθε στάδιο, κάτι που μπορεί να οδηγήσει σε προβλήματα, όπως παραποίηση δεδομένων ή απώλεια προϊόντων. </a:t>
            </a:r>
          </a:p>
          <a:p>
            <a:pPr algn="just">
              <a:lnSpc>
                <a:spcPct val="150000"/>
              </a:lnSpc>
              <a:buNone/>
            </a:pPr>
            <a:r>
              <a:rPr lang="el-GR" sz="1050" dirty="0">
                <a:effectLst/>
                <a:latin typeface="Times New Roman" panose="02020603050405020304" pitchFamily="18" charset="0"/>
                <a:cs typeface="Times New Roman" panose="02020603050405020304" pitchFamily="18" charset="0"/>
              </a:rPr>
              <a:t>Στην </a:t>
            </a:r>
            <a:r>
              <a:rPr lang="el-GR" sz="1050" b="1" dirty="0">
                <a:effectLst/>
                <a:latin typeface="Times New Roman" panose="02020603050405020304" pitchFamily="18" charset="0"/>
                <a:cs typeface="Times New Roman" panose="02020603050405020304" pitchFamily="18" charset="0"/>
              </a:rPr>
              <a:t>κάτω εικόνα (</a:t>
            </a:r>
            <a:r>
              <a:rPr lang="el-GR" sz="1050" b="1" dirty="0">
                <a:effectLst/>
                <a:latin typeface="Times New Roman" panose="02020603050405020304" pitchFamily="18" charset="0"/>
                <a:ea typeface="Aptos" panose="020B0004020202020204" pitchFamily="34" charset="0"/>
                <a:cs typeface="Times New Roman" panose="02020603050405020304" pitchFamily="18" charset="0"/>
              </a:rPr>
              <a:t>παραδοσιακό μοντέλο),</a:t>
            </a:r>
            <a:r>
              <a:rPr lang="el-GR" sz="1050" dirty="0">
                <a:effectLst/>
                <a:latin typeface="Times New Roman" panose="02020603050405020304" pitchFamily="18" charset="0"/>
                <a:ea typeface="Aptos" panose="020B0004020202020204" pitchFamily="34" charset="0"/>
                <a:cs typeface="Times New Roman" panose="02020603050405020304" pitchFamily="18" charset="0"/>
              </a:rPr>
              <a:t> παρουσιάζεται η ροή της εφοδιαστικής αλυσίδας τροφίμων με τη χρήση μοναδικών ταυτοποιήσεων (</a:t>
            </a:r>
            <a:r>
              <a:rPr lang="en-US" sz="1050" dirty="0">
                <a:effectLst/>
                <a:latin typeface="Times New Roman" panose="02020603050405020304" pitchFamily="18" charset="0"/>
                <a:ea typeface="Aptos" panose="020B0004020202020204" pitchFamily="34" charset="0"/>
                <a:cs typeface="Times New Roman" panose="02020603050405020304" pitchFamily="18" charset="0"/>
              </a:rPr>
              <a:t>DID - Decentralized Identifiers</a:t>
            </a:r>
            <a:r>
              <a:rPr lang="el-GR" sz="1050" dirty="0">
                <a:effectLst/>
                <a:latin typeface="Times New Roman" panose="02020603050405020304" pitchFamily="18" charset="0"/>
                <a:ea typeface="Aptos" panose="020B0004020202020204" pitchFamily="34" charset="0"/>
                <a:cs typeface="Times New Roman" panose="02020603050405020304" pitchFamily="18" charset="0"/>
              </a:rPr>
              <a:t>) και επαληθεύσιμων διαπιστευτηρίων (</a:t>
            </a:r>
            <a:r>
              <a:rPr lang="en-US" sz="1050" dirty="0">
                <a:effectLst/>
                <a:latin typeface="Times New Roman" panose="02020603050405020304" pitchFamily="18" charset="0"/>
                <a:ea typeface="Aptos" panose="020B0004020202020204" pitchFamily="34" charset="0"/>
                <a:cs typeface="Times New Roman" panose="02020603050405020304" pitchFamily="18" charset="0"/>
              </a:rPr>
              <a:t>VCs - Verifiable Credentials</a:t>
            </a:r>
            <a:r>
              <a:rPr lang="el-GR" sz="1050" dirty="0">
                <a:effectLst/>
                <a:latin typeface="Times New Roman" panose="02020603050405020304" pitchFamily="18" charset="0"/>
                <a:ea typeface="Aptos" panose="020B0004020202020204" pitchFamily="34" charset="0"/>
                <a:cs typeface="Times New Roman" panose="02020603050405020304" pitchFamily="18" charset="0"/>
              </a:rPr>
              <a:t>). Ξεκινά από τον παραγωγό, ο οποίος αναθέτει έναν μοναδικό κωδικό σε κάθε παρτίδα μήλων. Ο επιθεωρητής προσθέτει την πιστοποίηση βιολογικών προϊόντων. Ο επεξεργαστής επιβεβαιώνει την παραλαβή και αποστέλλει τα μήλα στον διανομέα. Ο διανομέας εκδίδει νέο VC με ημερομηνίες παραλαβής και αποστολής. Ο λιανοπωλητής ελέγχει την εγκυρότητα των VC και καταγράφει την ημερομηνία παραλαβής. Όλη η διαδικασία επιτρέπει πλήρη ιχνηλασιμότητα, ασφάλεια και διαφάνεια, μέσω διαδοχικών επαληθεύσεων</a:t>
            </a:r>
            <a:r>
              <a:rPr lang="el-GR" sz="1050" dirty="0">
                <a:effectLst/>
                <a:latin typeface="Times New Roman" panose="02020603050405020304" pitchFamily="18" charset="0"/>
                <a:cs typeface="Times New Roman" panose="02020603050405020304" pitchFamily="18" charset="0"/>
              </a:rPr>
              <a:t> </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Ένας DID είναι ένας μοναδικός, αποκεντρωμένος κωδικός που αναγνωρίζει ψηφιακά μια οντότητα (π.χ. προϊόν, άτομο, εταιρεία, συσκευή) χωρίς να εξαρτάται από κεντρική αρχή ή πάροχο ταυτότητας (όπως Google, Facebook κ.λπ.). Κάθε DID ανήκει στον κάτοχό του και μπορεί να συνδέεται με πιστοποιήσεις, </a:t>
            </a:r>
            <a:r>
              <a:rPr lang="en-US" sz="1050" dirty="0">
                <a:effectLst/>
                <a:latin typeface="Times New Roman" panose="02020603050405020304" pitchFamily="18" charset="0"/>
                <a:ea typeface="Times New Roman" panose="02020603050405020304" pitchFamily="18" charset="0"/>
                <a:cs typeface="Times New Roman" panose="02020603050405020304" pitchFamily="18" charset="0"/>
              </a:rPr>
              <a:t>credentials</a:t>
            </a:r>
            <a:r>
              <a:rPr lang="el-GR" sz="1050" dirty="0">
                <a:effectLst/>
                <a:latin typeface="Times New Roman" panose="02020603050405020304" pitchFamily="18" charset="0"/>
                <a:ea typeface="Times New Roman" panose="02020603050405020304" pitchFamily="18" charset="0"/>
                <a:cs typeface="Times New Roman" panose="02020603050405020304" pitchFamily="18" charset="0"/>
              </a:rPr>
              <a:t>, ιστορικά δεδομένα κ.ά. Στην εφοδιαστική αλυσίδα, κάθε παρτίδα προϊόντων μπορεί να έχει έναν DID ώστε να είναι ιχνηλατίσιμη σε κάθε στάδιο. Ένα VC είναι ένα ψηφιακό αποδεικτικό/πιστοποιητικό (όπως δίπλωμα, άδεια, βιολογική πιστοποίηση) που εκδίδεται από έναν αξιόπιστο φορέα (π.χ. ελεγκτής, οργανισμός), αποθηκεύεται από τον κάτοχο (π.χ. επιχείρηση ή προϊόν) και μπορεί να επαληθευτεί από τρίτους χωρίς να χρειάζεται να επικοινωνήσουν με τον εκδότη.</a:t>
            </a:r>
          </a:p>
          <a:p>
            <a:pPr algn="just">
              <a:lnSpc>
                <a:spcPct val="150000"/>
              </a:lnSpc>
              <a:buNone/>
            </a:pPr>
            <a:endParaRPr lang="el-GR" sz="1050" dirty="0">
              <a:latin typeface="Times New Roman" panose="02020603050405020304" pitchFamily="18" charset="0"/>
              <a:cs typeface="Times New Roman" panose="02020603050405020304" pitchFamily="18" charset="0"/>
            </a:endParaRPr>
          </a:p>
        </p:txBody>
      </p:sp>
      <p:sp>
        <p:nvSpPr>
          <p:cNvPr id="4" name="Θέση αριθμού διαφάνειας 3"/>
          <p:cNvSpPr>
            <a:spLocks noGrp="1"/>
          </p:cNvSpPr>
          <p:nvPr>
            <p:ph type="sldNum" sz="quarter" idx="5"/>
          </p:nvPr>
        </p:nvSpPr>
        <p:spPr/>
        <p:txBody>
          <a:bodyPr/>
          <a:lstStyle/>
          <a:p>
            <a:fld id="{E6D147F4-572F-4C38-B63E-6DFA53597243}" type="slidenum">
              <a:rPr lang="el-GR" smtClean="0"/>
              <a:t>20</a:t>
            </a:fld>
            <a:endParaRPr lang="el-GR"/>
          </a:p>
        </p:txBody>
      </p:sp>
    </p:spTree>
    <p:extLst>
      <p:ext uri="{BB962C8B-B14F-4D97-AF65-F5344CB8AC3E}">
        <p14:creationId xmlns:p14="http://schemas.microsoft.com/office/powerpoint/2010/main" val="2916411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7A1C0C1-1765-5872-B66F-CCEC933E5C07}"/>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5E0F814D-6578-72A1-89AA-3F31A9BB98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43D31797-4C69-D2A6-5D23-609EF0AC030B}"/>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5" name="Θέση υποσέλιδου 4">
            <a:extLst>
              <a:ext uri="{FF2B5EF4-FFF2-40B4-BE49-F238E27FC236}">
                <a16:creationId xmlns:a16="http://schemas.microsoft.com/office/drawing/2014/main" id="{1307CE6C-BE64-8F3C-A247-DF3FCB20A7F4}"/>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8FB89B1C-4945-79C4-110B-82216B7FAD94}"/>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790243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AB24A65-D4FE-44DC-B176-6F4BC4D53F35}"/>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9E23148E-55C6-2593-24FC-34E3978AE11F}"/>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87CC6019-45CA-7DF7-99E0-FB68E67FC27C}"/>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5" name="Θέση υποσέλιδου 4">
            <a:extLst>
              <a:ext uri="{FF2B5EF4-FFF2-40B4-BE49-F238E27FC236}">
                <a16:creationId xmlns:a16="http://schemas.microsoft.com/office/drawing/2014/main" id="{D49968B7-0712-0DDE-87C2-2F43FB8F73FA}"/>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D6215D3-1EAF-03A8-7238-31F4058EAFC6}"/>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2334499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41A8C12-EA83-2844-9B33-C864C7FD0E49}"/>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D68A1B14-5FD7-188A-6A0E-35B4992F10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3E2EE38F-5A62-8F35-2CBA-5E285910DC19}"/>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5" name="Θέση υποσέλιδου 4">
            <a:extLst>
              <a:ext uri="{FF2B5EF4-FFF2-40B4-BE49-F238E27FC236}">
                <a16:creationId xmlns:a16="http://schemas.microsoft.com/office/drawing/2014/main" id="{DEAD90BF-E7B2-F512-F57E-FB067F820F55}"/>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B3D99742-6B1C-35F5-2239-E5A6E8EFD48F}"/>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1088210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6C7777B-6707-2889-60F1-E26924CFA32E}"/>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5C8E2218-0C13-6779-34D6-C581B078450A}"/>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54B387A2-AAB0-4A23-52FA-B9E80255CB8F}"/>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1298C954-DC49-E875-656F-79602CA8A2C9}"/>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6" name="Θέση υποσέλιδου 5">
            <a:extLst>
              <a:ext uri="{FF2B5EF4-FFF2-40B4-BE49-F238E27FC236}">
                <a16:creationId xmlns:a16="http://schemas.microsoft.com/office/drawing/2014/main" id="{6A8DD3CA-1347-4C75-C739-4F1F511E3B51}"/>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232074AA-A2D2-0EA9-F03B-C169A422D0E2}"/>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3930612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D86A512-62B5-B370-B5F8-221C71FCAAA5}"/>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E0FDFEC9-2C54-0702-C3A8-C59A4085E2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054B3C06-20F2-CE2B-7A8A-D6FA02895948}"/>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8B944377-FEC2-76A6-44B6-A47FDCCA9F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91870992-8F35-BB48-952A-E8672B1AFF64}"/>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B3423B2C-E7F8-782E-8611-241A37B77BB5}"/>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8" name="Θέση υποσέλιδου 7">
            <a:extLst>
              <a:ext uri="{FF2B5EF4-FFF2-40B4-BE49-F238E27FC236}">
                <a16:creationId xmlns:a16="http://schemas.microsoft.com/office/drawing/2014/main" id="{E053BF91-35E1-0030-F8AA-411B11E5C9BF}"/>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4D2098FB-10BC-CE32-DEF7-3EA105132150}"/>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3390929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A8FAD4E9-6DF1-9ED0-9B76-45A51A5FC584}"/>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56F38C2D-EE0B-4CA3-CB72-AD235DAAEB39}"/>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4" name="Θέση υποσέλιδου 3">
            <a:extLst>
              <a:ext uri="{FF2B5EF4-FFF2-40B4-BE49-F238E27FC236}">
                <a16:creationId xmlns:a16="http://schemas.microsoft.com/office/drawing/2014/main" id="{728C113D-D3EA-BC00-5567-DBA335D707F9}"/>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20DE8360-A25D-E1F9-F880-B027900FBD44}"/>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2690772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7EAC6B34-2704-C887-9943-15373FF559D4}"/>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3" name="Θέση υποσέλιδου 2">
            <a:extLst>
              <a:ext uri="{FF2B5EF4-FFF2-40B4-BE49-F238E27FC236}">
                <a16:creationId xmlns:a16="http://schemas.microsoft.com/office/drawing/2014/main" id="{DDD3A4A9-E681-ACA4-3E9E-7F71D278AD4B}"/>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5900D1F7-574D-BA8B-CA33-7C7220317FB7}"/>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278195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8C1B8DC-6426-7848-9B2A-7FE8D41B2E72}"/>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74FE5CAC-3B72-0CCB-6EEC-70D6004B9A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56FA56AA-DDD8-ED98-3CF3-F6744D9305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090D9F59-0571-193A-4DBE-85753F779672}"/>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6" name="Θέση υποσέλιδου 5">
            <a:extLst>
              <a:ext uri="{FF2B5EF4-FFF2-40B4-BE49-F238E27FC236}">
                <a16:creationId xmlns:a16="http://schemas.microsoft.com/office/drawing/2014/main" id="{1EE54CFE-BBE0-3DE0-D7F8-624F35FCD81C}"/>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3F77623C-12E7-4E11-AA20-457FD3A93E7C}"/>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38951308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6DD0399-AFC2-A82D-AD1B-8E163BA31EAB}"/>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7D6CAACA-FA1F-81F7-6C0A-4308F1AD6A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D2C871DF-F56B-6BA7-1769-50B9D1F7F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51DF881B-D489-03F1-0CEB-F3931CBE2F16}"/>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6" name="Θέση υποσέλιδου 5">
            <a:extLst>
              <a:ext uri="{FF2B5EF4-FFF2-40B4-BE49-F238E27FC236}">
                <a16:creationId xmlns:a16="http://schemas.microsoft.com/office/drawing/2014/main" id="{C5136FCD-3C9E-4F22-6D1E-4340E186905A}"/>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794AC405-3346-060F-88FC-1840EEEA5648}"/>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1201895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D635FF0-3365-E2C9-88AA-0003E29FB035}"/>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BC640452-F0B4-A50D-2A84-C9A9D79D2093}"/>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4658E8DA-3392-A78F-5B39-4D5AFE15F3E4}"/>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5" name="Θέση υποσέλιδου 4">
            <a:extLst>
              <a:ext uri="{FF2B5EF4-FFF2-40B4-BE49-F238E27FC236}">
                <a16:creationId xmlns:a16="http://schemas.microsoft.com/office/drawing/2014/main" id="{B644203E-8B43-78BD-60E4-9F723698D956}"/>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B8350CDF-6AB9-9640-A630-67756DEAF1CF}"/>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1794275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51F11968-F5C1-FF86-C423-28B21EE45562}"/>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816EC675-A4D9-A54E-FF4F-37057795C9A7}"/>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230B1028-86E7-CE64-1011-0A67EFC94870}"/>
              </a:ext>
            </a:extLst>
          </p:cNvPr>
          <p:cNvSpPr>
            <a:spLocks noGrp="1"/>
          </p:cNvSpPr>
          <p:nvPr>
            <p:ph type="dt" sz="half" idx="10"/>
          </p:nvPr>
        </p:nvSpPr>
        <p:spPr/>
        <p:txBody>
          <a:bodyPr/>
          <a:lstStyle/>
          <a:p>
            <a:fld id="{A7F7747C-F7A6-4286-9E5B-C437123AA1C7}" type="datetimeFigureOut">
              <a:rPr lang="el-GR" smtClean="0"/>
              <a:t>5/11/2025</a:t>
            </a:fld>
            <a:endParaRPr lang="el-GR"/>
          </a:p>
        </p:txBody>
      </p:sp>
      <p:sp>
        <p:nvSpPr>
          <p:cNvPr id="5" name="Θέση υποσέλιδου 4">
            <a:extLst>
              <a:ext uri="{FF2B5EF4-FFF2-40B4-BE49-F238E27FC236}">
                <a16:creationId xmlns:a16="http://schemas.microsoft.com/office/drawing/2014/main" id="{10B1CC44-1D00-5BEC-6CE7-05FD291F833F}"/>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2C4B9330-EFC4-2ADF-5415-F584C3D422F2}"/>
              </a:ext>
            </a:extLst>
          </p:cNvPr>
          <p:cNvSpPr>
            <a:spLocks noGrp="1"/>
          </p:cNvSpPr>
          <p:nvPr>
            <p:ph type="sldNum" sz="quarter" idx="12"/>
          </p:nvPr>
        </p:nvSpPr>
        <p:spPr/>
        <p:txBody>
          <a:bodyPr/>
          <a:lstStyle/>
          <a:p>
            <a:fld id="{D24474A5-7438-48A6-9615-D25E5B04523D}" type="slidenum">
              <a:rPr lang="el-GR" smtClean="0"/>
              <a:t>‹#›</a:t>
            </a:fld>
            <a:endParaRPr lang="el-GR"/>
          </a:p>
        </p:txBody>
      </p:sp>
    </p:spTree>
    <p:extLst>
      <p:ext uri="{BB962C8B-B14F-4D97-AF65-F5344CB8AC3E}">
        <p14:creationId xmlns:p14="http://schemas.microsoft.com/office/powerpoint/2010/main" val="2589379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3DE02EFC-0455-21F0-08BC-C50271DADD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70B69D45-507F-2259-45B8-F74C7EC9D1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59548654-8D23-9E1A-D189-392F323AA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7747C-F7A6-4286-9E5B-C437123AA1C7}" type="datetimeFigureOut">
              <a:rPr lang="el-GR" smtClean="0"/>
              <a:t>5/11/2025</a:t>
            </a:fld>
            <a:endParaRPr lang="el-GR"/>
          </a:p>
        </p:txBody>
      </p:sp>
      <p:sp>
        <p:nvSpPr>
          <p:cNvPr id="5" name="Θέση υποσέλιδου 4">
            <a:extLst>
              <a:ext uri="{FF2B5EF4-FFF2-40B4-BE49-F238E27FC236}">
                <a16:creationId xmlns:a16="http://schemas.microsoft.com/office/drawing/2014/main" id="{02005184-AA64-3237-346B-8026892025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71CC3314-FF9B-BFB6-F98A-CC8844FE89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4474A5-7438-48A6-9615-D25E5B04523D}" type="slidenum">
              <a:rPr lang="el-GR" smtClean="0"/>
              <a:t>‹#›</a:t>
            </a:fld>
            <a:endParaRPr lang="el-GR"/>
          </a:p>
        </p:txBody>
      </p:sp>
    </p:spTree>
    <p:extLst>
      <p:ext uri="{BB962C8B-B14F-4D97-AF65-F5344CB8AC3E}">
        <p14:creationId xmlns:p14="http://schemas.microsoft.com/office/powerpoint/2010/main" val="2622610690"/>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Εικόνα που περιέχει κύκλος, πολυχρωμία, δίνη, φως&#10;&#10;Περιγραφή που δημιουργήθηκε αυτόματα">
            <a:extLst>
              <a:ext uri="{FF2B5EF4-FFF2-40B4-BE49-F238E27FC236}">
                <a16:creationId xmlns:a16="http://schemas.microsoft.com/office/drawing/2014/main" id="{05EA53F6-E840-86E6-1B01-8F529C72F1A2}"/>
              </a:ext>
            </a:extLst>
          </p:cNvPr>
          <p:cNvPicPr>
            <a:picLocks noChangeAspect="1"/>
          </p:cNvPicPr>
          <p:nvPr/>
        </p:nvPicPr>
        <p:blipFill rotWithShape="1">
          <a:blip r:embed="rId3">
            <a:alphaModFix amt="35000"/>
          </a:blip>
          <a:srcRect t="13776" b="27783"/>
          <a:stretch/>
        </p:blipFill>
        <p:spPr>
          <a:xfrm>
            <a:off x="20" y="1"/>
            <a:ext cx="12191980" cy="6857999"/>
          </a:xfrm>
          <a:prstGeom prst="rect">
            <a:avLst/>
          </a:prstGeom>
        </p:spPr>
      </p:pic>
      <p:sp>
        <p:nvSpPr>
          <p:cNvPr id="2" name="Τίτλος 1">
            <a:extLst>
              <a:ext uri="{FF2B5EF4-FFF2-40B4-BE49-F238E27FC236}">
                <a16:creationId xmlns:a16="http://schemas.microsoft.com/office/drawing/2014/main" id="{3A830DFB-205B-8A3A-805D-6383FC725C0B}"/>
              </a:ext>
            </a:extLst>
          </p:cNvPr>
          <p:cNvSpPr>
            <a:spLocks noGrp="1"/>
          </p:cNvSpPr>
          <p:nvPr>
            <p:ph type="ctrTitle"/>
          </p:nvPr>
        </p:nvSpPr>
        <p:spPr>
          <a:xfrm>
            <a:off x="838199" y="1065862"/>
            <a:ext cx="6052955" cy="4726276"/>
          </a:xfrm>
        </p:spPr>
        <p:txBody>
          <a:bodyPr vert="horz" lIns="91440" tIns="45720" rIns="91440" bIns="45720" rtlCol="0" anchor="ctr">
            <a:normAutofit/>
          </a:bodyPr>
          <a:lstStyle/>
          <a:p>
            <a:pPr algn="r"/>
            <a:r>
              <a:rPr lang="en-US" sz="6800" b="1">
                <a:ln w="22225">
                  <a:solidFill>
                    <a:srgbClr val="FFFFFF"/>
                  </a:solidFill>
                </a:ln>
                <a:noFill/>
                <a:effectLst>
                  <a:outerShdw blurRad="38100" dist="38100" dir="2700000" algn="tl">
                    <a:srgbClr val="000000">
                      <a:alpha val="43137"/>
                    </a:srgbClr>
                  </a:outerShdw>
                </a:effectLst>
              </a:rPr>
              <a:t>Εργασία στα Εφαρμοσμένα Πληροφοριακά Συστήματα ΙΙ</a:t>
            </a:r>
            <a:endParaRPr lang="en-US" sz="6800">
              <a:ln w="22225">
                <a:solidFill>
                  <a:srgbClr val="FFFFFF"/>
                </a:solidFill>
              </a:ln>
              <a:noFill/>
            </a:endParaRPr>
          </a:p>
        </p:txBody>
      </p:sp>
      <p:cxnSp>
        <p:nvCxnSpPr>
          <p:cNvPr id="18" name="Straight Connector 17">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Υπότιτλος 2">
            <a:extLst>
              <a:ext uri="{FF2B5EF4-FFF2-40B4-BE49-F238E27FC236}">
                <a16:creationId xmlns:a16="http://schemas.microsoft.com/office/drawing/2014/main" id="{BEC8EE31-0E6A-6207-FCD1-BA97250F6C3A}"/>
              </a:ext>
            </a:extLst>
          </p:cNvPr>
          <p:cNvSpPr>
            <a:spLocks noGrp="1"/>
          </p:cNvSpPr>
          <p:nvPr>
            <p:ph type="subTitle" idx="1"/>
          </p:nvPr>
        </p:nvSpPr>
        <p:spPr>
          <a:xfrm>
            <a:off x="7375493" y="1065862"/>
            <a:ext cx="4692576" cy="4726276"/>
          </a:xfrm>
        </p:spPr>
        <p:txBody>
          <a:bodyPr vert="horz" lIns="91440" tIns="45720" rIns="91440" bIns="45720" rtlCol="0" anchor="ctr">
            <a:noAutofit/>
          </a:bodyPr>
          <a:lstStyle/>
          <a:p>
            <a:r>
              <a:rPr lang="el-GR" sz="2800" b="1" noProof="0" dirty="0">
                <a:solidFill>
                  <a:srgbClr val="FFFFFF"/>
                </a:solidFill>
                <a:effectLst>
                  <a:outerShdw blurRad="38100" dist="38100" dir="2700000" algn="tl">
                    <a:srgbClr val="000000">
                      <a:alpha val="43137"/>
                    </a:srgbClr>
                  </a:outerShdw>
                </a:effectLst>
              </a:rPr>
              <a:t>Θέμα</a:t>
            </a:r>
            <a:r>
              <a:rPr lang="en-US" sz="2800" b="1" dirty="0">
                <a:solidFill>
                  <a:srgbClr val="FFFFFF"/>
                </a:solidFill>
                <a:effectLst>
                  <a:outerShdw blurRad="38100" dist="38100" dir="2700000" algn="tl">
                    <a:srgbClr val="000000">
                      <a:alpha val="43137"/>
                    </a:srgbClr>
                  </a:outerShdw>
                </a:effectLst>
              </a:rPr>
              <a:t> εργασίας: Αξιοποίηση </a:t>
            </a:r>
            <a:r>
              <a:rPr lang="el-GR" sz="2800" b="1" dirty="0">
                <a:solidFill>
                  <a:srgbClr val="FFFFFF"/>
                </a:solidFill>
                <a:effectLst>
                  <a:outerShdw blurRad="38100" dist="38100" dir="2700000" algn="tl">
                    <a:srgbClr val="000000">
                      <a:alpha val="43137"/>
                    </a:srgbClr>
                  </a:outerShdw>
                </a:effectLst>
              </a:rPr>
              <a:t>της</a:t>
            </a:r>
            <a:r>
              <a:rPr lang="en-US" sz="2800" b="1" dirty="0">
                <a:solidFill>
                  <a:srgbClr val="FFFFFF"/>
                </a:solidFill>
                <a:effectLst>
                  <a:outerShdw blurRad="38100" dist="38100" dir="2700000" algn="tl">
                    <a:srgbClr val="000000">
                      <a:alpha val="43137"/>
                    </a:srgbClr>
                  </a:outerShdw>
                </a:effectLst>
              </a:rPr>
              <a:t> ΤΝ στη διαχείριση εφοδιαστικής αλυσίδας (SCM)</a:t>
            </a:r>
          </a:p>
          <a:p>
            <a:pPr indent="-228600">
              <a:buFont typeface="Arial" panose="020B0604020202020204" pitchFamily="34" charset="0"/>
              <a:buChar char="•"/>
            </a:pPr>
            <a:endParaRPr lang="en-US" sz="2800" b="1" dirty="0">
              <a:solidFill>
                <a:srgbClr val="FFFFFF"/>
              </a:solidFill>
              <a:effectLst>
                <a:outerShdw blurRad="38100" dist="38100" dir="2700000" algn="tl">
                  <a:srgbClr val="000000">
                    <a:alpha val="43137"/>
                  </a:srgbClr>
                </a:outerShdw>
              </a:effectLst>
            </a:endParaRPr>
          </a:p>
          <a:p>
            <a:pPr indent="-228600">
              <a:buFont typeface="Arial" panose="020B0604020202020204" pitchFamily="34" charset="0"/>
              <a:buChar char="•"/>
            </a:pPr>
            <a:r>
              <a:rPr lang="en-US" sz="2800" b="1" dirty="0">
                <a:solidFill>
                  <a:srgbClr val="FFFFFF"/>
                </a:solidFill>
              </a:rPr>
              <a:t>Μπα</a:t>
            </a:r>
            <a:r>
              <a:rPr lang="en-US" sz="2800" b="1" dirty="0" err="1">
                <a:solidFill>
                  <a:srgbClr val="FFFFFF"/>
                </a:solidFill>
              </a:rPr>
              <a:t>λής</a:t>
            </a:r>
            <a:r>
              <a:rPr lang="en-US" sz="2800" b="1" dirty="0">
                <a:solidFill>
                  <a:srgbClr val="FFFFFF"/>
                </a:solidFill>
              </a:rPr>
              <a:t> Γεώργιος </a:t>
            </a:r>
            <a:br>
              <a:rPr lang="el-GR" sz="2800" b="1" dirty="0">
                <a:solidFill>
                  <a:srgbClr val="FFFFFF"/>
                </a:solidFill>
              </a:rPr>
            </a:br>
            <a:r>
              <a:rPr lang="en-US" sz="2800" b="1" dirty="0">
                <a:solidFill>
                  <a:srgbClr val="FFFFFF"/>
                </a:solidFill>
              </a:rPr>
              <a:t>(ΑΜ 1040996)</a:t>
            </a:r>
            <a:endParaRPr lang="en-US" sz="2800" dirty="0">
              <a:solidFill>
                <a:srgbClr val="FFFFFF"/>
              </a:solidFill>
            </a:endParaRPr>
          </a:p>
          <a:p>
            <a:pPr indent="-228600">
              <a:buFont typeface="Arial" panose="020B0604020202020204" pitchFamily="34" charset="0"/>
              <a:buChar char="•"/>
            </a:pPr>
            <a:r>
              <a:rPr lang="en-US" sz="2800" b="1" dirty="0">
                <a:solidFill>
                  <a:srgbClr val="FFFFFF"/>
                </a:solidFill>
                <a:effectLst>
                  <a:outerShdw blurRad="38100" dist="38100" dir="2700000" algn="tl">
                    <a:srgbClr val="000000">
                      <a:alpha val="43137"/>
                    </a:srgbClr>
                  </a:outerShdw>
                </a:effectLst>
              </a:rPr>
              <a:t>Καπ</a:t>
            </a:r>
            <a:r>
              <a:rPr lang="en-US" sz="2800" b="1" dirty="0" err="1">
                <a:solidFill>
                  <a:srgbClr val="FFFFFF"/>
                </a:solidFill>
                <a:effectLst>
                  <a:outerShdw blurRad="38100" dist="38100" dir="2700000" algn="tl">
                    <a:srgbClr val="000000">
                      <a:alpha val="43137"/>
                    </a:srgbClr>
                  </a:outerShdw>
                </a:effectLst>
              </a:rPr>
              <a:t>ελλάκη</a:t>
            </a:r>
            <a:r>
              <a:rPr lang="en-US" sz="2800" b="1" dirty="0">
                <a:solidFill>
                  <a:srgbClr val="FFFFFF"/>
                </a:solidFill>
                <a:effectLst>
                  <a:outerShdw blurRad="38100" dist="38100" dir="2700000" algn="tl">
                    <a:srgbClr val="000000">
                      <a:alpha val="43137"/>
                    </a:srgbClr>
                  </a:outerShdw>
                </a:effectLst>
              </a:rPr>
              <a:t> </a:t>
            </a:r>
            <a:r>
              <a:rPr lang="en-US" sz="2800" b="1" dirty="0" err="1">
                <a:solidFill>
                  <a:srgbClr val="FFFFFF"/>
                </a:solidFill>
                <a:effectLst>
                  <a:outerShdw blurRad="38100" dist="38100" dir="2700000" algn="tl">
                    <a:srgbClr val="000000">
                      <a:alpha val="43137"/>
                    </a:srgbClr>
                  </a:outerShdw>
                </a:effectLst>
              </a:rPr>
              <a:t>Αν</a:t>
            </a:r>
            <a:r>
              <a:rPr lang="en-US" sz="2800" b="1" dirty="0">
                <a:solidFill>
                  <a:srgbClr val="FFFFFF"/>
                </a:solidFill>
                <a:effectLst>
                  <a:outerShdw blurRad="38100" dist="38100" dir="2700000" algn="tl">
                    <a:srgbClr val="000000">
                      <a:alpha val="43137"/>
                    </a:srgbClr>
                  </a:outerShdw>
                </a:effectLst>
              </a:rPr>
              <a:t>αστασία </a:t>
            </a:r>
            <a:br>
              <a:rPr lang="el-GR" sz="2800" b="1" dirty="0">
                <a:solidFill>
                  <a:srgbClr val="FFFFFF"/>
                </a:solidFill>
                <a:effectLst>
                  <a:outerShdw blurRad="38100" dist="38100" dir="2700000" algn="tl">
                    <a:srgbClr val="000000">
                      <a:alpha val="43137"/>
                    </a:srgbClr>
                  </a:outerShdw>
                </a:effectLst>
              </a:rPr>
            </a:br>
            <a:r>
              <a:rPr lang="en-US" sz="2800" b="1" dirty="0">
                <a:solidFill>
                  <a:srgbClr val="FFFFFF"/>
                </a:solidFill>
                <a:effectLst>
                  <a:outerShdw blurRad="38100" dist="38100" dir="2700000" algn="tl">
                    <a:srgbClr val="000000">
                      <a:alpha val="43137"/>
                    </a:srgbClr>
                  </a:outerShdw>
                </a:effectLst>
              </a:rPr>
              <a:t>(ΑΜ 1072492) </a:t>
            </a:r>
          </a:p>
          <a:p>
            <a:pPr indent="-228600">
              <a:buFont typeface="Arial" panose="020B0604020202020204" pitchFamily="34" charset="0"/>
              <a:buChar char="•"/>
            </a:pPr>
            <a:r>
              <a:rPr lang="en-US" sz="2800" b="1">
                <a:solidFill>
                  <a:srgbClr val="FFFFFF"/>
                </a:solidFill>
              </a:rPr>
              <a:t>Κα</a:t>
            </a:r>
            <a:r>
              <a:rPr lang="en-US" sz="2800" b="1" dirty="0" err="1">
                <a:solidFill>
                  <a:srgbClr val="FFFFFF"/>
                </a:solidFill>
              </a:rPr>
              <a:t>λδίρης</a:t>
            </a:r>
            <a:r>
              <a:rPr lang="en-US" sz="2800" b="1" dirty="0">
                <a:solidFill>
                  <a:srgbClr val="FFFFFF"/>
                </a:solidFill>
              </a:rPr>
              <a:t> Ιωάννης </a:t>
            </a:r>
            <a:br>
              <a:rPr lang="el-GR" sz="2800" b="1" dirty="0">
                <a:solidFill>
                  <a:srgbClr val="FFFFFF"/>
                </a:solidFill>
              </a:rPr>
            </a:br>
            <a:r>
              <a:rPr lang="en-US" sz="2800" b="1" dirty="0">
                <a:solidFill>
                  <a:srgbClr val="FFFFFF"/>
                </a:solidFill>
              </a:rPr>
              <a:t>(ΑΜ 1080428)</a:t>
            </a:r>
            <a:r>
              <a:rPr lang="en-US" sz="2800" dirty="0">
                <a:solidFill>
                  <a:srgbClr val="FFFFFF"/>
                </a:solidFill>
              </a:rPr>
              <a:t> </a:t>
            </a:r>
          </a:p>
        </p:txBody>
      </p:sp>
    </p:spTree>
    <p:extLst>
      <p:ext uri="{BB962C8B-B14F-4D97-AF65-F5344CB8AC3E}">
        <p14:creationId xmlns:p14="http://schemas.microsoft.com/office/powerpoint/2010/main" val="23270817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4" presetClass="entr" presetSubtype="10" fill="hold" grpId="0" nodeType="afterEffect">
                                  <p:stCondLst>
                                    <p:cond delay="100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1" dur="75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4" presetClass="entr" presetSubtype="10" fill="hold" grpId="0" nodeType="clickEffect">
                                  <p:stCondLst>
                                    <p:cond delay="100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6" dur="750"/>
                                        <p:tgtEl>
                                          <p:spTgt spid="3">
                                            <p:txEl>
                                              <p:pRg st="2" end="2"/>
                                            </p:txEl>
                                          </p:spTgt>
                                        </p:tgtEl>
                                      </p:cBhvr>
                                    </p:animEffect>
                                  </p:childTnLst>
                                </p:cTn>
                              </p:par>
                            </p:childTnLst>
                          </p:cTn>
                        </p:par>
                        <p:par>
                          <p:cTn id="17" fill="hold">
                            <p:stCondLst>
                              <p:cond delay="1750"/>
                            </p:stCondLst>
                            <p:childTnLst>
                              <p:par>
                                <p:cTn id="18" presetID="14" presetClass="entr" presetSubtype="10" fill="hold" grpId="0" nodeType="afterEffect">
                                  <p:stCondLst>
                                    <p:cond delay="100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0" dur="750"/>
                                        <p:tgtEl>
                                          <p:spTgt spid="3">
                                            <p:txEl>
                                              <p:pRg st="3" end="3"/>
                                            </p:txEl>
                                          </p:spTgt>
                                        </p:tgtEl>
                                      </p:cBhvr>
                                    </p:animEffect>
                                  </p:childTnLst>
                                </p:cTn>
                              </p:par>
                            </p:childTnLst>
                          </p:cTn>
                        </p:par>
                        <p:par>
                          <p:cTn id="21" fill="hold">
                            <p:stCondLst>
                              <p:cond delay="3500"/>
                            </p:stCondLst>
                            <p:childTnLst>
                              <p:par>
                                <p:cTn id="22" presetID="14" presetClass="entr" presetSubtype="10" fill="hold" grpId="0" nodeType="afterEffect">
                                  <p:stCondLst>
                                    <p:cond delay="100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4" dur="7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Τίτλος 1">
            <a:extLst>
              <a:ext uri="{FF2B5EF4-FFF2-40B4-BE49-F238E27FC236}">
                <a16:creationId xmlns:a16="http://schemas.microsoft.com/office/drawing/2014/main" id="{B3E699AD-8BD5-8D88-03C3-A8502A90E8B2}"/>
              </a:ext>
            </a:extLst>
          </p:cNvPr>
          <p:cNvSpPr>
            <a:spLocks noGrp="1"/>
          </p:cNvSpPr>
          <p:nvPr>
            <p:ph type="title"/>
          </p:nvPr>
        </p:nvSpPr>
        <p:spPr>
          <a:xfrm>
            <a:off x="211015" y="80387"/>
            <a:ext cx="11686233" cy="1146207"/>
          </a:xfrm>
        </p:spPr>
        <p:txBody>
          <a:bodyPr anchor="ctr">
            <a:normAutofit/>
          </a:bodyPr>
          <a:lstStyle/>
          <a:p>
            <a:pPr algn="ctr"/>
            <a:r>
              <a:rPr lang="el-GR" sz="3600" b="1" dirty="0">
                <a:solidFill>
                  <a:srgbClr val="FFFFFF"/>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Προβλήματα σχετιζόμενα με την εφοδιαστική αλυσίδα (Ι)</a:t>
            </a:r>
            <a:endParaRPr lang="el-GR" sz="36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2" name="Θέση περιεχομένου 2">
            <a:extLst>
              <a:ext uri="{FF2B5EF4-FFF2-40B4-BE49-F238E27FC236}">
                <a16:creationId xmlns:a16="http://schemas.microsoft.com/office/drawing/2014/main" id="{4C80020B-9CC0-DDAE-33F3-C628A044F0DA}"/>
              </a:ext>
            </a:extLst>
          </p:cNvPr>
          <p:cNvGraphicFramePr>
            <a:graphicFrameLocks noGrp="1"/>
          </p:cNvGraphicFramePr>
          <p:nvPr>
            <p:ph idx="1"/>
            <p:extLst>
              <p:ext uri="{D42A27DB-BD31-4B8C-83A1-F6EECF244321}">
                <p14:modId xmlns:p14="http://schemas.microsoft.com/office/powerpoint/2010/main" val="2730023127"/>
              </p:ext>
            </p:extLst>
          </p:nvPr>
        </p:nvGraphicFramePr>
        <p:xfrm>
          <a:off x="0" y="1575460"/>
          <a:ext cx="12108264" cy="52825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4801427"/>
      </p:ext>
    </p:extLst>
  </p:cSld>
  <p:clrMapOvr>
    <a:masterClrMapping/>
  </p:clrMapOvr>
  <mc:AlternateContent xmlns:mc="http://schemas.openxmlformats.org/markup-compatibility/2006" xmlns:p14="http://schemas.microsoft.com/office/powerpoint/2010/main">
    <mc:Choice Requires="p14">
      <p:transition spd="slow" p14:dur="1750">
        <p:circle/>
      </p:transition>
    </mc:Choice>
    <mc:Fallback xmlns="">
      <p:transition spd="slow">
        <p:circl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68304-86BE-492A-869E-5010C4B598B9}"/>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4746A885-ED84-CF54-FCBF-1A28762712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0D65D1AE-9A50-511F-7A11-8C7A2AC02D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9F96EEE9-36DA-F125-09F8-DFDF8D41F7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EC0DF8F-23F5-FF50-467B-E7E2FEB448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Τίτλος 1">
            <a:extLst>
              <a:ext uri="{FF2B5EF4-FFF2-40B4-BE49-F238E27FC236}">
                <a16:creationId xmlns:a16="http://schemas.microsoft.com/office/drawing/2014/main" id="{678607FC-0524-999B-DDE3-3393A789D174}"/>
              </a:ext>
            </a:extLst>
          </p:cNvPr>
          <p:cNvSpPr>
            <a:spLocks noGrp="1"/>
          </p:cNvSpPr>
          <p:nvPr>
            <p:ph type="title"/>
          </p:nvPr>
        </p:nvSpPr>
        <p:spPr>
          <a:xfrm>
            <a:off x="211015" y="80387"/>
            <a:ext cx="11686233" cy="1146207"/>
          </a:xfrm>
        </p:spPr>
        <p:txBody>
          <a:bodyPr anchor="ctr">
            <a:normAutofit/>
          </a:bodyPr>
          <a:lstStyle/>
          <a:p>
            <a:pPr algn="ctr"/>
            <a:r>
              <a:rPr lang="el-GR" sz="3600" b="1" dirty="0">
                <a:solidFill>
                  <a:srgbClr val="FFFFFF"/>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Προβλήματα σχετιζόμενα με την εφοδιαστική αλυσίδα (Ι</a:t>
            </a:r>
            <a:r>
              <a:rPr lang="en-US" sz="3600" b="1" dirty="0">
                <a:solidFill>
                  <a:srgbClr val="FFFFFF"/>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I</a:t>
            </a:r>
            <a:r>
              <a:rPr lang="el-GR" sz="3600" b="1" dirty="0">
                <a:solidFill>
                  <a:srgbClr val="FFFFFF"/>
                </a:solidFill>
                <a:effectLst>
                  <a:outerShdw blurRad="38100" dist="38100" dir="2700000" algn="tl">
                    <a:srgbClr val="000000">
                      <a:alpha val="43137"/>
                    </a:srgbClr>
                  </a:outerShdw>
                </a:effectLst>
                <a:latin typeface="Times New Roman" panose="02020603050405020304" pitchFamily="18" charset="0"/>
                <a:ea typeface="Times New Roman" panose="02020603050405020304" pitchFamily="18" charset="0"/>
                <a:cs typeface="Times New Roman" panose="02020603050405020304" pitchFamily="18" charset="0"/>
              </a:rPr>
              <a:t>)</a:t>
            </a:r>
            <a:endParaRPr lang="el-GR" sz="36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aphicFrame>
        <p:nvGraphicFramePr>
          <p:cNvPr id="22" name="Θέση περιεχομένου 2">
            <a:extLst>
              <a:ext uri="{FF2B5EF4-FFF2-40B4-BE49-F238E27FC236}">
                <a16:creationId xmlns:a16="http://schemas.microsoft.com/office/drawing/2014/main" id="{47CBAFFB-104C-8475-33AF-A6F77982D682}"/>
              </a:ext>
            </a:extLst>
          </p:cNvPr>
          <p:cNvGraphicFramePr>
            <a:graphicFrameLocks noGrp="1"/>
          </p:cNvGraphicFramePr>
          <p:nvPr>
            <p:ph idx="1"/>
            <p:extLst>
              <p:ext uri="{D42A27DB-BD31-4B8C-83A1-F6EECF244321}">
                <p14:modId xmlns:p14="http://schemas.microsoft.com/office/powerpoint/2010/main" val="3063634139"/>
              </p:ext>
            </p:extLst>
          </p:nvPr>
        </p:nvGraphicFramePr>
        <p:xfrm>
          <a:off x="0" y="1575460"/>
          <a:ext cx="12108264" cy="52825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804610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75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Τίτλος 1">
            <a:extLst>
              <a:ext uri="{FF2B5EF4-FFF2-40B4-BE49-F238E27FC236}">
                <a16:creationId xmlns:a16="http://schemas.microsoft.com/office/drawing/2014/main" id="{6FC55A1F-0E97-A6B0-354A-C9E6945D9327}"/>
              </a:ext>
            </a:extLst>
          </p:cNvPr>
          <p:cNvSpPr>
            <a:spLocks noGrp="1"/>
          </p:cNvSpPr>
          <p:nvPr>
            <p:ph type="title"/>
          </p:nvPr>
        </p:nvSpPr>
        <p:spPr>
          <a:xfrm>
            <a:off x="84221" y="0"/>
            <a:ext cx="11943656" cy="1226595"/>
          </a:xfrm>
        </p:spPr>
        <p:txBody>
          <a:bodyPr anchor="ctr">
            <a:normAutofit/>
          </a:bodyPr>
          <a:lstStyle/>
          <a:p>
            <a:pPr algn="ctr"/>
            <a:r>
              <a:rPr lang="el-GR" sz="33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Αντιμετώπιση προκλήσεων εφοδιαστικής αλυσίδας με χρήση ΤΝ</a:t>
            </a:r>
          </a:p>
        </p:txBody>
      </p:sp>
      <p:graphicFrame>
        <p:nvGraphicFramePr>
          <p:cNvPr id="5" name="Θέση περιεχομένου 2">
            <a:extLst>
              <a:ext uri="{FF2B5EF4-FFF2-40B4-BE49-F238E27FC236}">
                <a16:creationId xmlns:a16="http://schemas.microsoft.com/office/drawing/2014/main" id="{6D3E2248-0686-CF30-551F-8FC216F5565E}"/>
              </a:ext>
            </a:extLst>
          </p:cNvPr>
          <p:cNvGraphicFramePr>
            <a:graphicFrameLocks noGrp="1"/>
          </p:cNvGraphicFramePr>
          <p:nvPr>
            <p:ph idx="1"/>
            <p:extLst>
              <p:ext uri="{D42A27DB-BD31-4B8C-83A1-F6EECF244321}">
                <p14:modId xmlns:p14="http://schemas.microsoft.com/office/powerpoint/2010/main" val="2151036006"/>
              </p:ext>
            </p:extLst>
          </p:nvPr>
        </p:nvGraphicFramePr>
        <p:xfrm>
          <a:off x="0" y="1718267"/>
          <a:ext cx="12027877" cy="50434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2165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0918EA4-B9FE-65BA-1FAD-5707CC28BAEA}"/>
            </a:ext>
          </a:extLst>
        </p:cNvPr>
        <p:cNvGrpSpPr/>
        <p:nvPr/>
      </p:nvGrpSpPr>
      <p:grpSpPr>
        <a:xfrm>
          <a:off x="0" y="0"/>
          <a:ext cx="0" cy="0"/>
          <a:chOff x="0" y="0"/>
          <a:chExt cx="0" cy="0"/>
        </a:xfrm>
      </p:grpSpPr>
      <p:sp useBgFill="1">
        <p:nvSpPr>
          <p:cNvPr id="20" name="Rectangle 11">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1FB5EB32-D605-C336-911D-17E67EC46978}"/>
              </a:ext>
            </a:extLst>
          </p:cNvPr>
          <p:cNvSpPr>
            <a:spLocks noGrp="1"/>
          </p:cNvSpPr>
          <p:nvPr>
            <p:ph type="title"/>
          </p:nvPr>
        </p:nvSpPr>
        <p:spPr>
          <a:xfrm>
            <a:off x="803499" y="2960716"/>
            <a:ext cx="4346645" cy="2387600"/>
          </a:xfrm>
        </p:spPr>
        <p:txBody>
          <a:bodyPr vert="horz" lIns="91440" tIns="45720" rIns="91440" bIns="45720" rtlCol="0" anchor="t">
            <a:normAutofit/>
          </a:bodyPr>
          <a:lstStyle/>
          <a:p>
            <a:pPr algn="ctr"/>
            <a:r>
              <a:rPr lang="el-GR" sz="3600" b="1" kern="1200" noProof="0" dirty="0">
                <a:solidFill>
                  <a:schemeClr val="tx1"/>
                </a:solidFill>
                <a:effectLst>
                  <a:outerShdw blurRad="38100" dist="38100" dir="2700000" algn="tl">
                    <a:srgbClr val="000000">
                      <a:alpha val="43137"/>
                    </a:srgbClr>
                  </a:outerShdw>
                </a:effectLst>
                <a:latin typeface="+mj-lt"/>
                <a:ea typeface="+mj-ea"/>
                <a:cs typeface="+mj-cs"/>
              </a:rPr>
              <a:t>Πλατφόρμες</a:t>
            </a:r>
            <a:r>
              <a:rPr lang="en-US" sz="3600" b="1" kern="1200" dirty="0">
                <a:solidFill>
                  <a:schemeClr val="tx1"/>
                </a:solidFill>
                <a:effectLst>
                  <a:outerShdw blurRad="38100" dist="38100" dir="2700000" algn="tl">
                    <a:srgbClr val="000000">
                      <a:alpha val="43137"/>
                    </a:srgbClr>
                  </a:outerShdw>
                </a:effectLst>
                <a:latin typeface="+mj-lt"/>
                <a:ea typeface="+mj-ea"/>
                <a:cs typeface="+mj-cs"/>
              </a:rPr>
              <a:t> και εργαλεία ΤΝ που ενσωματώνονται στην εφοδιαστική (Ι)</a:t>
            </a:r>
          </a:p>
        </p:txBody>
      </p:sp>
      <p:grpSp>
        <p:nvGrpSpPr>
          <p:cNvPr id="22"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Εικόνα 6" descr="Εικόνα που περιέχει κείμενο, στιγμιότυπο οθόνης, διάγραμμα, γραμμή&#10;&#10;Το περιεχόμενο που δημιουργείται από τεχνολογία AI ενδέχεται να είναι εσφαλμένο.">
            <a:extLst>
              <a:ext uri="{FF2B5EF4-FFF2-40B4-BE49-F238E27FC236}">
                <a16:creationId xmlns:a16="http://schemas.microsoft.com/office/drawing/2014/main" id="{7E3F9834-F233-EB12-4E8A-AEDCABE3EF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2492" y="795826"/>
            <a:ext cx="5536001" cy="5207594"/>
          </a:xfrm>
          <a:prstGeom prst="rect">
            <a:avLst/>
          </a:prstGeom>
        </p:spPr>
      </p:pic>
    </p:spTree>
    <p:extLst>
      <p:ext uri="{BB962C8B-B14F-4D97-AF65-F5344CB8AC3E}">
        <p14:creationId xmlns:p14="http://schemas.microsoft.com/office/powerpoint/2010/main" val="2416865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C10A150-A0CB-7655-ECDF-964ABEB427B0}"/>
              </a:ext>
            </a:extLst>
          </p:cNvPr>
          <p:cNvSpPr>
            <a:spLocks noGrp="1"/>
          </p:cNvSpPr>
          <p:nvPr>
            <p:ph type="title"/>
          </p:nvPr>
        </p:nvSpPr>
        <p:spPr>
          <a:xfrm>
            <a:off x="717884" y="18255"/>
            <a:ext cx="10515600" cy="1325563"/>
          </a:xfrm>
        </p:spPr>
        <p:txBody>
          <a:bodyPr>
            <a:normAutofit/>
          </a:bodyPr>
          <a:lstStyle/>
          <a:p>
            <a:pPr algn="ctr"/>
            <a:r>
              <a:rPr lang="el-GR" sz="4000" b="1" dirty="0">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Πλατφόρμες και εργαλεία ΤΝ που ενσωματώνονται στην εφοδιαστική (ΙΙ)</a:t>
            </a:r>
            <a:endParaRPr lang="el-GR" sz="8000" b="1" dirty="0">
              <a:effectLst>
                <a:outerShdw blurRad="38100" dist="38100" dir="2700000" algn="tl">
                  <a:srgbClr val="000000">
                    <a:alpha val="43137"/>
                  </a:srgbClr>
                </a:outerShdw>
              </a:effectLst>
            </a:endParaRPr>
          </a:p>
        </p:txBody>
      </p:sp>
      <p:sp>
        <p:nvSpPr>
          <p:cNvPr id="3" name="Θέση περιεχομένου 2">
            <a:extLst>
              <a:ext uri="{FF2B5EF4-FFF2-40B4-BE49-F238E27FC236}">
                <a16:creationId xmlns:a16="http://schemas.microsoft.com/office/drawing/2014/main" id="{AD80C537-8EA7-5D81-6E09-559A0D721040}"/>
              </a:ext>
            </a:extLst>
          </p:cNvPr>
          <p:cNvSpPr>
            <a:spLocks noGrp="1"/>
          </p:cNvSpPr>
          <p:nvPr>
            <p:ph idx="1"/>
          </p:nvPr>
        </p:nvSpPr>
        <p:spPr>
          <a:xfrm>
            <a:off x="164431" y="1512803"/>
            <a:ext cx="11863137" cy="4695492"/>
          </a:xfrm>
        </p:spPr>
        <p:txBody>
          <a:bodyPr>
            <a:noAutofit/>
          </a:bodyPr>
          <a:lstStyle/>
          <a:p>
            <a:pPr algn="just">
              <a:lnSpc>
                <a:spcPct val="100000"/>
              </a:lnSpc>
              <a:spcAft>
                <a:spcPts val="500"/>
              </a:spcAft>
            </a:pPr>
            <a:r>
              <a:rPr lang="el-GR" sz="2900" dirty="0">
                <a:effectLst/>
                <a:latin typeface="Times New Roman" panose="02020603050405020304" pitchFamily="18" charset="0"/>
                <a:ea typeface="Times New Roman" panose="02020603050405020304" pitchFamily="18" charset="0"/>
              </a:rPr>
              <a:t>Ένα από τα πιο αξιόλογα εργαλεία ΤΝ είναι το </a:t>
            </a:r>
            <a:r>
              <a:rPr lang="en-MY" sz="2900" b="1" dirty="0">
                <a:effectLst/>
                <a:latin typeface="Times New Roman" panose="02020603050405020304" pitchFamily="18" charset="0"/>
                <a:ea typeface="Times New Roman" panose="02020603050405020304" pitchFamily="18" charset="0"/>
              </a:rPr>
              <a:t>Kinaxis RapidResponse</a:t>
            </a:r>
            <a:r>
              <a:rPr lang="el-GR" sz="2900" dirty="0">
                <a:effectLst/>
                <a:latin typeface="Times New Roman" panose="02020603050405020304" pitchFamily="18" charset="0"/>
                <a:ea typeface="Times New Roman" panose="02020603050405020304" pitchFamily="18" charset="0"/>
              </a:rPr>
              <a:t>, μια πλατφόρμα που εστιάζει στον ταυτόχρονο σχεδιασμό και την ανάλυση σεναρίων. </a:t>
            </a:r>
          </a:p>
          <a:p>
            <a:pPr algn="just">
              <a:lnSpc>
                <a:spcPct val="100000"/>
              </a:lnSpc>
              <a:spcAft>
                <a:spcPts val="500"/>
              </a:spcAft>
            </a:pPr>
            <a:r>
              <a:rPr lang="el-GR" sz="2900" dirty="0">
                <a:effectLst/>
                <a:latin typeface="Times New Roman" panose="02020603050405020304" pitchFamily="18" charset="0"/>
                <a:ea typeface="Times New Roman" panose="02020603050405020304" pitchFamily="18" charset="0"/>
              </a:rPr>
              <a:t>Το </a:t>
            </a:r>
            <a:r>
              <a:rPr lang="el-GR" sz="2900" b="1" dirty="0">
                <a:solidFill>
                  <a:srgbClr val="002060"/>
                </a:solidFill>
                <a:effectLst/>
                <a:latin typeface="Times New Roman" panose="02020603050405020304" pitchFamily="18" charset="0"/>
                <a:ea typeface="Times New Roman" panose="02020603050405020304" pitchFamily="18" charset="0"/>
              </a:rPr>
              <a:t>RapidResponse</a:t>
            </a:r>
            <a:r>
              <a:rPr lang="el-GR" sz="2900" dirty="0">
                <a:effectLst/>
                <a:latin typeface="Times New Roman" panose="02020603050405020304" pitchFamily="18" charset="0"/>
                <a:ea typeface="Times New Roman" panose="02020603050405020304" pitchFamily="18" charset="0"/>
              </a:rPr>
              <a:t> επιτρέπει στις επιχειρήσεις να </a:t>
            </a:r>
            <a:r>
              <a:rPr lang="el-GR" sz="2900" b="1" dirty="0">
                <a:solidFill>
                  <a:schemeClr val="accent6">
                    <a:lumMod val="75000"/>
                  </a:schemeClr>
                </a:solidFill>
                <a:effectLst/>
                <a:latin typeface="Times New Roman" panose="02020603050405020304" pitchFamily="18" charset="0"/>
                <a:ea typeface="Times New Roman" panose="02020603050405020304" pitchFamily="18" charset="0"/>
              </a:rPr>
              <a:t>προσομοιώνουν</a:t>
            </a:r>
            <a:r>
              <a:rPr lang="el-GR" sz="2900" dirty="0">
                <a:effectLst/>
                <a:latin typeface="Times New Roman" panose="02020603050405020304" pitchFamily="18" charset="0"/>
                <a:ea typeface="Times New Roman" panose="02020603050405020304" pitchFamily="18" charset="0"/>
              </a:rPr>
              <a:t> διαφορετικά σενάρια εφοδιαστικής αλυσίδας, όπως αλλαγές στην παραγωγική ικανότητα ή διακυμάνσεις στις τιμές πρώτων υλών, και να </a:t>
            </a:r>
            <a:r>
              <a:rPr lang="el-GR" sz="2900" b="1" dirty="0">
                <a:solidFill>
                  <a:schemeClr val="accent6">
                    <a:lumMod val="75000"/>
                  </a:schemeClr>
                </a:solidFill>
                <a:effectLst/>
                <a:latin typeface="Times New Roman" panose="02020603050405020304" pitchFamily="18" charset="0"/>
                <a:ea typeface="Times New Roman" panose="02020603050405020304" pitchFamily="18" charset="0"/>
              </a:rPr>
              <a:t>λαμβάνουν</a:t>
            </a:r>
            <a:r>
              <a:rPr lang="el-GR" sz="2900" dirty="0">
                <a:effectLst/>
                <a:latin typeface="Times New Roman" panose="02020603050405020304" pitchFamily="18" charset="0"/>
                <a:ea typeface="Times New Roman" panose="02020603050405020304" pitchFamily="18" charset="0"/>
              </a:rPr>
              <a:t> αποφάσεις με βάση δεδομένα σε πραγματικό χρόνο. </a:t>
            </a:r>
          </a:p>
          <a:p>
            <a:pPr algn="just">
              <a:lnSpc>
                <a:spcPct val="100000"/>
              </a:lnSpc>
              <a:spcAft>
                <a:spcPts val="500"/>
              </a:spcAft>
            </a:pPr>
            <a:r>
              <a:rPr lang="el-GR" sz="2900" dirty="0">
                <a:effectLst/>
                <a:latin typeface="Times New Roman" panose="02020603050405020304" pitchFamily="18" charset="0"/>
                <a:ea typeface="Times New Roman" panose="02020603050405020304" pitchFamily="18" charset="0"/>
              </a:rPr>
              <a:t>Η πλατφόρμα χρησιμοποιεί τεχνικές ΤΝ για να </a:t>
            </a:r>
            <a:r>
              <a:rPr lang="el-GR" sz="2900" b="1" dirty="0">
                <a:solidFill>
                  <a:schemeClr val="accent6">
                    <a:lumMod val="75000"/>
                  </a:schemeClr>
                </a:solidFill>
                <a:effectLst/>
                <a:latin typeface="Times New Roman" panose="02020603050405020304" pitchFamily="18" charset="0"/>
                <a:ea typeface="Times New Roman" panose="02020603050405020304" pitchFamily="18" charset="0"/>
              </a:rPr>
              <a:t>εντοπίζει</a:t>
            </a:r>
            <a:r>
              <a:rPr lang="el-GR" sz="2900" dirty="0">
                <a:effectLst/>
                <a:latin typeface="Times New Roman" panose="02020603050405020304" pitchFamily="18" charset="0"/>
                <a:ea typeface="Times New Roman" panose="02020603050405020304" pitchFamily="18" charset="0"/>
              </a:rPr>
              <a:t> πιθανά σημεία συμφόρησης και να προτείνει λύσεις, όπως η ανακατανομή αποθεμάτων μεταξύ αποθηκών. </a:t>
            </a:r>
            <a:endParaRPr lang="el-GR" sz="2900" dirty="0"/>
          </a:p>
        </p:txBody>
      </p:sp>
    </p:spTree>
    <p:extLst>
      <p:ext uri="{BB962C8B-B14F-4D97-AF65-F5344CB8AC3E}">
        <p14:creationId xmlns:p14="http://schemas.microsoft.com/office/powerpoint/2010/main" val="2318024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6F0CE-9669-8C13-B73C-D48861B875EC}"/>
            </a:ext>
          </a:extLst>
        </p:cNvPr>
        <p:cNvGrpSpPr/>
        <p:nvPr/>
      </p:nvGrpSpPr>
      <p:grpSpPr>
        <a:xfrm>
          <a:off x="0" y="0"/>
          <a:ext cx="0" cy="0"/>
          <a:chOff x="0" y="0"/>
          <a:chExt cx="0" cy="0"/>
        </a:xfrm>
      </p:grpSpPr>
      <p:sp>
        <p:nvSpPr>
          <p:cNvPr id="2" name="Τίτλος 1">
            <a:extLst>
              <a:ext uri="{FF2B5EF4-FFF2-40B4-BE49-F238E27FC236}">
                <a16:creationId xmlns:a16="http://schemas.microsoft.com/office/drawing/2014/main" id="{7CF9620F-BAA7-4667-353C-6AD3BE1D115F}"/>
              </a:ext>
            </a:extLst>
          </p:cNvPr>
          <p:cNvSpPr>
            <a:spLocks noGrp="1"/>
          </p:cNvSpPr>
          <p:nvPr>
            <p:ph type="title"/>
          </p:nvPr>
        </p:nvSpPr>
        <p:spPr>
          <a:xfrm>
            <a:off x="717884" y="18255"/>
            <a:ext cx="10515600" cy="1325563"/>
          </a:xfrm>
        </p:spPr>
        <p:txBody>
          <a:bodyPr>
            <a:normAutofit/>
          </a:bodyPr>
          <a:lstStyle/>
          <a:p>
            <a:pPr algn="ctr"/>
            <a:r>
              <a:rPr lang="el-GR" b="1" dirty="0">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Πλατφόρμες και εργαλεία ΤΝ που ενσωματώνονται στην εφοδιαστική (ΙΙΙ)</a:t>
            </a:r>
            <a:endParaRPr lang="el-GR" sz="8800" b="1" dirty="0">
              <a:effectLst>
                <a:outerShdw blurRad="38100" dist="38100" dir="2700000" algn="tl">
                  <a:srgbClr val="000000">
                    <a:alpha val="43137"/>
                  </a:srgbClr>
                </a:outerShdw>
              </a:effectLst>
            </a:endParaRPr>
          </a:p>
        </p:txBody>
      </p:sp>
      <p:sp>
        <p:nvSpPr>
          <p:cNvPr id="3" name="Θέση περιεχομένου 2">
            <a:extLst>
              <a:ext uri="{FF2B5EF4-FFF2-40B4-BE49-F238E27FC236}">
                <a16:creationId xmlns:a16="http://schemas.microsoft.com/office/drawing/2014/main" id="{80CCB88C-6852-BCA5-8391-24298314A830}"/>
              </a:ext>
            </a:extLst>
          </p:cNvPr>
          <p:cNvSpPr>
            <a:spLocks noGrp="1"/>
          </p:cNvSpPr>
          <p:nvPr>
            <p:ph idx="1"/>
          </p:nvPr>
        </p:nvSpPr>
        <p:spPr>
          <a:xfrm>
            <a:off x="0" y="1223502"/>
            <a:ext cx="11863137" cy="4695492"/>
          </a:xfrm>
        </p:spPr>
        <p:txBody>
          <a:bodyPr>
            <a:noAutofit/>
          </a:bodyPr>
          <a:lstStyle/>
          <a:p>
            <a:pPr algn="just">
              <a:lnSpc>
                <a:spcPct val="100000"/>
              </a:lnSpc>
              <a:spcAft>
                <a:spcPts val="500"/>
              </a:spcAft>
            </a:pPr>
            <a:r>
              <a:rPr lang="el-GR" dirty="0">
                <a:effectLst/>
                <a:latin typeface="Times New Roman" panose="02020603050405020304" pitchFamily="18" charset="0"/>
                <a:ea typeface="Times New Roman" panose="02020603050405020304" pitchFamily="18" charset="0"/>
              </a:rPr>
              <a:t>Μια άλλη πρωτοποριακή λύση είναι το </a:t>
            </a:r>
            <a:r>
              <a:rPr lang="en-MY" b="1" dirty="0">
                <a:effectLst/>
                <a:latin typeface="Times New Roman" panose="02020603050405020304" pitchFamily="18" charset="0"/>
                <a:ea typeface="Times New Roman" panose="02020603050405020304" pitchFamily="18" charset="0"/>
              </a:rPr>
              <a:t>o9 Solutions Digital Brain</a:t>
            </a:r>
            <a:r>
              <a:rPr lang="el-GR" dirty="0">
                <a:effectLst/>
                <a:latin typeface="Times New Roman" panose="02020603050405020304" pitchFamily="18" charset="0"/>
                <a:ea typeface="Times New Roman" panose="02020603050405020304" pitchFamily="18" charset="0"/>
              </a:rPr>
              <a:t>, το οποίο ενσωματώνει ΤΝ και συλλέγει δεδομένα από ετερογενείς πηγές, όπως συστήματα ERP, αισθητήρες IoT κ.λ.π., για να κατασκευάσει ένα δυναμικό μοντέλο που προσομοιώνει τη λειτουργία της αλυσίδας. </a:t>
            </a:r>
          </a:p>
          <a:p>
            <a:pPr algn="just">
              <a:lnSpc>
                <a:spcPct val="100000"/>
              </a:lnSpc>
              <a:spcAft>
                <a:spcPts val="500"/>
              </a:spcAft>
            </a:pPr>
            <a:r>
              <a:rPr lang="el-GR" dirty="0">
                <a:effectLst/>
                <a:latin typeface="Times New Roman" panose="02020603050405020304" pitchFamily="18" charset="0"/>
                <a:ea typeface="Times New Roman" panose="02020603050405020304" pitchFamily="18" charset="0"/>
              </a:rPr>
              <a:t>Με τη χρήση αλγορίθμων βαθιάς μάθησης, το </a:t>
            </a:r>
            <a:r>
              <a:rPr lang="el-GR" b="1" dirty="0">
                <a:solidFill>
                  <a:srgbClr val="002060"/>
                </a:solidFill>
                <a:effectLst/>
                <a:latin typeface="Times New Roman" panose="02020603050405020304" pitchFamily="18" charset="0"/>
                <a:ea typeface="Times New Roman" panose="02020603050405020304" pitchFamily="18" charset="0"/>
              </a:rPr>
              <a:t>o9 </a:t>
            </a:r>
            <a:r>
              <a:rPr lang="en-US" b="1" dirty="0">
                <a:solidFill>
                  <a:srgbClr val="002060"/>
                </a:solidFill>
                <a:effectLst/>
                <a:latin typeface="Times New Roman" panose="02020603050405020304" pitchFamily="18" charset="0"/>
                <a:ea typeface="Times New Roman" panose="02020603050405020304" pitchFamily="18" charset="0"/>
              </a:rPr>
              <a:t>Solutions</a:t>
            </a:r>
            <a:r>
              <a:rPr lang="el-GR" b="1" dirty="0">
                <a:solidFill>
                  <a:srgbClr val="002060"/>
                </a:solidFill>
                <a:effectLst/>
                <a:latin typeface="Times New Roman" panose="02020603050405020304" pitchFamily="18" charset="0"/>
                <a:ea typeface="Times New Roman" panose="02020603050405020304" pitchFamily="18" charset="0"/>
              </a:rPr>
              <a:t> </a:t>
            </a:r>
            <a:r>
              <a:rPr lang="el-GR" dirty="0">
                <a:effectLst/>
                <a:latin typeface="Times New Roman" panose="02020603050405020304" pitchFamily="18" charset="0"/>
                <a:ea typeface="Times New Roman" panose="02020603050405020304" pitchFamily="18" charset="0"/>
              </a:rPr>
              <a:t>αναλύει μοτίβα και προτείνει βελτιώσεις, όπως η </a:t>
            </a:r>
            <a:r>
              <a:rPr lang="el-GR" b="1" dirty="0">
                <a:solidFill>
                  <a:schemeClr val="accent6">
                    <a:lumMod val="75000"/>
                  </a:schemeClr>
                </a:solidFill>
                <a:effectLst/>
                <a:latin typeface="Times New Roman" panose="02020603050405020304" pitchFamily="18" charset="0"/>
                <a:ea typeface="Times New Roman" panose="02020603050405020304" pitchFamily="18" charset="0"/>
              </a:rPr>
              <a:t>μείωση του χρόνου παράδοσης </a:t>
            </a:r>
            <a:r>
              <a:rPr lang="el-GR" dirty="0">
                <a:effectLst/>
                <a:latin typeface="Times New Roman" panose="02020603050405020304" pitchFamily="18" charset="0"/>
                <a:ea typeface="Times New Roman" panose="02020603050405020304" pitchFamily="18" charset="0"/>
              </a:rPr>
              <a:t>μέσω καλύτερης διαχείρισης προμηθευτών. </a:t>
            </a:r>
            <a:endParaRPr lang="el-GR" sz="4400" dirty="0">
              <a:latin typeface="Times New Roman" panose="02020603050405020304" pitchFamily="18" charset="0"/>
              <a:ea typeface="Times New Roman" panose="02020603050405020304" pitchFamily="18" charset="0"/>
            </a:endParaRPr>
          </a:p>
          <a:p>
            <a:pPr algn="just">
              <a:lnSpc>
                <a:spcPct val="100000"/>
              </a:lnSpc>
              <a:spcAft>
                <a:spcPts val="500"/>
              </a:spcAft>
            </a:pPr>
            <a:r>
              <a:rPr lang="el-GR" dirty="0">
                <a:effectLst/>
                <a:latin typeface="Times New Roman" panose="02020603050405020304" pitchFamily="18" charset="0"/>
                <a:ea typeface="Times New Roman" panose="02020603050405020304" pitchFamily="18" charset="0"/>
              </a:rPr>
              <a:t>Με χρήση ΤΝ, η πλατφόρμα μεταβαίνει από την </a:t>
            </a:r>
            <a:r>
              <a:rPr lang="el-GR" b="1" dirty="0">
                <a:solidFill>
                  <a:srgbClr val="002060"/>
                </a:solidFill>
                <a:effectLst/>
                <a:latin typeface="Times New Roman" panose="02020603050405020304" pitchFamily="18" charset="0"/>
                <a:ea typeface="Times New Roman" panose="02020603050405020304" pitchFamily="18" charset="0"/>
              </a:rPr>
              <a:t>παραδοσιακή πρόβλεψη (</a:t>
            </a:r>
            <a:r>
              <a:rPr lang="en-US" b="1" dirty="0">
                <a:solidFill>
                  <a:srgbClr val="002060"/>
                </a:solidFill>
                <a:effectLst/>
                <a:latin typeface="Times New Roman" panose="02020603050405020304" pitchFamily="18" charset="0"/>
                <a:ea typeface="Times New Roman" panose="02020603050405020304" pitchFamily="18" charset="0"/>
              </a:rPr>
              <a:t>forecasting</a:t>
            </a:r>
            <a:r>
              <a:rPr lang="el-GR" b="1" dirty="0">
                <a:solidFill>
                  <a:srgbClr val="002060"/>
                </a:solidFill>
                <a:effectLst/>
                <a:latin typeface="Times New Roman" panose="02020603050405020304" pitchFamily="18" charset="0"/>
                <a:ea typeface="Times New Roman" panose="02020603050405020304" pitchFamily="18" charset="0"/>
              </a:rPr>
              <a:t>) </a:t>
            </a:r>
            <a:r>
              <a:rPr lang="el-GR" dirty="0">
                <a:effectLst/>
                <a:latin typeface="Times New Roman" panose="02020603050405020304" pitchFamily="18" charset="0"/>
                <a:ea typeface="Times New Roman" panose="02020603050405020304" pitchFamily="18" charset="0"/>
              </a:rPr>
              <a:t>σε πιο προηγμένες τεχνικές, όπως το </a:t>
            </a:r>
            <a:r>
              <a:rPr lang="en-US" b="1" dirty="0">
                <a:solidFill>
                  <a:srgbClr val="002060"/>
                </a:solidFill>
                <a:effectLst/>
                <a:latin typeface="Times New Roman" panose="02020603050405020304" pitchFamily="18" charset="0"/>
                <a:ea typeface="Times New Roman" panose="02020603050405020304" pitchFamily="18" charset="0"/>
              </a:rPr>
              <a:t>demand sensing</a:t>
            </a:r>
            <a:r>
              <a:rPr lang="el-GR" dirty="0">
                <a:effectLst/>
                <a:latin typeface="Times New Roman" panose="02020603050405020304" pitchFamily="18" charset="0"/>
                <a:ea typeface="Times New Roman" panose="02020603050405020304" pitchFamily="18" charset="0"/>
              </a:rPr>
              <a:t>, που επιτρέπει την ανίχνευση της ζήτησης σε πραγματικό χρόνο, και το </a:t>
            </a:r>
            <a:r>
              <a:rPr lang="en-US" b="1" dirty="0">
                <a:solidFill>
                  <a:srgbClr val="002060"/>
                </a:solidFill>
                <a:effectLst/>
                <a:latin typeface="Times New Roman" panose="02020603050405020304" pitchFamily="18" charset="0"/>
                <a:ea typeface="Times New Roman" panose="02020603050405020304" pitchFamily="18" charset="0"/>
              </a:rPr>
              <a:t>demand shaping</a:t>
            </a:r>
            <a:r>
              <a:rPr lang="el-GR" dirty="0">
                <a:effectLst/>
                <a:latin typeface="Times New Roman" panose="02020603050405020304" pitchFamily="18" charset="0"/>
                <a:ea typeface="Times New Roman" panose="02020603050405020304" pitchFamily="18" charset="0"/>
              </a:rPr>
              <a:t>, που βοηθά στη διαμόρφωση της ζήτησης μέσω στρατηγικών αποφάσεων, όπως προσαρμογές τιμών ή προωθητικές ενέργειες.</a:t>
            </a:r>
            <a:endParaRPr lang="el-GR" sz="4000" dirty="0"/>
          </a:p>
        </p:txBody>
      </p:sp>
    </p:spTree>
    <p:extLst>
      <p:ext uri="{BB962C8B-B14F-4D97-AF65-F5344CB8AC3E}">
        <p14:creationId xmlns:p14="http://schemas.microsoft.com/office/powerpoint/2010/main" val="509208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56640C-5640-6C29-7AD4-6C09FF81B5A9}"/>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87A2EB53-414E-A66A-EDB9-34D49A756439}"/>
              </a:ext>
            </a:extLst>
          </p:cNvPr>
          <p:cNvSpPr>
            <a:spLocks noGrp="1"/>
          </p:cNvSpPr>
          <p:nvPr>
            <p:ph type="title"/>
          </p:nvPr>
        </p:nvSpPr>
        <p:spPr>
          <a:xfrm>
            <a:off x="836676" y="129827"/>
            <a:ext cx="10515600" cy="1325563"/>
          </a:xfrm>
        </p:spPr>
        <p:txBody>
          <a:bodyPr>
            <a:normAutofit/>
          </a:bodyPr>
          <a:lstStyle/>
          <a:p>
            <a:pPr algn="ctr"/>
            <a:r>
              <a:rPr lang="el-GR" sz="4200" b="1" dirty="0">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Πλατφόρμες και εργαλεία ΤΝ που ενσωματώνονται στην εφοδιαστική (Ι</a:t>
            </a:r>
            <a:r>
              <a:rPr lang="en-US" sz="4200" b="1" dirty="0">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V</a:t>
            </a:r>
            <a:r>
              <a:rPr lang="el-GR" sz="4200" b="1" dirty="0">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a:t>
            </a:r>
            <a:endParaRPr lang="el-GR" sz="4200" b="1" dirty="0">
              <a:effectLst>
                <a:outerShdw blurRad="38100" dist="38100" dir="2700000" algn="tl">
                  <a:srgbClr val="000000">
                    <a:alpha val="43137"/>
                  </a:srgbClr>
                </a:outerShdw>
              </a:effectLst>
            </a:endParaRPr>
          </a:p>
        </p:txBody>
      </p:sp>
      <p:sp>
        <p:nvSpPr>
          <p:cNvPr id="36"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E32DFEB7-658A-597F-D5DE-352A442A8D70}"/>
              </a:ext>
            </a:extLst>
          </p:cNvPr>
          <p:cNvSpPr>
            <a:spLocks noGrp="1"/>
          </p:cNvSpPr>
          <p:nvPr>
            <p:ph idx="1"/>
          </p:nvPr>
        </p:nvSpPr>
        <p:spPr>
          <a:xfrm>
            <a:off x="0" y="1769529"/>
            <a:ext cx="12103768" cy="5004656"/>
          </a:xfrm>
        </p:spPr>
        <p:txBody>
          <a:bodyPr>
            <a:noAutofit/>
          </a:bodyPr>
          <a:lstStyle/>
          <a:p>
            <a:pPr algn="just">
              <a:spcAft>
                <a:spcPts val="500"/>
              </a:spcAft>
            </a:pPr>
            <a:r>
              <a:rPr lang="en-US" sz="2600" dirty="0">
                <a:effectLst/>
                <a:latin typeface="Times New Roman" panose="02020603050405020304" pitchFamily="18" charset="0"/>
                <a:ea typeface="Times New Roman" panose="02020603050405020304" pitchFamily="18" charset="0"/>
              </a:rPr>
              <a:t>To </a:t>
            </a:r>
            <a:r>
              <a:rPr lang="el-GR" sz="2600" b="1" dirty="0">
                <a:effectLst/>
                <a:latin typeface="Times New Roman" panose="02020603050405020304" pitchFamily="18" charset="0"/>
                <a:ea typeface="Times New Roman" panose="02020603050405020304" pitchFamily="18" charset="0"/>
              </a:rPr>
              <a:t>C3.ai </a:t>
            </a:r>
            <a:r>
              <a:rPr lang="en-CA" sz="2600" b="1" dirty="0">
                <a:effectLst/>
                <a:latin typeface="Times New Roman" panose="02020603050405020304" pitchFamily="18" charset="0"/>
                <a:ea typeface="Times New Roman" panose="02020603050405020304" pitchFamily="18" charset="0"/>
              </a:rPr>
              <a:t>Supply Chain Suite</a:t>
            </a:r>
            <a:r>
              <a:rPr lang="en-CA" sz="2600" dirty="0">
                <a:effectLst/>
                <a:latin typeface="Times New Roman" panose="02020603050405020304" pitchFamily="18" charset="0"/>
                <a:ea typeface="Times New Roman" panose="02020603050405020304" pitchFamily="18" charset="0"/>
              </a:rPr>
              <a:t> </a:t>
            </a:r>
            <a:r>
              <a:rPr lang="el-GR" sz="2600" dirty="0">
                <a:effectLst/>
                <a:latin typeface="Times New Roman" panose="02020603050405020304" pitchFamily="18" charset="0"/>
                <a:ea typeface="Times New Roman" panose="02020603050405020304" pitchFamily="18" charset="0"/>
              </a:rPr>
              <a:t>προσφέρει μια ολοκληρωμένη σουίτα εφαρμογών που επικεντρώνεται στην πρόληψη κινδύνων και τη βελτιστοποίηση λειτουργιών. </a:t>
            </a:r>
          </a:p>
          <a:p>
            <a:pPr marL="541338" lvl="1" algn="just">
              <a:spcAft>
                <a:spcPts val="500"/>
              </a:spcAft>
            </a:pPr>
            <a:r>
              <a:rPr lang="en-US" sz="2600" dirty="0">
                <a:effectLst/>
                <a:latin typeface="Times New Roman" panose="02020603050405020304" pitchFamily="18" charset="0"/>
                <a:ea typeface="Times New Roman" panose="02020603050405020304" pitchFamily="18" charset="0"/>
              </a:rPr>
              <a:t>M</a:t>
            </a:r>
            <a:r>
              <a:rPr lang="el-GR" sz="2600" dirty="0">
                <a:effectLst/>
                <a:latin typeface="Times New Roman" panose="02020603050405020304" pitchFamily="18" charset="0"/>
                <a:ea typeface="Times New Roman" panose="02020603050405020304" pitchFamily="18" charset="0"/>
              </a:rPr>
              <a:t>ε τεχνικές ΤΝ, εντοπίζει πιθανές διαταραχές, όπως καθυστερήσεις λόγω γεωπολιτικών γεγονότων/φυσικών καταστροφών, και προτείνει εναλλακτικές στρατηγικές. </a:t>
            </a:r>
            <a:endParaRPr lang="en-US" sz="2600" dirty="0">
              <a:effectLst/>
              <a:latin typeface="Times New Roman" panose="02020603050405020304" pitchFamily="18" charset="0"/>
              <a:ea typeface="Times New Roman" panose="02020603050405020304" pitchFamily="18" charset="0"/>
            </a:endParaRPr>
          </a:p>
          <a:p>
            <a:pPr algn="just">
              <a:spcBef>
                <a:spcPts val="1800"/>
              </a:spcBef>
              <a:spcAft>
                <a:spcPts val="500"/>
              </a:spcAft>
            </a:pPr>
            <a:r>
              <a:rPr lang="en-US" sz="2600" dirty="0">
                <a:effectLst/>
                <a:latin typeface="Times New Roman" panose="02020603050405020304" pitchFamily="18" charset="0"/>
                <a:ea typeface="Times New Roman" panose="02020603050405020304" pitchFamily="18" charset="0"/>
              </a:rPr>
              <a:t>T</a:t>
            </a:r>
            <a:r>
              <a:rPr lang="el-GR" sz="2600" dirty="0">
                <a:effectLst/>
                <a:latin typeface="Times New Roman" panose="02020603050405020304" pitchFamily="18" charset="0"/>
                <a:ea typeface="Times New Roman" panose="02020603050405020304" pitchFamily="18" charset="0"/>
              </a:rPr>
              <a:t>ο </a:t>
            </a:r>
            <a:r>
              <a:rPr lang="el-GR" sz="2600" dirty="0">
                <a:latin typeface="Times New Roman" panose="02020603050405020304" pitchFamily="18" charset="0"/>
                <a:ea typeface="Times New Roman" panose="02020603050405020304" pitchFamily="18" charset="0"/>
              </a:rPr>
              <a:t>εργαλείο</a:t>
            </a:r>
            <a:r>
              <a:rPr lang="el-GR" sz="2600" dirty="0">
                <a:effectLst/>
                <a:latin typeface="Times New Roman" panose="02020603050405020304" pitchFamily="18" charset="0"/>
                <a:ea typeface="Times New Roman" panose="02020603050405020304" pitchFamily="18" charset="0"/>
              </a:rPr>
              <a:t> </a:t>
            </a:r>
            <a:r>
              <a:rPr lang="en-US" sz="2600" b="1" dirty="0">
                <a:effectLst/>
                <a:latin typeface="Times New Roman" panose="02020603050405020304" pitchFamily="18" charset="0"/>
                <a:ea typeface="Times New Roman" panose="02020603050405020304" pitchFamily="18" charset="0"/>
              </a:rPr>
              <a:t>Anaplan Supply Chain</a:t>
            </a:r>
            <a:r>
              <a:rPr lang="en-US" sz="2600" dirty="0">
                <a:effectLst/>
                <a:latin typeface="Times New Roman" panose="02020603050405020304" pitchFamily="18" charset="0"/>
                <a:ea typeface="Times New Roman" panose="02020603050405020304" pitchFamily="18" charset="0"/>
              </a:rPr>
              <a:t> </a:t>
            </a:r>
            <a:r>
              <a:rPr lang="el-GR" sz="2600" dirty="0">
                <a:effectLst/>
                <a:latin typeface="Times New Roman" panose="02020603050405020304" pitchFamily="18" charset="0"/>
                <a:ea typeface="Times New Roman" panose="02020603050405020304" pitchFamily="18" charset="0"/>
              </a:rPr>
              <a:t>αξιοποιεί την ΤΝ για να υποστηρίξει τη λήψη αποφάσεων σε στρατηγικό επίπεδο. </a:t>
            </a:r>
          </a:p>
          <a:p>
            <a:pPr marL="541338" lvl="1" algn="just">
              <a:spcAft>
                <a:spcPts val="500"/>
              </a:spcAft>
            </a:pPr>
            <a:r>
              <a:rPr lang="el-GR" sz="2600" dirty="0">
                <a:effectLst/>
                <a:latin typeface="Times New Roman" panose="02020603050405020304" pitchFamily="18" charset="0"/>
                <a:ea typeface="Times New Roman" panose="02020603050405020304" pitchFamily="18" charset="0"/>
              </a:rPr>
              <a:t>Εστιάζει στη δημιουργία συνεργατικών δικτύων μεταξύ προμηθευτών, κατασκευαστών και διανομέων, χρησιμοποιώντας αλγορίθμους πρόβλεψης για να βελτιώσει τη διαφάνεια και τον συντονισμό. </a:t>
            </a:r>
          </a:p>
          <a:p>
            <a:pPr marL="541338" lvl="1" algn="just">
              <a:spcAft>
                <a:spcPts val="500"/>
              </a:spcAft>
            </a:pPr>
            <a:r>
              <a:rPr lang="el-GR" sz="2600" dirty="0">
                <a:effectLst/>
                <a:latin typeface="Times New Roman" panose="02020603050405020304" pitchFamily="18" charset="0"/>
                <a:ea typeface="Times New Roman" panose="02020603050405020304" pitchFamily="18" charset="0"/>
              </a:rPr>
              <a:t>Επιτρέπει τη δημιουργία εξατομικευμένων πινάκων ελέγχου, οι οποίοι παρουσιάζουν βασικούς δείκτες απόδοσης (</a:t>
            </a:r>
            <a:r>
              <a:rPr lang="en-US" sz="2600" dirty="0">
                <a:effectLst/>
                <a:latin typeface="Times New Roman" panose="02020603050405020304" pitchFamily="18" charset="0"/>
                <a:ea typeface="Times New Roman" panose="02020603050405020304" pitchFamily="18" charset="0"/>
              </a:rPr>
              <a:t>KPIs</a:t>
            </a:r>
            <a:r>
              <a:rPr lang="el-GR" sz="2600" dirty="0">
                <a:effectLst/>
                <a:latin typeface="Times New Roman" panose="02020603050405020304" pitchFamily="18" charset="0"/>
                <a:ea typeface="Times New Roman" panose="02020603050405020304" pitchFamily="18" charset="0"/>
              </a:rPr>
              <a:t>), όπως το ποσοστό έγκαιρης παράδοσης. </a:t>
            </a:r>
            <a:endParaRPr lang="el-GR" sz="2600" dirty="0"/>
          </a:p>
        </p:txBody>
      </p:sp>
    </p:spTree>
    <p:extLst>
      <p:ext uri="{BB962C8B-B14F-4D97-AF65-F5344CB8AC3E}">
        <p14:creationId xmlns:p14="http://schemas.microsoft.com/office/powerpoint/2010/main" val="1199623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81FF02-927C-14A4-4DA0-05EF88870D7D}"/>
            </a:ext>
          </a:extLst>
        </p:cNvPr>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36B742C-6992-6272-9E5F-FBCA6EAB4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BBACE735-A1DE-B3D4-A4EC-75F93F7A9D43}"/>
              </a:ext>
            </a:extLst>
          </p:cNvPr>
          <p:cNvSpPr>
            <a:spLocks noGrp="1"/>
          </p:cNvSpPr>
          <p:nvPr>
            <p:ph type="title"/>
          </p:nvPr>
        </p:nvSpPr>
        <p:spPr>
          <a:xfrm>
            <a:off x="836676" y="129827"/>
            <a:ext cx="10515600" cy="1325563"/>
          </a:xfrm>
        </p:spPr>
        <p:txBody>
          <a:bodyPr>
            <a:normAutofit/>
          </a:bodyPr>
          <a:lstStyle/>
          <a:p>
            <a:pPr algn="ctr"/>
            <a:r>
              <a:rPr lang="el-GR" sz="4200" b="1" dirty="0">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Πλατφόρμες και εργαλεία ΤΝ που ενσωματώνονται στην </a:t>
            </a:r>
            <a:r>
              <a:rPr lang="el-GR" sz="4200" b="1">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εφοδιαστική (</a:t>
            </a:r>
            <a:r>
              <a:rPr lang="en-US" sz="4200" b="1">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V</a:t>
            </a:r>
            <a:r>
              <a:rPr lang="el-GR" sz="4200" b="1" dirty="0">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Times New Roman" panose="02020603050405020304" pitchFamily="18" charset="0"/>
              </a:rPr>
              <a:t>)</a:t>
            </a:r>
            <a:endParaRPr lang="el-GR" sz="4200" b="1" dirty="0">
              <a:effectLst>
                <a:outerShdw blurRad="38100" dist="38100" dir="2700000" algn="tl">
                  <a:srgbClr val="000000">
                    <a:alpha val="43137"/>
                  </a:srgbClr>
                </a:outerShdw>
              </a:effectLst>
            </a:endParaRPr>
          </a:p>
        </p:txBody>
      </p:sp>
      <p:sp>
        <p:nvSpPr>
          <p:cNvPr id="36" name="sketch line">
            <a:extLst>
              <a:ext uri="{FF2B5EF4-FFF2-40B4-BE49-F238E27FC236}">
                <a16:creationId xmlns:a16="http://schemas.microsoft.com/office/drawing/2014/main" id="{F4ACBBC1-2E5E-8AB5-925B-EE4DE7B41A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Θέση περιεχομένου 2">
            <a:extLst>
              <a:ext uri="{FF2B5EF4-FFF2-40B4-BE49-F238E27FC236}">
                <a16:creationId xmlns:a16="http://schemas.microsoft.com/office/drawing/2014/main" id="{8C192DDD-0C33-6AA4-6F54-4F3F911CB565}"/>
              </a:ext>
            </a:extLst>
          </p:cNvPr>
          <p:cNvSpPr>
            <a:spLocks noGrp="1"/>
          </p:cNvSpPr>
          <p:nvPr>
            <p:ph idx="1"/>
          </p:nvPr>
        </p:nvSpPr>
        <p:spPr>
          <a:xfrm>
            <a:off x="42592" y="1917644"/>
            <a:ext cx="12103768" cy="5004656"/>
          </a:xfrm>
        </p:spPr>
        <p:txBody>
          <a:bodyPr>
            <a:noAutofit/>
          </a:bodyPr>
          <a:lstStyle/>
          <a:p>
            <a:pPr algn="just">
              <a:spcAft>
                <a:spcPts val="500"/>
              </a:spcAft>
            </a:pPr>
            <a:r>
              <a:rPr lang="en-US" sz="3600" dirty="0">
                <a:effectLst/>
                <a:latin typeface="Times New Roman" panose="02020603050405020304" pitchFamily="18" charset="0"/>
                <a:ea typeface="Times New Roman" panose="02020603050405020304" pitchFamily="18" charset="0"/>
              </a:rPr>
              <a:t>To</a:t>
            </a:r>
            <a:r>
              <a:rPr lang="el-GR" dirty="0">
                <a:effectLst/>
                <a:latin typeface="Times New Roman" panose="02020603050405020304" pitchFamily="18" charset="0"/>
                <a:ea typeface="Times New Roman" panose="02020603050405020304" pitchFamily="18" charset="0"/>
              </a:rPr>
              <a:t> </a:t>
            </a:r>
            <a:r>
              <a:rPr lang="el-GR" b="1" dirty="0">
                <a:effectLst/>
                <a:latin typeface="Times New Roman" panose="02020603050405020304" pitchFamily="18" charset="0"/>
                <a:ea typeface="Times New Roman" panose="02020603050405020304" pitchFamily="18" charset="0"/>
              </a:rPr>
              <a:t>FourKites</a:t>
            </a:r>
            <a:r>
              <a:rPr lang="el-GR" dirty="0">
                <a:effectLst/>
                <a:latin typeface="Times New Roman" panose="02020603050405020304" pitchFamily="18" charset="0"/>
                <a:ea typeface="Times New Roman" panose="02020603050405020304" pitchFamily="18" charset="0"/>
              </a:rPr>
              <a:t> αποτελεί μια εξειδικευμένη πλατφόρμα για την παρακολούθηση φορτίων σε πραγματικό χρόνο, με έμφαση στη βελτιστοποίηση των μεταφορών. </a:t>
            </a:r>
          </a:p>
          <a:p>
            <a:pPr algn="just">
              <a:spcAft>
                <a:spcPts val="500"/>
              </a:spcAft>
            </a:pPr>
            <a:r>
              <a:rPr lang="el-GR" dirty="0">
                <a:effectLst/>
                <a:latin typeface="Times New Roman" panose="02020603050405020304" pitchFamily="18" charset="0"/>
                <a:ea typeface="Times New Roman" panose="02020603050405020304" pitchFamily="18" charset="0"/>
              </a:rPr>
              <a:t>Χρησιμοποιώντας τεχνολογίες ΤΝ, αναλύει δεδομένα από GPS, αισθητήρες θερμοκρασίας και συστήματα διαχείρισης μεταφορών για να προβλέψει πιθανές καθυστερήσεις και να προτείνει διορθωτικές ενέργειες. </a:t>
            </a:r>
          </a:p>
          <a:p>
            <a:pPr algn="just">
              <a:spcAft>
                <a:spcPts val="500"/>
              </a:spcAft>
            </a:pPr>
            <a:r>
              <a:rPr lang="el-GR" dirty="0">
                <a:effectLst/>
                <a:latin typeface="Times New Roman" panose="02020603050405020304" pitchFamily="18" charset="0"/>
                <a:ea typeface="Times New Roman" panose="02020603050405020304" pitchFamily="18" charset="0"/>
              </a:rPr>
              <a:t>Για παράδειγμα, μπορεί να ειδοποιήσει ένα διαχειριστή για την ανάγκη αλλαγής διαδρομής λόγω κυκλοφοριακής συμφόρησης ή να προτείνει την ενοποίηση φορτίων για τη μείωση του κόστους. </a:t>
            </a:r>
          </a:p>
          <a:p>
            <a:pPr algn="just">
              <a:spcAft>
                <a:spcPts val="500"/>
              </a:spcAft>
            </a:pPr>
            <a:r>
              <a:rPr lang="el-GR" dirty="0">
                <a:effectLst/>
                <a:latin typeface="Times New Roman" panose="02020603050405020304" pitchFamily="18" charset="0"/>
                <a:ea typeface="Times New Roman" panose="02020603050405020304" pitchFamily="18" charset="0"/>
              </a:rPr>
              <a:t>Είναι ιδιαίτερα χρήσιμο για επιχειρήσεις που δραστηριοποιούνται σε διεθνές επίπεδο, καθώς παρέχει ορατότητα σε ολόκληρο το δίκτυο μεταφορών.</a:t>
            </a:r>
            <a:endParaRPr lang="el-GR" sz="3600" dirty="0"/>
          </a:p>
        </p:txBody>
      </p:sp>
    </p:spTree>
    <p:extLst>
      <p:ext uri="{BB962C8B-B14F-4D97-AF65-F5344CB8AC3E}">
        <p14:creationId xmlns:p14="http://schemas.microsoft.com/office/powerpoint/2010/main" val="400077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D1052F2-4545-7498-21CC-22DCD21D4685}"/>
              </a:ext>
            </a:extLst>
          </p:cNvPr>
          <p:cNvSpPr>
            <a:spLocks noGrp="1"/>
          </p:cNvSpPr>
          <p:nvPr>
            <p:ph type="title"/>
          </p:nvPr>
        </p:nvSpPr>
        <p:spPr>
          <a:xfrm>
            <a:off x="0" y="-115609"/>
            <a:ext cx="12192000" cy="1325563"/>
          </a:xfrm>
        </p:spPr>
        <p:txBody>
          <a:bodyPr/>
          <a:lstStyle/>
          <a:p>
            <a:pPr algn="ctr"/>
            <a:r>
              <a:rPr lang="el-GR" b="1" dirty="0">
                <a:effectLst>
                  <a:outerShdw blurRad="38100" dist="38100" dir="2700000" algn="tl">
                    <a:srgbClr val="000000">
                      <a:alpha val="43137"/>
                    </a:srgbClr>
                  </a:outerShdw>
                </a:effectLst>
              </a:rPr>
              <a:t>Απεικόνιση Πλατφόρμας </a:t>
            </a:r>
            <a:r>
              <a:rPr lang="en-US" b="1" dirty="0">
                <a:effectLst>
                  <a:outerShdw blurRad="38100" dist="38100" dir="2700000" algn="tl">
                    <a:srgbClr val="000000">
                      <a:alpha val="43137"/>
                    </a:srgbClr>
                  </a:outerShdw>
                </a:effectLst>
              </a:rPr>
              <a:t>FourKites Intelligent Control Tower</a:t>
            </a:r>
            <a:endParaRPr lang="el-GR" b="1" dirty="0">
              <a:effectLst>
                <a:outerShdw blurRad="38100" dist="38100" dir="2700000" algn="tl">
                  <a:srgbClr val="000000">
                    <a:alpha val="43137"/>
                  </a:srgbClr>
                </a:outerShdw>
              </a:effectLst>
            </a:endParaRPr>
          </a:p>
        </p:txBody>
      </p:sp>
      <p:pic>
        <p:nvPicPr>
          <p:cNvPr id="6" name="Εικόνα 5" descr="Εικόνα που περιέχει κείμενο, στιγμιότυπο οθόνης, άτομο, τοποθεσία web&#10;&#10;Το περιεχόμενο που δημιουργείται από τεχνολογία AI ενδέχεται να είναι εσφαλμένο.">
            <a:extLst>
              <a:ext uri="{FF2B5EF4-FFF2-40B4-BE49-F238E27FC236}">
                <a16:creationId xmlns:a16="http://schemas.microsoft.com/office/drawing/2014/main" id="{33E87615-77AB-8846-E66F-C6B21F3E59C4}"/>
              </a:ext>
            </a:extLst>
          </p:cNvPr>
          <p:cNvPicPr>
            <a:picLocks noChangeAspect="1"/>
          </p:cNvPicPr>
          <p:nvPr/>
        </p:nvPicPr>
        <p:blipFill rotWithShape="1">
          <a:blip r:embed="rId3"/>
          <a:srcRect t="7795"/>
          <a:stretch/>
        </p:blipFill>
        <p:spPr bwMode="auto">
          <a:xfrm>
            <a:off x="163960" y="1017448"/>
            <a:ext cx="11575291" cy="55758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18687865"/>
      </p:ext>
    </p:extLst>
  </p:cSld>
  <p:clrMapOvr>
    <a:masterClrMapping/>
  </p:clrMapOvr>
  <mc:AlternateContent xmlns:mc="http://schemas.openxmlformats.org/markup-compatibility/2006" xmlns:p14="http://schemas.microsoft.com/office/powerpoint/2010/main">
    <mc:Choice Requires="p14">
      <p:transition spd="slow" p14:dur="2000">
        <p14:doors dir="ver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654756-FF3E-1293-1930-1690C924E72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B62B2D9-A40A-3B73-1F35-74FD243C17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3F7FEB8-6369-1811-E322-75A5DD5D1D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5C9EF2C-1EA0-B427-C601-4AB160F61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020E6A3-49CB-C32E-8C4E-E91D53178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3729EC45-E50A-04FE-955A-A08220A766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9114DF33-3681-46CB-75FD-61D81C9364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533E6DAD-DF92-4DF7-0087-B88FA2BD9CA6}"/>
              </a:ext>
            </a:extLst>
          </p:cNvPr>
          <p:cNvSpPr>
            <a:spLocks noGrp="1"/>
          </p:cNvSpPr>
          <p:nvPr>
            <p:ph type="title"/>
          </p:nvPr>
        </p:nvSpPr>
        <p:spPr>
          <a:xfrm>
            <a:off x="1" y="1683756"/>
            <a:ext cx="3920524" cy="2396359"/>
          </a:xfrm>
        </p:spPr>
        <p:txBody>
          <a:bodyPr anchor="b">
            <a:normAutofit/>
          </a:bodyPr>
          <a:lstStyle/>
          <a:p>
            <a:pPr algn="ctr"/>
            <a:r>
              <a:rPr lang="el-GR" sz="40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Αξιοποίηση ΤΝ</a:t>
            </a:r>
            <a:r>
              <a:rPr lang="en-US" sz="40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l-GR" sz="40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σε εφαρμογές εφοδιαστικής (Ι)</a:t>
            </a:r>
          </a:p>
        </p:txBody>
      </p:sp>
      <p:graphicFrame>
        <p:nvGraphicFramePr>
          <p:cNvPr id="5" name="Θέση περιεχομένου 2">
            <a:extLst>
              <a:ext uri="{FF2B5EF4-FFF2-40B4-BE49-F238E27FC236}">
                <a16:creationId xmlns:a16="http://schemas.microsoft.com/office/drawing/2014/main" id="{AA598921-0D92-D12D-AD5F-9BB7416AD4D7}"/>
              </a:ext>
            </a:extLst>
          </p:cNvPr>
          <p:cNvGraphicFramePr>
            <a:graphicFrameLocks noGrp="1"/>
          </p:cNvGraphicFramePr>
          <p:nvPr>
            <p:ph idx="1"/>
            <p:extLst>
              <p:ext uri="{D42A27DB-BD31-4B8C-83A1-F6EECF244321}">
                <p14:modId xmlns:p14="http://schemas.microsoft.com/office/powerpoint/2010/main" val="1073552263"/>
              </p:ext>
            </p:extLst>
          </p:nvPr>
        </p:nvGraphicFramePr>
        <p:xfrm>
          <a:off x="4057385" y="511387"/>
          <a:ext cx="7962161" cy="56969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6607026"/>
      </p:ext>
    </p:extLst>
  </p:cSld>
  <p:clrMapOvr>
    <a:masterClrMapping/>
  </p:clrMapOvr>
  <mc:AlternateContent xmlns:mc="http://schemas.openxmlformats.org/markup-compatibility/2006" xmlns:p14="http://schemas.microsoft.com/office/powerpoint/2010/main">
    <mc:Choice Requires="p14">
      <p:transition spd="slow" p14:dur="4250">
        <p14:vortex dir="r"/>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CEEDF0D6-C385-F9AC-D517-3FF2823BB91B}"/>
              </a:ext>
            </a:extLst>
          </p:cNvPr>
          <p:cNvSpPr>
            <a:spLocks noGrp="1"/>
          </p:cNvSpPr>
          <p:nvPr>
            <p:ph type="title"/>
          </p:nvPr>
        </p:nvSpPr>
        <p:spPr>
          <a:xfrm>
            <a:off x="156411" y="1683756"/>
            <a:ext cx="3744561" cy="2396359"/>
          </a:xfrm>
        </p:spPr>
        <p:txBody>
          <a:bodyPr anchor="b">
            <a:normAutofit/>
          </a:bodyPr>
          <a:lstStyle/>
          <a:p>
            <a:pPr algn="ctr"/>
            <a:r>
              <a:rPr lang="el-GR" sz="37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Αξιοποίηση ΤΝ</a:t>
            </a:r>
            <a:r>
              <a:rPr lang="en-US" sz="37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l-GR" sz="3700" b="1"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σε εφαρμογές εφοδιαστικής (ΙΙ)</a:t>
            </a:r>
          </a:p>
        </p:txBody>
      </p:sp>
      <p:graphicFrame>
        <p:nvGraphicFramePr>
          <p:cNvPr id="5" name="Θέση περιεχομένου 2">
            <a:extLst>
              <a:ext uri="{FF2B5EF4-FFF2-40B4-BE49-F238E27FC236}">
                <a16:creationId xmlns:a16="http://schemas.microsoft.com/office/drawing/2014/main" id="{8379530D-96BD-543A-5CF4-0E8EC10E8DC0}"/>
              </a:ext>
            </a:extLst>
          </p:cNvPr>
          <p:cNvGraphicFramePr>
            <a:graphicFrameLocks noGrp="1"/>
          </p:cNvGraphicFramePr>
          <p:nvPr>
            <p:ph idx="1"/>
            <p:extLst>
              <p:ext uri="{D42A27DB-BD31-4B8C-83A1-F6EECF244321}">
                <p14:modId xmlns:p14="http://schemas.microsoft.com/office/powerpoint/2010/main" val="3636438537"/>
              </p:ext>
            </p:extLst>
          </p:nvPr>
        </p:nvGraphicFramePr>
        <p:xfrm>
          <a:off x="4057385" y="511387"/>
          <a:ext cx="8134615" cy="6346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15288007"/>
      </p:ext>
    </p:extLst>
  </p:cSld>
  <p:clrMapOvr>
    <a:masterClrMapping/>
  </p:clrMapOvr>
  <mc:AlternateContent xmlns:mc="http://schemas.openxmlformats.org/markup-compatibility/2006" xmlns:p14="http://schemas.microsoft.com/office/powerpoint/2010/main">
    <mc:Choice Requires="p14">
      <p:transition spd="slow" p14:dur="3750">
        <p14:shred/>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2D3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F0E7DBE8-B0CB-C397-D97F-F1D10163ECFA}"/>
              </a:ext>
            </a:extLst>
          </p:cNvPr>
          <p:cNvSpPr>
            <a:spLocks noGrp="1"/>
          </p:cNvSpPr>
          <p:nvPr>
            <p:ph type="title"/>
          </p:nvPr>
        </p:nvSpPr>
        <p:spPr>
          <a:xfrm>
            <a:off x="324853" y="2074363"/>
            <a:ext cx="3031957"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l-GR" sz="2800" b="1" kern="1200" noProof="0"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Παρουσίαση</a:t>
            </a:r>
            <a:r>
              <a:rPr lang="en-US" sz="2800" b="1" kern="1200" dirty="0">
                <a:solidFill>
                  <a:srgbClr val="FFFFFF"/>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/αξιολόγηση της ΑΙ εφαρμογής</a:t>
            </a:r>
          </a:p>
        </p:txBody>
      </p:sp>
      <p:pic>
        <p:nvPicPr>
          <p:cNvPr id="4" name="Εικόνα 3" descr="Εικόνα που περιέχει κείμενο, στιγμιότυπο οθόνης, λογισμικό, ιστοσελίδα&#10;&#10;Το περιεχόμενο που δημιουργείται από τεχνολογία AI ενδέχεται να είναι εσφαλμένο.">
            <a:extLst>
              <a:ext uri="{FF2B5EF4-FFF2-40B4-BE49-F238E27FC236}">
                <a16:creationId xmlns:a16="http://schemas.microsoft.com/office/drawing/2014/main" id="{2305E3DF-3476-7279-DE45-AE1CDFB77D4B}"/>
              </a:ext>
            </a:extLst>
          </p:cNvPr>
          <p:cNvPicPr>
            <a:picLocks noChangeAspect="1"/>
          </p:cNvPicPr>
          <p:nvPr/>
        </p:nvPicPr>
        <p:blipFill rotWithShape="1">
          <a:blip r:embed="rId3"/>
          <a:srcRect l="22138" r="20654" b="13536"/>
          <a:stretch/>
        </p:blipFill>
        <p:spPr bwMode="auto">
          <a:xfrm>
            <a:off x="3513222" y="72189"/>
            <a:ext cx="8353926" cy="6713621"/>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2279380409"/>
      </p:ext>
    </p:extLst>
  </p:cSld>
  <p:clrMapOvr>
    <a:masterClrMapping/>
  </p:clrMapOvr>
  <mc:AlternateContent xmlns:mc="http://schemas.openxmlformats.org/markup-compatibility/2006" xmlns:p14="http://schemas.microsoft.com/office/powerpoint/2010/main">
    <mc:Choice Requires="p14">
      <p:transition spd="slow" p14:dur="2000">
        <p14:flip dir="r"/>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7CEAEA-4C89-C5A5-5CD1-2ECB83F5AF8B}"/>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D989CE8A-6701-8483-5453-1BF12D7F9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40E242D-F4CA-A1C6-4DF1-61EFC5922A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9CC9673-2486-BED9-C923-E68A52BE898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42" name="Freeform: Shape 41">
              <a:extLst>
                <a:ext uri="{FF2B5EF4-FFF2-40B4-BE49-F238E27FC236}">
                  <a16:creationId xmlns:a16="http://schemas.microsoft.com/office/drawing/2014/main" id="{6FCA6C6C-03F7-B10A-0CA1-952E6B5B70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B268DBCF-7903-D5BB-1094-400B7E7D5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BE44155F-775B-E0B9-90DF-8DB00121B9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7A5567FC-FA06-8314-55B0-FFE89F4FA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Τίτλος 1">
            <a:extLst>
              <a:ext uri="{FF2B5EF4-FFF2-40B4-BE49-F238E27FC236}">
                <a16:creationId xmlns:a16="http://schemas.microsoft.com/office/drawing/2014/main" id="{F2D8D832-CDC8-6110-919F-BD8B88180564}"/>
              </a:ext>
            </a:extLst>
          </p:cNvPr>
          <p:cNvSpPr>
            <a:spLocks noGrp="1"/>
          </p:cNvSpPr>
          <p:nvPr>
            <p:ph type="title"/>
          </p:nvPr>
        </p:nvSpPr>
        <p:spPr>
          <a:xfrm>
            <a:off x="195653" y="-167156"/>
            <a:ext cx="11996042" cy="1837349"/>
          </a:xfrm>
        </p:spPr>
        <p:txBody>
          <a:bodyPr>
            <a:normAutofit/>
          </a:bodyPr>
          <a:lstStyle/>
          <a:p>
            <a:pPr algn="ctr">
              <a:spcBef>
                <a:spcPts val="1800"/>
              </a:spcBef>
              <a:spcAft>
                <a:spcPts val="400"/>
              </a:spcAft>
            </a:pPr>
            <a: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Οφέλη από τη χρήση </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TN </a:t>
            </a:r>
            <a: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στην εφοδιαστική αλυσίδα</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 (I)</a:t>
            </a:r>
            <a:b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br>
            <a:endParaRPr lang="el-GR" sz="4000" dirty="0">
              <a:solidFill>
                <a:schemeClr val="tx2"/>
              </a:solidFill>
            </a:endParaRPr>
          </a:p>
        </p:txBody>
      </p:sp>
      <p:grpSp>
        <p:nvGrpSpPr>
          <p:cNvPr id="47" name="Group 46">
            <a:extLst>
              <a:ext uri="{FF2B5EF4-FFF2-40B4-BE49-F238E27FC236}">
                <a16:creationId xmlns:a16="http://schemas.microsoft.com/office/drawing/2014/main" id="{D264C9D2-382A-0E6A-E53C-C66B7E2B65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48" name="Freeform: Shape 47">
              <a:extLst>
                <a:ext uri="{FF2B5EF4-FFF2-40B4-BE49-F238E27FC236}">
                  <a16:creationId xmlns:a16="http://schemas.microsoft.com/office/drawing/2014/main" id="{16C2D555-0D6C-F864-FF99-1AC5E8E5B9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3382494E-90C3-016D-7E77-0151F587D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9A8518C2-D863-B6FA-3735-6EB8040CF6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1" name="Freeform: Shape 50">
              <a:extLst>
                <a:ext uri="{FF2B5EF4-FFF2-40B4-BE49-F238E27FC236}">
                  <a16:creationId xmlns:a16="http://schemas.microsoft.com/office/drawing/2014/main" id="{E9FCCCC5-9A9B-2297-52B6-51387149D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Θέση περιεχομένου 2">
            <a:extLst>
              <a:ext uri="{FF2B5EF4-FFF2-40B4-BE49-F238E27FC236}">
                <a16:creationId xmlns:a16="http://schemas.microsoft.com/office/drawing/2014/main" id="{11C39DF4-7704-D9A5-BB96-9F0589544146}"/>
              </a:ext>
            </a:extLst>
          </p:cNvPr>
          <p:cNvSpPr>
            <a:spLocks noGrp="1"/>
          </p:cNvSpPr>
          <p:nvPr>
            <p:ph idx="1"/>
          </p:nvPr>
        </p:nvSpPr>
        <p:spPr>
          <a:xfrm>
            <a:off x="18230" y="1116797"/>
            <a:ext cx="12191695" cy="5141933"/>
          </a:xfrm>
        </p:spPr>
        <p:txBody>
          <a:bodyPr anchor="t">
            <a:noAutofit/>
          </a:bodyPr>
          <a:lstStyle/>
          <a:p>
            <a:pPr algn="just">
              <a:buNone/>
            </a:pPr>
            <a:r>
              <a:rPr lang="el-GR" sz="2700" b="1" dirty="0">
                <a:solidFill>
                  <a:schemeClr val="tx2"/>
                </a:solidFill>
                <a:latin typeface="Times New Roman" panose="02020603050405020304" pitchFamily="18" charset="0"/>
                <a:cs typeface="Times New Roman" panose="02020603050405020304" pitchFamily="18" charset="0"/>
              </a:rPr>
              <a:t>Φαρμακευτικός Κλάδος - Moderna</a:t>
            </a:r>
            <a:endParaRPr lang="el-GR" sz="2700" dirty="0">
              <a:solidFill>
                <a:schemeClr val="tx2"/>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l-GR" sz="2700" dirty="0">
                <a:solidFill>
                  <a:schemeClr val="tx2"/>
                </a:solidFill>
                <a:latin typeface="Times New Roman" panose="02020603050405020304" pitchFamily="18" charset="0"/>
                <a:cs typeface="Times New Roman" panose="02020603050405020304" pitchFamily="18" charset="0"/>
              </a:rPr>
              <a:t>Αξιοποίησε την ΤΝ για την πρόβλεψη της αυξημένης ζήτησης του εμβολίου COVID-19, προσαρμόζοντας έγκαιρα την παραγωγή και τις διανομές.</a:t>
            </a:r>
          </a:p>
          <a:p>
            <a:pPr algn="just">
              <a:buFont typeface="Arial" panose="020B0604020202020204" pitchFamily="34" charset="0"/>
              <a:buChar char="•"/>
            </a:pPr>
            <a:r>
              <a:rPr lang="el-GR" sz="2700" dirty="0">
                <a:solidFill>
                  <a:schemeClr val="tx2"/>
                </a:solidFill>
                <a:latin typeface="Times New Roman" panose="02020603050405020304" pitchFamily="18" charset="0"/>
                <a:cs typeface="Times New Roman" panose="02020603050405020304" pitchFamily="18" charset="0"/>
              </a:rPr>
              <a:t>Κατέγραψε εντυπωσιακή αύξηση πωλήσεων το 2021 (22 φορές υψηλότερα από το 2020), αγγίζοντας τα 17,7 δισ. δολάρια χάρη στην αποτελεσματική διαχείριση της παραγωγής μέσω ΤΝ.</a:t>
            </a:r>
          </a:p>
          <a:p>
            <a:pPr algn="just">
              <a:spcBef>
                <a:spcPts val="2400"/>
              </a:spcBef>
              <a:buNone/>
            </a:pPr>
            <a:r>
              <a:rPr lang="el-GR" sz="2700" b="1" dirty="0">
                <a:solidFill>
                  <a:schemeClr val="tx2"/>
                </a:solidFill>
                <a:latin typeface="Times New Roman" panose="02020603050405020304" pitchFamily="18" charset="0"/>
                <a:cs typeface="Times New Roman" panose="02020603050405020304" pitchFamily="18" charset="0"/>
              </a:rPr>
              <a:t>Βιομηχανία Ηλεκτρονικών - Samsung </a:t>
            </a:r>
            <a:r>
              <a:rPr lang="en-US" sz="2700" b="1" noProof="0" dirty="0">
                <a:solidFill>
                  <a:schemeClr val="tx2"/>
                </a:solidFill>
                <a:latin typeface="Times New Roman" panose="02020603050405020304" pitchFamily="18" charset="0"/>
                <a:cs typeface="Times New Roman" panose="02020603050405020304" pitchFamily="18" charset="0"/>
              </a:rPr>
              <a:t>Electronics</a:t>
            </a:r>
            <a:endParaRPr lang="el-GR" sz="2700" dirty="0">
              <a:solidFill>
                <a:schemeClr val="tx2"/>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l-GR" sz="2700" dirty="0">
                <a:solidFill>
                  <a:schemeClr val="tx2"/>
                </a:solidFill>
                <a:latin typeface="Times New Roman" panose="02020603050405020304" pitchFamily="18" charset="0"/>
                <a:cs typeface="Times New Roman" panose="02020603050405020304" pitchFamily="18" charset="0"/>
              </a:rPr>
              <a:t>Χρησιμοποίησε ΤΝ για την παρακολούθηση σε πραγματικό χρόνο της παγκόσμιας διαθεσιμότητας </a:t>
            </a:r>
            <a:r>
              <a:rPr lang="en-US" sz="2700" dirty="0">
                <a:solidFill>
                  <a:schemeClr val="tx2"/>
                </a:solidFill>
                <a:latin typeface="Times New Roman" panose="02020603050405020304" pitchFamily="18" charset="0"/>
                <a:cs typeface="Times New Roman" panose="02020603050405020304" pitchFamily="18" charset="0"/>
              </a:rPr>
              <a:t>microchip</a:t>
            </a:r>
            <a:r>
              <a:rPr lang="el-GR" sz="2700" dirty="0">
                <a:solidFill>
                  <a:schemeClr val="tx2"/>
                </a:solidFill>
                <a:latin typeface="Times New Roman" panose="02020603050405020304" pitchFamily="18" charset="0"/>
                <a:cs typeface="Times New Roman" panose="02020603050405020304" pitchFamily="18" charset="0"/>
              </a:rPr>
              <a:t>, εντοπίζοντας άμεσα προβλήματα και διασφαλίζοντας τη συνεχή παραγωγή.</a:t>
            </a:r>
          </a:p>
          <a:p>
            <a:pPr algn="just">
              <a:buFont typeface="Arial" panose="020B0604020202020204" pitchFamily="34" charset="0"/>
              <a:buChar char="•"/>
            </a:pPr>
            <a:r>
              <a:rPr lang="el-GR" sz="2700" dirty="0">
                <a:solidFill>
                  <a:schemeClr val="tx2"/>
                </a:solidFill>
                <a:latin typeface="Times New Roman" panose="02020603050405020304" pitchFamily="18" charset="0"/>
                <a:cs typeface="Times New Roman" panose="02020603050405020304" pitchFamily="18" charset="0"/>
              </a:rPr>
              <a:t>Κατέγραψε αύξηση πωλήσεων 29% το 2021 σε σχέση με το 2020, με συνολικά έσοδα 244.4 δισ. δολάρια, ως αποτέλεσμα της ΤΝ στη διαχείριση εφοδιαστικής αλυσίδας.</a:t>
            </a:r>
          </a:p>
        </p:txBody>
      </p:sp>
    </p:spTree>
    <p:extLst>
      <p:ext uri="{BB962C8B-B14F-4D97-AF65-F5344CB8AC3E}">
        <p14:creationId xmlns:p14="http://schemas.microsoft.com/office/powerpoint/2010/main" val="1421813493"/>
      </p:ext>
    </p:extLst>
  </p:cSld>
  <p:clrMapOvr>
    <a:masterClrMapping/>
  </p:clrMapOvr>
  <mc:AlternateContent xmlns:mc="http://schemas.openxmlformats.org/markup-compatibility/2006" xmlns:p14="http://schemas.microsoft.com/office/powerpoint/2010/main">
    <mc:Choice Requires="p14">
      <p:transition spd="slow" p14:dur="2000">
        <p14:switch dir="r"/>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42" name="Freeform: Shape 41">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Τίτλος 1">
            <a:extLst>
              <a:ext uri="{FF2B5EF4-FFF2-40B4-BE49-F238E27FC236}">
                <a16:creationId xmlns:a16="http://schemas.microsoft.com/office/drawing/2014/main" id="{EFD9D7BF-F8BD-614D-1618-6747D8C6FFA8}"/>
              </a:ext>
            </a:extLst>
          </p:cNvPr>
          <p:cNvSpPr>
            <a:spLocks noGrp="1"/>
          </p:cNvSpPr>
          <p:nvPr>
            <p:ph type="title"/>
          </p:nvPr>
        </p:nvSpPr>
        <p:spPr>
          <a:xfrm>
            <a:off x="168442" y="213498"/>
            <a:ext cx="11996042" cy="1837349"/>
          </a:xfrm>
        </p:spPr>
        <p:txBody>
          <a:bodyPr>
            <a:normAutofit/>
          </a:bodyPr>
          <a:lstStyle/>
          <a:p>
            <a:pPr algn="ctr">
              <a:spcBef>
                <a:spcPts val="1800"/>
              </a:spcBef>
              <a:spcAft>
                <a:spcPts val="400"/>
              </a:spcAft>
            </a:pPr>
            <a: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Οφέλη από τη χρήση </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TN </a:t>
            </a:r>
            <a: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στην εφοδιαστική αλυσίδα</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 (I</a:t>
            </a:r>
            <a:r>
              <a:rPr lang="en-US" sz="4000" b="1" kern="0" dirty="0">
                <a:solidFill>
                  <a:schemeClr val="tx2"/>
                </a:solidFill>
                <a:latin typeface="Aptos Display" panose="020B0004020202020204" pitchFamily="34" charset="0"/>
                <a:ea typeface="Times New Roman" panose="02020603050405020304" pitchFamily="18" charset="0"/>
                <a:cs typeface="Times New Roman" panose="02020603050405020304" pitchFamily="18" charset="0"/>
              </a:rPr>
              <a:t>I</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a:t>
            </a:r>
            <a:b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br>
            <a:endParaRPr lang="el-GR" sz="4000" dirty="0">
              <a:solidFill>
                <a:schemeClr val="tx2"/>
              </a:solidFill>
            </a:endParaRPr>
          </a:p>
        </p:txBody>
      </p:sp>
      <p:grpSp>
        <p:nvGrpSpPr>
          <p:cNvPr id="47" name="Group 46">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48" name="Freeform: Shape 47">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1" name="Freeform: Shape 50">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Θέση περιεχομένου 2">
            <a:extLst>
              <a:ext uri="{FF2B5EF4-FFF2-40B4-BE49-F238E27FC236}">
                <a16:creationId xmlns:a16="http://schemas.microsoft.com/office/drawing/2014/main" id="{281A86E8-7B4D-8220-AE24-B77479A22988}"/>
              </a:ext>
            </a:extLst>
          </p:cNvPr>
          <p:cNvSpPr>
            <a:spLocks noGrp="1"/>
          </p:cNvSpPr>
          <p:nvPr>
            <p:ph idx="1"/>
          </p:nvPr>
        </p:nvSpPr>
        <p:spPr>
          <a:xfrm>
            <a:off x="8217" y="1264857"/>
            <a:ext cx="12191695" cy="5153965"/>
          </a:xfrm>
        </p:spPr>
        <p:txBody>
          <a:bodyPr anchor="t">
            <a:noAutofit/>
          </a:bodyPr>
          <a:lstStyle/>
          <a:p>
            <a:pPr marL="0" indent="0" rtl="0">
              <a:buNone/>
            </a:pPr>
            <a:r>
              <a:rPr lang="en-029" sz="2700" b="1" dirty="0">
                <a:solidFill>
                  <a:schemeClr val="tx2"/>
                </a:solidFill>
                <a:latin typeface="Times New Roman" panose="02020603050405020304" pitchFamily="18" charset="0"/>
                <a:cs typeface="Times New Roman" panose="02020603050405020304" pitchFamily="18" charset="0"/>
              </a:rPr>
              <a:t>Logistics - DHL</a:t>
            </a:r>
          </a:p>
          <a:p>
            <a:pPr rtl="0"/>
            <a:r>
              <a:rPr lang="el-GR" sz="2700" dirty="0">
                <a:solidFill>
                  <a:schemeClr val="tx2"/>
                </a:solidFill>
                <a:latin typeface="Times New Roman" panose="02020603050405020304" pitchFamily="18" charset="0"/>
                <a:cs typeface="Times New Roman" panose="02020603050405020304" pitchFamily="18" charset="0"/>
              </a:rPr>
              <a:t>Δημιουργεί ένα δυναμικό πλαίσιο λήψης αποφάσεων, συνδυάζοντας ανθρώπινη διαίσθηση και ακρίβεια αλγορίθμων για αποτελεσματικές στρατηγικές </a:t>
            </a:r>
          </a:p>
          <a:p>
            <a:pPr algn="just"/>
            <a:r>
              <a:rPr lang="el-GR" sz="2700" dirty="0">
                <a:solidFill>
                  <a:schemeClr val="tx2"/>
                </a:solidFill>
                <a:latin typeface="Times New Roman" panose="02020603050405020304" pitchFamily="18" charset="0"/>
                <a:cs typeface="Times New Roman" panose="02020603050405020304" pitchFamily="18" charset="0"/>
              </a:rPr>
              <a:t>Αντιμετώπισε καθυστερήσεις από απεργίες σε λιμάνια της Ευρώπης μέσω της πλατφόρμας Resilience360, χρησιμοποιώντας ΤΝ για εναλλακτικές διαδρομές και ανθρώπινη εμπειρία για την τελική επιλογή</a:t>
            </a:r>
          </a:p>
          <a:p>
            <a:pPr algn="just">
              <a:spcBef>
                <a:spcPts val="1800"/>
              </a:spcBef>
              <a:buNone/>
            </a:pPr>
            <a:r>
              <a:rPr lang="el-GR" sz="2700" b="1" dirty="0">
                <a:solidFill>
                  <a:schemeClr val="tx2"/>
                </a:solidFill>
                <a:latin typeface="Times New Roman" panose="02020603050405020304" pitchFamily="18" charset="0"/>
                <a:cs typeface="Times New Roman" panose="02020603050405020304" pitchFamily="18" charset="0"/>
              </a:rPr>
              <a:t>Λιανική Μόδας – </a:t>
            </a:r>
            <a:r>
              <a:rPr lang="en-029" sz="2700" b="1" dirty="0">
                <a:solidFill>
                  <a:schemeClr val="tx2"/>
                </a:solidFill>
                <a:latin typeface="Times New Roman" panose="02020603050405020304" pitchFamily="18" charset="0"/>
                <a:cs typeface="Times New Roman" panose="02020603050405020304" pitchFamily="18" charset="0"/>
              </a:rPr>
              <a:t>Zara</a:t>
            </a:r>
            <a:endParaRPr lang="el-GR" sz="2700" b="1" dirty="0">
              <a:solidFill>
                <a:schemeClr val="tx2"/>
              </a:solidFill>
              <a:latin typeface="Times New Roman" panose="02020603050405020304" pitchFamily="18" charset="0"/>
              <a:cs typeface="Times New Roman" panose="02020603050405020304" pitchFamily="18" charset="0"/>
            </a:endParaRPr>
          </a:p>
          <a:p>
            <a:r>
              <a:rPr lang="el-GR" sz="2700" dirty="0">
                <a:solidFill>
                  <a:schemeClr val="tx2"/>
                </a:solidFill>
                <a:latin typeface="Times New Roman" panose="02020603050405020304" pitchFamily="18" charset="0"/>
                <a:cs typeface="Times New Roman" panose="02020603050405020304" pitchFamily="18" charset="0"/>
              </a:rPr>
              <a:t>Προσαρμόζει τις λύσεις στις ανάγκες κάθε επιχείρησης, ενισχύοντας την ευελιξία και τη διαχείριση απρόβλεπτων προκλήσεων, όπως οι μεταβολές στη ζήτηση.</a:t>
            </a:r>
          </a:p>
          <a:p>
            <a:pPr algn="just"/>
            <a:r>
              <a:rPr lang="el-GR" sz="2700" dirty="0">
                <a:solidFill>
                  <a:schemeClr val="tx2"/>
                </a:solidFill>
                <a:latin typeface="Times New Roman" panose="02020603050405020304" pitchFamily="18" charset="0"/>
                <a:cs typeface="Times New Roman" panose="02020603050405020304" pitchFamily="18" charset="0"/>
              </a:rPr>
              <a:t>Αξιοποιεί την ΤΝ για να αναλύει τάσεις από τα μέσα κοινωνικής δικτύωσης, προσαρμόζοντας τα αποθέματα ώστε τα καταστήματα να διαθέτουν τα δημοφιλή προϊόντα της σεζόν την κατάλληλη στιγμή.</a:t>
            </a:r>
          </a:p>
        </p:txBody>
      </p:sp>
    </p:spTree>
    <p:extLst>
      <p:ext uri="{BB962C8B-B14F-4D97-AF65-F5344CB8AC3E}">
        <p14:creationId xmlns:p14="http://schemas.microsoft.com/office/powerpoint/2010/main" val="221855724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A9855B-6045-3CC9-C4F1-3F5228622DD6}"/>
            </a:ext>
          </a:extLst>
        </p:cNvPr>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243D871-9C35-1683-A20C-8C98E90C4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5E3A1D50-F565-DC66-59EA-34D199185A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54FC0FF6-38A5-B857-4C6A-62A299B24E3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42" name="Freeform: Shape 41">
              <a:extLst>
                <a:ext uri="{FF2B5EF4-FFF2-40B4-BE49-F238E27FC236}">
                  <a16:creationId xmlns:a16="http://schemas.microsoft.com/office/drawing/2014/main" id="{93421A7F-1E37-9E61-7427-F04F4F789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EA78BEA3-99A1-AF45-A45A-F1E04A099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B1618581-9890-77D6-B1B3-8AE1956B9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AD815908-1B58-9C10-8C2B-BA28D2253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Τίτλος 1">
            <a:extLst>
              <a:ext uri="{FF2B5EF4-FFF2-40B4-BE49-F238E27FC236}">
                <a16:creationId xmlns:a16="http://schemas.microsoft.com/office/drawing/2014/main" id="{10587A7F-8741-B231-A0DE-4561EB6E3CC6}"/>
              </a:ext>
            </a:extLst>
          </p:cNvPr>
          <p:cNvSpPr>
            <a:spLocks noGrp="1"/>
          </p:cNvSpPr>
          <p:nvPr>
            <p:ph type="title"/>
          </p:nvPr>
        </p:nvSpPr>
        <p:spPr>
          <a:xfrm>
            <a:off x="168442" y="213498"/>
            <a:ext cx="11996042" cy="1837349"/>
          </a:xfrm>
        </p:spPr>
        <p:txBody>
          <a:bodyPr>
            <a:normAutofit/>
          </a:bodyPr>
          <a:lstStyle/>
          <a:p>
            <a:pPr algn="ctr">
              <a:spcBef>
                <a:spcPts val="1800"/>
              </a:spcBef>
              <a:spcAft>
                <a:spcPts val="400"/>
              </a:spcAft>
            </a:pPr>
            <a: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Οφέλη από τη χρήση </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TN </a:t>
            </a:r>
            <a: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στην εφοδιαστική αλυσίδα</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 (I</a:t>
            </a:r>
            <a:r>
              <a:rPr lang="en-US" sz="4000" b="1" kern="0" dirty="0">
                <a:solidFill>
                  <a:schemeClr val="tx2"/>
                </a:solidFill>
                <a:latin typeface="Aptos Display" panose="020B0004020202020204" pitchFamily="34" charset="0"/>
                <a:ea typeface="Times New Roman" panose="02020603050405020304" pitchFamily="18" charset="0"/>
                <a:cs typeface="Times New Roman" panose="02020603050405020304" pitchFamily="18" charset="0"/>
              </a:rPr>
              <a:t>II</a:t>
            </a:r>
            <a:r>
              <a:rPr lang="en-US"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t>)</a:t>
            </a:r>
            <a:br>
              <a:rPr lang="el-GR" sz="4000" b="1" kern="0" dirty="0">
                <a:solidFill>
                  <a:schemeClr val="tx2"/>
                </a:solidFill>
                <a:effectLst/>
                <a:latin typeface="Aptos Display" panose="020B0004020202020204" pitchFamily="34" charset="0"/>
                <a:ea typeface="Times New Roman" panose="02020603050405020304" pitchFamily="18" charset="0"/>
                <a:cs typeface="Times New Roman" panose="02020603050405020304" pitchFamily="18" charset="0"/>
              </a:rPr>
            </a:br>
            <a:endParaRPr lang="el-GR" sz="4000" dirty="0">
              <a:solidFill>
                <a:schemeClr val="tx2"/>
              </a:solidFill>
            </a:endParaRPr>
          </a:p>
        </p:txBody>
      </p:sp>
      <p:grpSp>
        <p:nvGrpSpPr>
          <p:cNvPr id="47" name="Group 46">
            <a:extLst>
              <a:ext uri="{FF2B5EF4-FFF2-40B4-BE49-F238E27FC236}">
                <a16:creationId xmlns:a16="http://schemas.microsoft.com/office/drawing/2014/main" id="{F3BF5E69-FC0E-9544-7770-D0596F2B81E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48" name="Freeform: Shape 47">
              <a:extLst>
                <a:ext uri="{FF2B5EF4-FFF2-40B4-BE49-F238E27FC236}">
                  <a16:creationId xmlns:a16="http://schemas.microsoft.com/office/drawing/2014/main" id="{37B42DA5-594D-0D69-5948-949A44D9B8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70F5A463-ADFC-7D81-F1B3-4DA96E43BA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CC7A7214-1988-EB1C-75D1-57BD24307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1" name="Freeform: Shape 50">
              <a:extLst>
                <a:ext uri="{FF2B5EF4-FFF2-40B4-BE49-F238E27FC236}">
                  <a16:creationId xmlns:a16="http://schemas.microsoft.com/office/drawing/2014/main" id="{287F594E-E070-8714-B5A2-53331E864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Θέση περιεχομένου 2">
            <a:extLst>
              <a:ext uri="{FF2B5EF4-FFF2-40B4-BE49-F238E27FC236}">
                <a16:creationId xmlns:a16="http://schemas.microsoft.com/office/drawing/2014/main" id="{2A251048-7D72-0934-C462-13A4C427A4B9}"/>
              </a:ext>
            </a:extLst>
          </p:cNvPr>
          <p:cNvSpPr>
            <a:spLocks noGrp="1"/>
          </p:cNvSpPr>
          <p:nvPr>
            <p:ph idx="1"/>
          </p:nvPr>
        </p:nvSpPr>
        <p:spPr>
          <a:xfrm>
            <a:off x="-27211" y="1600200"/>
            <a:ext cx="12191695" cy="5153965"/>
          </a:xfrm>
        </p:spPr>
        <p:txBody>
          <a:bodyPr anchor="t">
            <a:noAutofit/>
          </a:bodyPr>
          <a:lstStyle/>
          <a:p>
            <a:pPr marL="0" indent="0" rtl="0">
              <a:buNone/>
            </a:pPr>
            <a:r>
              <a:rPr lang="el-GR" sz="2700" b="1" dirty="0">
                <a:solidFill>
                  <a:schemeClr val="tx2"/>
                </a:solidFill>
                <a:latin typeface="Times New Roman" panose="02020603050405020304" pitchFamily="18" charset="0"/>
                <a:cs typeface="Times New Roman" panose="02020603050405020304" pitchFamily="18" charset="0"/>
              </a:rPr>
              <a:t>Διεθνής Εφοδιαστική Αλυσίδα - </a:t>
            </a:r>
            <a:r>
              <a:rPr lang="en-US" sz="2700" b="1" dirty="0">
                <a:solidFill>
                  <a:schemeClr val="tx2"/>
                </a:solidFill>
                <a:latin typeface="Times New Roman" panose="02020603050405020304" pitchFamily="18" charset="0"/>
                <a:cs typeface="Times New Roman" panose="02020603050405020304" pitchFamily="18" charset="0"/>
              </a:rPr>
              <a:t>Unilever</a:t>
            </a:r>
            <a:endParaRPr lang="el-GR" sz="2700" b="1" dirty="0">
              <a:solidFill>
                <a:schemeClr val="tx2"/>
              </a:solidFill>
              <a:latin typeface="Times New Roman" panose="02020603050405020304" pitchFamily="18" charset="0"/>
              <a:cs typeface="Times New Roman" panose="02020603050405020304" pitchFamily="18" charset="0"/>
            </a:endParaRPr>
          </a:p>
          <a:p>
            <a:pPr rtl="0">
              <a:buFont typeface="Arial" panose="020B0604020202020204" pitchFamily="34" charset="0"/>
              <a:buChar char="•"/>
            </a:pPr>
            <a:r>
              <a:rPr lang="el-GR" sz="2700" dirty="0">
                <a:solidFill>
                  <a:schemeClr val="tx2"/>
                </a:solidFill>
                <a:latin typeface="Times New Roman" panose="02020603050405020304" pitchFamily="18" charset="0"/>
                <a:cs typeface="Times New Roman" panose="02020603050405020304" pitchFamily="18" charset="0"/>
              </a:rPr>
              <a:t>Εξασφαλίζει δίκαιες αποφάσεις, αποτρέποντας αδικίες στους αλγορίθμους και διατηρώντας τη διαφάνεια.</a:t>
            </a:r>
          </a:p>
          <a:p>
            <a:pPr rtl="0">
              <a:buFont typeface="Arial" panose="020B0604020202020204" pitchFamily="34" charset="0"/>
              <a:buChar char="•"/>
            </a:pPr>
            <a:r>
              <a:rPr lang="el-GR" sz="2700" dirty="0">
                <a:solidFill>
                  <a:schemeClr val="tx2"/>
                </a:solidFill>
                <a:latin typeface="Times New Roman" panose="02020603050405020304" pitchFamily="18" charset="0"/>
                <a:cs typeface="Times New Roman" panose="02020603050405020304" pitchFamily="18" charset="0"/>
              </a:rPr>
              <a:t>Κατανέμει πόρους ισότιμα σε 1.000+ προμηθευτές στην Ελλάδα, διατηρώντας ισορροπία στο δίκτυο.</a:t>
            </a:r>
          </a:p>
          <a:p>
            <a:pPr marL="0" indent="0" rtl="0">
              <a:spcBef>
                <a:spcPts val="2400"/>
              </a:spcBef>
              <a:buNone/>
            </a:pPr>
            <a:r>
              <a:rPr lang="el-GR" sz="2700" b="1" dirty="0">
                <a:solidFill>
                  <a:schemeClr val="tx2"/>
                </a:solidFill>
                <a:latin typeface="Times New Roman" panose="02020603050405020304" pitchFamily="18" charset="0"/>
                <a:cs typeface="Times New Roman" panose="02020603050405020304" pitchFamily="18" charset="0"/>
              </a:rPr>
              <a:t>Παράδειγμα Μεροληψιών</a:t>
            </a:r>
          </a:p>
          <a:p>
            <a:r>
              <a:rPr lang="el-GR" sz="2700" dirty="0">
                <a:solidFill>
                  <a:schemeClr val="tx2"/>
                </a:solidFill>
                <a:latin typeface="Times New Roman" panose="02020603050405020304" pitchFamily="18" charset="0"/>
                <a:cs typeface="Times New Roman" panose="02020603050405020304" pitchFamily="18" charset="0"/>
              </a:rPr>
              <a:t>Αποτρέπει μεροληψίες, διασφαλίζοντας δίκαιες αποφάσεις και διαφάνεια για ηθική διαχείριση</a:t>
            </a:r>
          </a:p>
          <a:p>
            <a:pPr algn="just"/>
            <a:r>
              <a:rPr lang="el-GR" sz="2700" dirty="0">
                <a:solidFill>
                  <a:schemeClr val="tx2"/>
                </a:solidFill>
                <a:latin typeface="Times New Roman" panose="02020603050405020304" pitchFamily="18" charset="0"/>
                <a:cs typeface="Times New Roman" panose="02020603050405020304" pitchFamily="18" charset="0"/>
              </a:rPr>
              <a:t>Αποφεύγει την άνιση κατανομή πόρων λόγω περιορισμένων δεδομένων, μειώνοντας την αναποτελεσματικότητα, π.χ., υπερπαραγωγή για λάθος αγορές.</a:t>
            </a:r>
          </a:p>
        </p:txBody>
      </p:sp>
    </p:spTree>
    <p:extLst>
      <p:ext uri="{BB962C8B-B14F-4D97-AF65-F5344CB8AC3E}">
        <p14:creationId xmlns:p14="http://schemas.microsoft.com/office/powerpoint/2010/main" val="2648614370"/>
      </p:ext>
    </p:extLst>
  </p:cSld>
  <p:clrMapOvr>
    <a:masterClrMapping/>
  </p:clrMapOvr>
  <mc:AlternateContent xmlns:mc="http://schemas.openxmlformats.org/markup-compatibility/2006" xmlns:p14="http://schemas.microsoft.com/office/powerpoint/2010/main">
    <mc:Choice Requires="p14">
      <p:transition spd="slow" p14:dur="2250">
        <p14:window dir="ver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919F77FD-CB33-0F6C-2734-1AFD825B1890}"/>
              </a:ext>
            </a:extLst>
          </p:cNvPr>
          <p:cNvSpPr>
            <a:spLocks noGrp="1"/>
          </p:cNvSpPr>
          <p:nvPr>
            <p:ph type="title"/>
          </p:nvPr>
        </p:nvSpPr>
        <p:spPr>
          <a:xfrm>
            <a:off x="1090665" y="416052"/>
            <a:ext cx="10168128" cy="1179576"/>
          </a:xfrm>
        </p:spPr>
        <p:txBody>
          <a:bodyPr>
            <a:normAutofit/>
          </a:bodyPr>
          <a:lstStyle/>
          <a:p>
            <a:r>
              <a:rPr lang="el-GR" sz="3700" b="1" dirty="0">
                <a:effectLst/>
                <a:latin typeface="Times New Roman" panose="02020603050405020304" pitchFamily="18" charset="0"/>
                <a:ea typeface="Aptos" panose="020B0004020202020204" pitchFamily="34" charset="0"/>
                <a:cs typeface="Times New Roman" panose="02020603050405020304" pitchFamily="18" charset="0"/>
              </a:rPr>
              <a:t>Μελέτες περίπτωσης - πρακτικές εφαρμογές (Ι)</a:t>
            </a:r>
            <a:endParaRPr lang="el-GR" sz="3700" b="1" dirty="0">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Θέση περιεχομένου 2">
            <a:extLst>
              <a:ext uri="{FF2B5EF4-FFF2-40B4-BE49-F238E27FC236}">
                <a16:creationId xmlns:a16="http://schemas.microsoft.com/office/drawing/2014/main" id="{F8EA61AD-D7AD-A06D-3CD7-1D71DB4225A2}"/>
              </a:ext>
            </a:extLst>
          </p:cNvPr>
          <p:cNvSpPr>
            <a:spLocks noGrp="1"/>
          </p:cNvSpPr>
          <p:nvPr>
            <p:ph idx="1"/>
          </p:nvPr>
        </p:nvSpPr>
        <p:spPr>
          <a:xfrm>
            <a:off x="182479" y="1595628"/>
            <a:ext cx="11827042" cy="5262372"/>
          </a:xfrm>
        </p:spPr>
        <p:txBody>
          <a:bodyPr>
            <a:noAutofit/>
          </a:bodyPr>
          <a:lstStyle/>
          <a:p>
            <a:pPr marL="0" indent="0" algn="just">
              <a:lnSpc>
                <a:spcPct val="100000"/>
              </a:lnSpc>
              <a:buNone/>
            </a:pPr>
            <a:r>
              <a:rPr lang="en-CA" sz="2700" b="1" dirty="0">
                <a:effectLst/>
                <a:latin typeface="Times New Roman" panose="02020603050405020304" pitchFamily="18" charset="0"/>
                <a:ea typeface="Aptos" panose="020B0004020202020204" pitchFamily="34" charset="0"/>
              </a:rPr>
              <a:t>Walmart</a:t>
            </a:r>
            <a:r>
              <a:rPr lang="el-GR" sz="2700" b="1" dirty="0">
                <a:effectLst/>
                <a:latin typeface="Times New Roman" panose="02020603050405020304" pitchFamily="18" charset="0"/>
                <a:ea typeface="Aptos" panose="020B0004020202020204" pitchFamily="34" charset="0"/>
              </a:rPr>
              <a:t> και Διαχείριση Αποβλήτων</a:t>
            </a:r>
          </a:p>
          <a:p>
            <a:pPr algn="just">
              <a:lnSpc>
                <a:spcPct val="100000"/>
              </a:lnSpc>
              <a:buClr>
                <a:srgbClr val="002060"/>
              </a:buClr>
              <a:buSzPct val="120000"/>
            </a:pPr>
            <a:r>
              <a:rPr lang="el-GR" sz="2700" dirty="0">
                <a:effectLst/>
                <a:latin typeface="Times New Roman" panose="02020603050405020304" pitchFamily="18" charset="0"/>
                <a:ea typeface="Aptos" panose="020B0004020202020204" pitchFamily="34" charset="0"/>
              </a:rPr>
              <a:t>Η </a:t>
            </a:r>
            <a:r>
              <a:rPr lang="en-CA" sz="2700" dirty="0">
                <a:effectLst/>
                <a:latin typeface="Times New Roman" panose="02020603050405020304" pitchFamily="18" charset="0"/>
                <a:ea typeface="Aptos" panose="020B0004020202020204" pitchFamily="34" charset="0"/>
              </a:rPr>
              <a:t>Walmart</a:t>
            </a:r>
            <a:r>
              <a:rPr lang="el-GR" sz="2700" dirty="0">
                <a:effectLst/>
                <a:latin typeface="Times New Roman" panose="02020603050405020304" pitchFamily="18" charset="0"/>
                <a:ea typeface="Aptos" panose="020B0004020202020204" pitchFamily="34" charset="0"/>
              </a:rPr>
              <a:t>έχει αναπτύξει λύση ΤΝ για τη διαχείριση αποβλήτων στην εφοδιαστική της αλυσίδα. </a:t>
            </a:r>
          </a:p>
          <a:p>
            <a:pPr algn="just">
              <a:lnSpc>
                <a:spcPct val="100000"/>
              </a:lnSpc>
              <a:buClr>
                <a:srgbClr val="002060"/>
              </a:buClr>
              <a:buSzPct val="120000"/>
            </a:pPr>
            <a:r>
              <a:rPr lang="el-GR" sz="2700" dirty="0">
                <a:latin typeface="Times New Roman" panose="02020603050405020304" pitchFamily="18" charset="0"/>
                <a:ea typeface="Aptos" panose="020B0004020202020204" pitchFamily="34" charset="0"/>
              </a:rPr>
              <a:t>Αυτή </a:t>
            </a:r>
            <a:r>
              <a:rPr lang="el-GR" sz="2700" dirty="0">
                <a:effectLst/>
                <a:latin typeface="Times New Roman" panose="02020603050405020304" pitchFamily="18" charset="0"/>
                <a:ea typeface="Aptos" panose="020B0004020202020204" pitchFamily="34" charset="0"/>
              </a:rPr>
              <a:t>αναλύει δεδομένα από τα καταστήματά της, όπως η </a:t>
            </a:r>
            <a:r>
              <a:rPr lang="el-GR" sz="2700" b="1" dirty="0">
                <a:solidFill>
                  <a:srgbClr val="0070C0"/>
                </a:solidFill>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rPr>
              <a:t>διαθεσιμότητα</a:t>
            </a:r>
            <a:r>
              <a:rPr lang="el-GR" sz="2700" dirty="0">
                <a:effectLst/>
                <a:latin typeface="Times New Roman" panose="02020603050405020304" pitchFamily="18" charset="0"/>
                <a:ea typeface="Aptos" panose="020B0004020202020204" pitchFamily="34" charset="0"/>
              </a:rPr>
              <a:t> </a:t>
            </a:r>
            <a:r>
              <a:rPr lang="el-GR" sz="2700" b="1" dirty="0">
                <a:solidFill>
                  <a:srgbClr val="0070C0"/>
                </a:solidFill>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rPr>
              <a:t>αποθεμάτων</a:t>
            </a:r>
            <a:r>
              <a:rPr lang="el-GR" sz="2700" dirty="0">
                <a:effectLst/>
                <a:latin typeface="Times New Roman" panose="02020603050405020304" pitchFamily="18" charset="0"/>
                <a:ea typeface="Aptos" panose="020B0004020202020204" pitchFamily="34" charset="0"/>
              </a:rPr>
              <a:t>, η </a:t>
            </a:r>
            <a:r>
              <a:rPr lang="el-GR" sz="2700" b="1" dirty="0">
                <a:solidFill>
                  <a:srgbClr val="0070C0"/>
                </a:solidFill>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rPr>
              <a:t>εποχικότητα</a:t>
            </a:r>
            <a:r>
              <a:rPr lang="el-GR" sz="2700" dirty="0">
                <a:effectLst/>
                <a:latin typeface="Times New Roman" panose="02020603050405020304" pitchFamily="18" charset="0"/>
                <a:ea typeface="Aptos" panose="020B0004020202020204" pitchFamily="34" charset="0"/>
              </a:rPr>
              <a:t> και οι </a:t>
            </a:r>
            <a:r>
              <a:rPr lang="el-GR" sz="2700" b="1" dirty="0">
                <a:solidFill>
                  <a:srgbClr val="0070C0"/>
                </a:solidFill>
                <a:effectLst>
                  <a:outerShdw blurRad="38100" dist="38100" dir="2700000" algn="tl">
                    <a:srgbClr val="000000">
                      <a:alpha val="43137"/>
                    </a:srgbClr>
                  </a:outerShdw>
                </a:effectLst>
                <a:latin typeface="Times New Roman" panose="02020603050405020304" pitchFamily="18" charset="0"/>
                <a:ea typeface="Aptos" panose="020B0004020202020204" pitchFamily="34" charset="0"/>
              </a:rPr>
              <a:t>πωλήσεις</a:t>
            </a:r>
            <a:r>
              <a:rPr lang="el-GR" sz="2700" dirty="0">
                <a:effectLst/>
                <a:latin typeface="Times New Roman" panose="02020603050405020304" pitchFamily="18" charset="0"/>
                <a:ea typeface="Aptos" panose="020B0004020202020204" pitchFamily="34" charset="0"/>
              </a:rPr>
              <a:t>, για να εντοπίσει προϊόντα που κινδυνεύουν να γίνουν απόβλητα. </a:t>
            </a:r>
          </a:p>
          <a:p>
            <a:pPr algn="just">
              <a:lnSpc>
                <a:spcPct val="100000"/>
              </a:lnSpc>
              <a:buClr>
                <a:srgbClr val="002060"/>
              </a:buClr>
              <a:buSzPct val="120000"/>
            </a:pPr>
            <a:r>
              <a:rPr lang="el-GR" sz="2700" dirty="0">
                <a:effectLst/>
                <a:latin typeface="Times New Roman" panose="02020603050405020304" pitchFamily="18" charset="0"/>
                <a:ea typeface="Aptos" panose="020B0004020202020204" pitchFamily="34" charset="0"/>
              </a:rPr>
              <a:t>Σε ένα κατάστημα της στις ΗΠΑ το 2024, η ΤΝ εντόπισε ότι συγκεκριμένα ευπαθή προϊόντα, όπως φρούτα, δεν πουλήθηκαν έγκαιρα λόγω χαμηλής ζήτησης. </a:t>
            </a:r>
          </a:p>
          <a:p>
            <a:pPr algn="just">
              <a:lnSpc>
                <a:spcPct val="100000"/>
              </a:lnSpc>
              <a:buClr>
                <a:srgbClr val="002060"/>
              </a:buClr>
              <a:buSzPct val="120000"/>
            </a:pPr>
            <a:r>
              <a:rPr lang="el-GR" sz="2700" dirty="0">
                <a:effectLst/>
                <a:latin typeface="Times New Roman" panose="02020603050405020304" pitchFamily="18" charset="0"/>
                <a:ea typeface="Aptos" panose="020B0004020202020204" pitchFamily="34" charset="0"/>
              </a:rPr>
              <a:t>Η πλατφόρμα </a:t>
            </a:r>
            <a:r>
              <a:rPr lang="el-GR" sz="2700" b="1" dirty="0">
                <a:solidFill>
                  <a:srgbClr val="0070C0"/>
                </a:solidFill>
                <a:effectLst>
                  <a:outerShdw blurRad="38100" dist="38100" dir="2700000" algn="tl">
                    <a:srgbClr val="000000">
                      <a:alpha val="43137"/>
                    </a:srgbClr>
                  </a:outerShdw>
                </a:effectLst>
                <a:latin typeface="Times New Roman" panose="02020603050405020304" pitchFamily="18" charset="0"/>
              </a:rPr>
              <a:t>πρότεινε τη μείωση της τιμής τους </a:t>
            </a:r>
            <a:r>
              <a:rPr lang="el-GR" sz="2700" dirty="0">
                <a:effectLst/>
                <a:latin typeface="Times New Roman" panose="02020603050405020304" pitchFamily="18" charset="0"/>
                <a:ea typeface="Aptos" panose="020B0004020202020204" pitchFamily="34" charset="0"/>
              </a:rPr>
              <a:t>για να προσελκύσει πελάτες, καθώς και τη δωρεά του πλεονάσματος σε τοπικές φιλανθρωπικές οργανώσεις πριν χαλάσουν. </a:t>
            </a:r>
          </a:p>
        </p:txBody>
      </p:sp>
    </p:spTree>
    <p:extLst>
      <p:ext uri="{BB962C8B-B14F-4D97-AF65-F5344CB8AC3E}">
        <p14:creationId xmlns:p14="http://schemas.microsoft.com/office/powerpoint/2010/main" val="3692957481"/>
      </p:ext>
    </p:extLst>
  </p:cSld>
  <p:clrMapOvr>
    <a:masterClrMapping/>
  </p:clrMapOvr>
  <mc:AlternateContent xmlns:mc="http://schemas.openxmlformats.org/markup-compatibility/2006" xmlns:p14="http://schemas.microsoft.com/office/powerpoint/2010/main">
    <mc:Choice Requires="p14">
      <p:transition spd="slow" p14:dur="1750">
        <p:comb/>
      </p:transition>
    </mc:Choice>
    <mc:Fallback xmlns="">
      <p:transition spd="slow">
        <p:comb/>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F95F62-BCA4-6884-579F-51B9C3E73C5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3983F1B-1A93-1319-6DCF-7270285F7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C27B505D-3A42-B1C2-0C2E-504DBD266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3" name="Rectangle 22">
            <a:extLst>
              <a:ext uri="{FF2B5EF4-FFF2-40B4-BE49-F238E27FC236}">
                <a16:creationId xmlns:a16="http://schemas.microsoft.com/office/drawing/2014/main" id="{A5A2B6AF-99CA-E31F-0AE3-762921CDE8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4645DBD8-7D36-76DC-56FD-688BD118E228}"/>
              </a:ext>
            </a:extLst>
          </p:cNvPr>
          <p:cNvSpPr>
            <a:spLocks noGrp="1"/>
          </p:cNvSpPr>
          <p:nvPr>
            <p:ph type="title"/>
          </p:nvPr>
        </p:nvSpPr>
        <p:spPr>
          <a:xfrm>
            <a:off x="1090665" y="416052"/>
            <a:ext cx="10168128" cy="1179576"/>
          </a:xfrm>
        </p:spPr>
        <p:txBody>
          <a:bodyPr>
            <a:normAutofit/>
          </a:bodyPr>
          <a:lstStyle/>
          <a:p>
            <a:r>
              <a:rPr lang="el-GR" sz="3700" b="1" dirty="0">
                <a:effectLst/>
                <a:latin typeface="Times New Roman" panose="02020603050405020304" pitchFamily="18" charset="0"/>
                <a:ea typeface="Aptos" panose="020B0004020202020204" pitchFamily="34" charset="0"/>
                <a:cs typeface="Times New Roman" panose="02020603050405020304" pitchFamily="18" charset="0"/>
              </a:rPr>
              <a:t>Μελέτες περίπτωσης - πρακτικές εφαρμογές (ΙΙ)</a:t>
            </a:r>
            <a:endParaRPr lang="el-GR" sz="3700" b="1" dirty="0">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9710ACD0-5D1B-9042-FFE4-B888EE2F8D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Θέση περιεχομένου 2">
            <a:extLst>
              <a:ext uri="{FF2B5EF4-FFF2-40B4-BE49-F238E27FC236}">
                <a16:creationId xmlns:a16="http://schemas.microsoft.com/office/drawing/2014/main" id="{80436330-34DA-4C19-E187-1B23C94487F3}"/>
              </a:ext>
            </a:extLst>
          </p:cNvPr>
          <p:cNvSpPr>
            <a:spLocks noGrp="1"/>
          </p:cNvSpPr>
          <p:nvPr>
            <p:ph idx="1"/>
          </p:nvPr>
        </p:nvSpPr>
        <p:spPr>
          <a:xfrm>
            <a:off x="192505" y="2221992"/>
            <a:ext cx="11817016" cy="4309123"/>
          </a:xfrm>
        </p:spPr>
        <p:txBody>
          <a:bodyPr>
            <a:noAutofit/>
          </a:bodyPr>
          <a:lstStyle/>
          <a:p>
            <a:pPr marL="0" indent="0" algn="just">
              <a:lnSpc>
                <a:spcPct val="100000"/>
              </a:lnSpc>
              <a:buNone/>
            </a:pPr>
            <a:r>
              <a:rPr lang="en-MY" sz="2700" b="1" dirty="0">
                <a:latin typeface="Times New Roman" panose="02020603050405020304" pitchFamily="18" charset="0"/>
              </a:rPr>
              <a:t>Amazon</a:t>
            </a:r>
            <a:r>
              <a:rPr lang="el-GR" sz="2700" b="1" dirty="0">
                <a:latin typeface="Times New Roman" panose="02020603050405020304" pitchFamily="18" charset="0"/>
              </a:rPr>
              <a:t> και ρομποτική αποθήκευσης</a:t>
            </a:r>
            <a:endParaRPr lang="el-GR" sz="2700" b="1" dirty="0">
              <a:effectLst/>
              <a:latin typeface="Times New Roman" panose="02020603050405020304" pitchFamily="18" charset="0"/>
              <a:ea typeface="Aptos" panose="020B0004020202020204" pitchFamily="34" charset="0"/>
            </a:endParaRPr>
          </a:p>
          <a:p>
            <a:pPr algn="just">
              <a:lnSpc>
                <a:spcPct val="100000"/>
              </a:lnSpc>
              <a:buClr>
                <a:srgbClr val="002060"/>
              </a:buClr>
              <a:buSzPct val="120000"/>
            </a:pPr>
            <a:r>
              <a:rPr lang="el-GR" sz="2700" dirty="0">
                <a:latin typeface="Times New Roman" panose="02020603050405020304" pitchFamily="18" charset="0"/>
              </a:rPr>
              <a:t>Η </a:t>
            </a:r>
            <a:r>
              <a:rPr lang="en-MY" sz="2700" dirty="0">
                <a:latin typeface="Times New Roman" panose="02020603050405020304" pitchFamily="18" charset="0"/>
              </a:rPr>
              <a:t>Amazon</a:t>
            </a:r>
            <a:r>
              <a:rPr lang="el-GR" sz="2700" dirty="0">
                <a:latin typeface="Times New Roman" panose="02020603050405020304" pitchFamily="18" charset="0"/>
              </a:rPr>
              <a:t> έχει επενδύσει σημαντικά στην ΤΝ μέσω της χρήσης ρομποτικών συστημάτων στις αποθήκες της, με την </a:t>
            </a:r>
            <a:r>
              <a:rPr lang="el-GR" sz="2700">
                <a:latin typeface="Times New Roman" panose="02020603050405020304" pitchFamily="18" charset="0"/>
              </a:rPr>
              <a:t>τεχνολογία </a:t>
            </a:r>
            <a:r>
              <a:rPr lang="en-MY" sz="2700" b="1" dirty="0">
                <a:solidFill>
                  <a:srgbClr val="0070C0"/>
                </a:solidFill>
                <a:effectLst>
                  <a:outerShdw blurRad="38100" dist="38100" dir="2700000" algn="tl">
                    <a:srgbClr val="000000">
                      <a:alpha val="43137"/>
                    </a:srgbClr>
                  </a:outerShdw>
                </a:effectLst>
                <a:latin typeface="Times New Roman" panose="02020603050405020304" pitchFamily="18" charset="0"/>
              </a:rPr>
              <a:t>Amazon Robotics</a:t>
            </a:r>
            <a:r>
              <a:rPr lang="el-GR" sz="2700" b="1" dirty="0">
                <a:solidFill>
                  <a:srgbClr val="0070C0"/>
                </a:solidFill>
                <a:effectLst>
                  <a:outerShdw blurRad="38100" dist="38100" dir="2700000" algn="tl">
                    <a:srgbClr val="000000">
                      <a:alpha val="43137"/>
                    </a:srgbClr>
                  </a:outerShdw>
                </a:effectLst>
                <a:latin typeface="Times New Roman" panose="02020603050405020304" pitchFamily="18" charset="0"/>
              </a:rPr>
              <a:t> </a:t>
            </a:r>
            <a:r>
              <a:rPr lang="el-GR" sz="2700" dirty="0">
                <a:latin typeface="Times New Roman" panose="02020603050405020304" pitchFamily="18" charset="0"/>
              </a:rPr>
              <a:t>να αποτελεί χαρακτηριστικό παράδειγμα. </a:t>
            </a:r>
          </a:p>
          <a:p>
            <a:pPr algn="just">
              <a:lnSpc>
                <a:spcPct val="100000"/>
              </a:lnSpc>
              <a:buClr>
                <a:srgbClr val="002060"/>
              </a:buClr>
              <a:buSzPct val="120000"/>
            </a:pPr>
            <a:r>
              <a:rPr lang="el-GR" sz="2700" dirty="0">
                <a:latin typeface="Times New Roman" panose="02020603050405020304" pitchFamily="18" charset="0"/>
              </a:rPr>
              <a:t>Το 2023, η εταιρεία ανέπτυξε ένα δίκτυο ρομπότ που χρησιμοποιούν ΤΝ για τη διαχείριση αποθεμάτων, τη συλλογή και τη συσκευασία προϊόντων. </a:t>
            </a:r>
          </a:p>
          <a:p>
            <a:pPr algn="just">
              <a:lnSpc>
                <a:spcPct val="100000"/>
              </a:lnSpc>
              <a:buClr>
                <a:srgbClr val="002060"/>
              </a:buClr>
              <a:buSzPct val="120000"/>
            </a:pPr>
            <a:r>
              <a:rPr lang="el-GR" sz="2700" dirty="0">
                <a:latin typeface="Times New Roman" panose="02020603050405020304" pitchFamily="18" charset="0"/>
              </a:rPr>
              <a:t>Σε μια αποθήκη στο </a:t>
            </a:r>
            <a:r>
              <a:rPr lang="en-US" sz="2700" dirty="0">
                <a:latin typeface="Times New Roman" panose="02020603050405020304" pitchFamily="18" charset="0"/>
              </a:rPr>
              <a:t>Texas </a:t>
            </a:r>
            <a:r>
              <a:rPr lang="el-GR" sz="2700" dirty="0">
                <a:latin typeface="Times New Roman" panose="02020603050405020304" pitchFamily="18" charset="0"/>
              </a:rPr>
              <a:t>των ΗΠΑ, τα ρομπότ αυτά, εξοπλισμένα με όραση υπολογιστών και αλγορίθμους μηχανικής μάθησης, κατάφεραν να μειώσουν τον χρόνο επεξεργασίας παραγγελιών κατά 30%. </a:t>
            </a:r>
          </a:p>
        </p:txBody>
      </p:sp>
    </p:spTree>
    <p:extLst>
      <p:ext uri="{BB962C8B-B14F-4D97-AF65-F5344CB8AC3E}">
        <p14:creationId xmlns:p14="http://schemas.microsoft.com/office/powerpoint/2010/main" val="3877358719"/>
      </p:ext>
    </p:extLst>
  </p:cSld>
  <p:clrMapOvr>
    <a:masterClrMapping/>
  </p:clrMapOvr>
  <mc:AlternateContent xmlns:mc="http://schemas.openxmlformats.org/markup-compatibility/2006" xmlns:p14="http://schemas.microsoft.com/office/powerpoint/2010/main">
    <mc:Choice Requires="p14">
      <p:transition spd="slow" p14:dur="1750">
        <p:push dir="u"/>
      </p:transition>
    </mc:Choice>
    <mc:Fallback xmlns="">
      <p:transition spd="slow">
        <p:push dir="u"/>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DBA7DF-6786-0AEB-705B-1A4E45B6B322}"/>
              </a:ext>
            </a:extLst>
          </p:cNvPr>
          <p:cNvPicPr>
            <a:picLocks noChangeAspect="1"/>
          </p:cNvPicPr>
          <p:nvPr/>
        </p:nvPicPr>
        <p:blipFill>
          <a:blip r:embed="rId2">
            <a:duotone>
              <a:schemeClr val="bg2">
                <a:shade val="45000"/>
                <a:satMod val="135000"/>
              </a:schemeClr>
              <a:prstClr val="white"/>
            </a:duotone>
          </a:blip>
          <a:srcRect t="15730"/>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356A7FBA-2352-AB8A-CD42-FA005BDBEA0D}"/>
              </a:ext>
            </a:extLst>
          </p:cNvPr>
          <p:cNvSpPr>
            <a:spLocks noGrp="1"/>
          </p:cNvSpPr>
          <p:nvPr>
            <p:ph type="title"/>
          </p:nvPr>
        </p:nvSpPr>
        <p:spPr>
          <a:xfrm>
            <a:off x="838200" y="-269420"/>
            <a:ext cx="10515600" cy="1325563"/>
          </a:xfrm>
        </p:spPr>
        <p:txBody>
          <a:bodyPr>
            <a:normAutofit/>
          </a:bodyPr>
          <a:lstStyle/>
          <a:p>
            <a:r>
              <a:rPr lang="el-GR" b="1" dirty="0">
                <a:effectLst>
                  <a:outerShdw blurRad="38100" dist="38100" dir="2700000" algn="tl">
                    <a:srgbClr val="000000">
                      <a:alpha val="43137"/>
                    </a:srgbClr>
                  </a:outerShdw>
                </a:effectLst>
                <a:latin typeface="Aptos" panose="020B0004020202020204" pitchFamily="34" charset="0"/>
                <a:ea typeface="Aptos" panose="020B0004020202020204" pitchFamily="34" charset="0"/>
                <a:cs typeface="Times New Roman" panose="02020603050405020304" pitchFamily="18" charset="0"/>
              </a:rPr>
              <a:t>Μελλοντικές βελτιώσεις - Προτάσεις  (Ι)</a:t>
            </a:r>
            <a:endParaRPr lang="el-GR" b="1" dirty="0">
              <a:effectLst>
                <a:outerShdw blurRad="38100" dist="38100" dir="2700000" algn="tl">
                  <a:srgbClr val="000000">
                    <a:alpha val="43137"/>
                  </a:srgbClr>
                </a:outerShdw>
              </a:effectLst>
            </a:endParaRPr>
          </a:p>
        </p:txBody>
      </p:sp>
      <p:graphicFrame>
        <p:nvGraphicFramePr>
          <p:cNvPr id="5" name="Θέση περιεχομένου 2">
            <a:extLst>
              <a:ext uri="{FF2B5EF4-FFF2-40B4-BE49-F238E27FC236}">
                <a16:creationId xmlns:a16="http://schemas.microsoft.com/office/drawing/2014/main" id="{AF7EEEE2-5DFD-4CA9-BE23-9EEF0A8DCC86}"/>
              </a:ext>
            </a:extLst>
          </p:cNvPr>
          <p:cNvGraphicFramePr>
            <a:graphicFrameLocks noGrp="1"/>
          </p:cNvGraphicFramePr>
          <p:nvPr>
            <p:ph idx="1"/>
            <p:extLst>
              <p:ext uri="{D42A27DB-BD31-4B8C-83A1-F6EECF244321}">
                <p14:modId xmlns:p14="http://schemas.microsoft.com/office/powerpoint/2010/main" val="483172975"/>
              </p:ext>
            </p:extLst>
          </p:nvPr>
        </p:nvGraphicFramePr>
        <p:xfrm>
          <a:off x="0" y="1167063"/>
          <a:ext cx="12191999" cy="5269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076055"/>
      </p:ext>
    </p:extLst>
  </p:cSld>
  <p:clrMapOvr>
    <a:masterClrMapping/>
  </p:clrMapOvr>
  <mc:AlternateContent xmlns:mc="http://schemas.openxmlformats.org/markup-compatibility/2006" xmlns:p14="http://schemas.microsoft.com/office/powerpoint/2010/main">
    <mc:Choice Requires="p14">
      <p:transition spd="slow" p14:dur="1500">
        <p:wipe/>
      </p:transition>
    </mc:Choice>
    <mc:Fallback xmlns="">
      <p:transition spd="slow">
        <p:wip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3DC2E0-35A1-0F5B-BBEA-3D1A216C384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A4D38EC-F3F8-18E9-05FF-39B78FCDDCBA}"/>
              </a:ext>
            </a:extLst>
          </p:cNvPr>
          <p:cNvPicPr>
            <a:picLocks noChangeAspect="1"/>
          </p:cNvPicPr>
          <p:nvPr/>
        </p:nvPicPr>
        <p:blipFill>
          <a:blip r:embed="rId3">
            <a:duotone>
              <a:schemeClr val="bg2">
                <a:shade val="45000"/>
                <a:satMod val="135000"/>
              </a:schemeClr>
              <a:prstClr val="white"/>
            </a:duotone>
          </a:blip>
          <a:srcRect t="15730"/>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98F07FC3-E034-6195-8F7E-260F99967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C49E5871-586A-6677-A3E4-4475DAC80ADB}"/>
              </a:ext>
            </a:extLst>
          </p:cNvPr>
          <p:cNvSpPr>
            <a:spLocks noGrp="1"/>
          </p:cNvSpPr>
          <p:nvPr>
            <p:ph type="title"/>
          </p:nvPr>
        </p:nvSpPr>
        <p:spPr>
          <a:xfrm rot="16200000">
            <a:off x="-2712072" y="2820365"/>
            <a:ext cx="6749708" cy="1325563"/>
          </a:xfrm>
        </p:spPr>
        <p:txBody>
          <a:bodyPr>
            <a:normAutofit/>
          </a:bodyPr>
          <a:lstStyle/>
          <a:p>
            <a:pPr algn="ctr"/>
            <a:r>
              <a:rPr lang="el-GR" sz="4000" b="1" dirty="0">
                <a:effectLst>
                  <a:outerShdw blurRad="38100" dist="38100" dir="2700000" algn="tl">
                    <a:srgbClr val="000000">
                      <a:alpha val="43137"/>
                    </a:srgbClr>
                  </a:outerShdw>
                </a:effectLst>
                <a:latin typeface="Aptos" panose="020B0004020202020204" pitchFamily="34" charset="0"/>
                <a:ea typeface="Aptos" panose="020B0004020202020204" pitchFamily="34" charset="0"/>
                <a:cs typeface="Times New Roman" panose="02020603050405020304" pitchFamily="18" charset="0"/>
              </a:rPr>
              <a:t>Μελλοντικές βελτιώσεις –</a:t>
            </a:r>
            <a:br>
              <a:rPr lang="el-GR" sz="4000" b="1" dirty="0">
                <a:effectLst>
                  <a:outerShdw blurRad="38100" dist="38100" dir="2700000" algn="tl">
                    <a:srgbClr val="000000">
                      <a:alpha val="43137"/>
                    </a:srgbClr>
                  </a:outerShdw>
                </a:effectLst>
                <a:latin typeface="Aptos" panose="020B0004020202020204" pitchFamily="34" charset="0"/>
                <a:ea typeface="Aptos" panose="020B0004020202020204" pitchFamily="34" charset="0"/>
                <a:cs typeface="Times New Roman" panose="02020603050405020304" pitchFamily="18" charset="0"/>
              </a:rPr>
            </a:br>
            <a:r>
              <a:rPr lang="el-GR" sz="4000" b="1" dirty="0">
                <a:effectLst>
                  <a:outerShdw blurRad="38100" dist="38100" dir="2700000" algn="tl">
                    <a:srgbClr val="000000">
                      <a:alpha val="43137"/>
                    </a:srgbClr>
                  </a:outerShdw>
                </a:effectLst>
                <a:latin typeface="Aptos" panose="020B0004020202020204" pitchFamily="34" charset="0"/>
                <a:ea typeface="Aptos" panose="020B0004020202020204" pitchFamily="34" charset="0"/>
                <a:cs typeface="Times New Roman" panose="02020603050405020304" pitchFamily="18" charset="0"/>
              </a:rPr>
              <a:t> Προτάσεις  (ΙΙ)</a:t>
            </a:r>
            <a:endParaRPr lang="el-GR" sz="4000" b="1" dirty="0">
              <a:effectLst>
                <a:outerShdw blurRad="38100" dist="38100" dir="2700000" algn="tl">
                  <a:srgbClr val="000000">
                    <a:alpha val="43137"/>
                  </a:srgbClr>
                </a:outerShdw>
              </a:effectLst>
            </a:endParaRPr>
          </a:p>
        </p:txBody>
      </p:sp>
      <p:pic>
        <p:nvPicPr>
          <p:cNvPr id="9" name="Εικόνα 8">
            <a:extLst>
              <a:ext uri="{FF2B5EF4-FFF2-40B4-BE49-F238E27FC236}">
                <a16:creationId xmlns:a16="http://schemas.microsoft.com/office/drawing/2014/main" id="{9F09FDDD-0CDE-FAC9-FC21-295262836C8D}"/>
              </a:ext>
            </a:extLst>
          </p:cNvPr>
          <p:cNvPicPr>
            <a:picLocks noChangeAspect="1"/>
          </p:cNvPicPr>
          <p:nvPr/>
        </p:nvPicPr>
        <p:blipFill>
          <a:blip r:embed="rId4"/>
          <a:stretch>
            <a:fillRect/>
          </a:stretch>
        </p:blipFill>
        <p:spPr>
          <a:xfrm>
            <a:off x="1354438" y="-1"/>
            <a:ext cx="9135959" cy="2325752"/>
          </a:xfrm>
          <a:prstGeom prst="rect">
            <a:avLst/>
          </a:prstGeom>
        </p:spPr>
      </p:pic>
      <p:pic>
        <p:nvPicPr>
          <p:cNvPr id="12" name="Εικόνα 11">
            <a:extLst>
              <a:ext uri="{FF2B5EF4-FFF2-40B4-BE49-F238E27FC236}">
                <a16:creationId xmlns:a16="http://schemas.microsoft.com/office/drawing/2014/main" id="{F599D476-785B-4AAE-CEBA-0A535B84C85C}"/>
              </a:ext>
            </a:extLst>
          </p:cNvPr>
          <p:cNvPicPr>
            <a:picLocks noChangeAspect="1"/>
          </p:cNvPicPr>
          <p:nvPr/>
        </p:nvPicPr>
        <p:blipFill>
          <a:blip r:embed="rId5"/>
          <a:stretch>
            <a:fillRect/>
          </a:stretch>
        </p:blipFill>
        <p:spPr>
          <a:xfrm>
            <a:off x="1354438" y="2442835"/>
            <a:ext cx="9341636" cy="4415165"/>
          </a:xfrm>
          <a:prstGeom prst="rect">
            <a:avLst/>
          </a:prstGeom>
          <a:effectLst>
            <a:outerShdw blurRad="50800" dist="50800" dir="5400000" sx="75000" sy="75000" algn="ctr" rotWithShape="0">
              <a:srgbClr val="000000">
                <a:alpha val="43137"/>
              </a:srgbClr>
            </a:outerShdw>
          </a:effectLst>
        </p:spPr>
      </p:pic>
    </p:spTree>
    <p:extLst>
      <p:ext uri="{BB962C8B-B14F-4D97-AF65-F5344CB8AC3E}">
        <p14:creationId xmlns:p14="http://schemas.microsoft.com/office/powerpoint/2010/main" val="3048321953"/>
      </p:ext>
    </p:extLst>
  </p:cSld>
  <p:clrMapOvr>
    <a:masterClrMapping/>
  </p:clrMapOvr>
  <mc:AlternateContent xmlns:mc="http://schemas.openxmlformats.org/markup-compatibility/2006" xmlns:p14="http://schemas.microsoft.com/office/powerpoint/2010/main">
    <mc:Choice Requires="p14">
      <p:transition spd="slow" p14:dur="1750">
        <p14:warp dir="in"/>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362810D9-2C5A-477D-949C-C191895477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467"/>
            <a:ext cx="12191999" cy="6866467"/>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Τίτλος 1">
            <a:extLst>
              <a:ext uri="{FF2B5EF4-FFF2-40B4-BE49-F238E27FC236}">
                <a16:creationId xmlns:a16="http://schemas.microsoft.com/office/drawing/2014/main" id="{A096FACC-16A9-6AF3-C436-B7BFE48AF5B0}"/>
              </a:ext>
            </a:extLst>
          </p:cNvPr>
          <p:cNvSpPr>
            <a:spLocks noGrp="1"/>
          </p:cNvSpPr>
          <p:nvPr>
            <p:ph type="title"/>
          </p:nvPr>
        </p:nvSpPr>
        <p:spPr>
          <a:xfrm>
            <a:off x="1105660" y="-8467"/>
            <a:ext cx="9606103" cy="1076283"/>
          </a:xfrm>
        </p:spPr>
        <p:txBody>
          <a:bodyPr>
            <a:normAutofit/>
          </a:bodyPr>
          <a:lstStyle/>
          <a:p>
            <a:pPr algn="ctr"/>
            <a:r>
              <a:rPr lang="el-GR" sz="4800" b="1" dirty="0">
                <a:solidFill>
                  <a:srgbClr val="FFFFFF"/>
                </a:solidFill>
                <a:effectLst>
                  <a:outerShdw blurRad="38100" dist="38100" dir="2700000" algn="tl">
                    <a:srgbClr val="000000">
                      <a:alpha val="43137"/>
                    </a:srgbClr>
                  </a:outerShdw>
                </a:effectLst>
              </a:rPr>
              <a:t>Συμπεράσματα (Ι)</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5" name="Θέση περιεχομένου 2">
            <a:extLst>
              <a:ext uri="{FF2B5EF4-FFF2-40B4-BE49-F238E27FC236}">
                <a16:creationId xmlns:a16="http://schemas.microsoft.com/office/drawing/2014/main" id="{B9DA3BF0-C7EB-0B5B-E613-1688BA91468E}"/>
              </a:ext>
            </a:extLst>
          </p:cNvPr>
          <p:cNvGraphicFramePr>
            <a:graphicFrameLocks noGrp="1"/>
          </p:cNvGraphicFramePr>
          <p:nvPr>
            <p:ph idx="1"/>
            <p:extLst>
              <p:ext uri="{D42A27DB-BD31-4B8C-83A1-F6EECF244321}">
                <p14:modId xmlns:p14="http://schemas.microsoft.com/office/powerpoint/2010/main" val="554648819"/>
              </p:ext>
            </p:extLst>
          </p:nvPr>
        </p:nvGraphicFramePr>
        <p:xfrm>
          <a:off x="409074" y="1251284"/>
          <a:ext cx="11224761" cy="52876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7292893"/>
      </p:ext>
    </p:extLst>
  </p:cSld>
  <p:clrMapOvr>
    <a:masterClrMapping/>
  </p:clrMapOvr>
  <mc:AlternateContent xmlns:mc="http://schemas.openxmlformats.org/markup-compatibility/2006" xmlns:p14="http://schemas.microsoft.com/office/powerpoint/2010/main">
    <mc:Choice Requires="p14">
      <p:transition spd="slow" p14:dur="1750">
        <p14:conveyor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A8C7DD-6FEA-601A-4424-BDEC6248EAE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A9F7B4E-B03D-4F64-BE33-00D074458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Τίτλος 1">
            <a:extLst>
              <a:ext uri="{FF2B5EF4-FFF2-40B4-BE49-F238E27FC236}">
                <a16:creationId xmlns:a16="http://schemas.microsoft.com/office/drawing/2014/main" id="{4982FFDB-F088-27B2-B692-3202757D4F45}"/>
              </a:ext>
            </a:extLst>
          </p:cNvPr>
          <p:cNvSpPr>
            <a:spLocks noGrp="1"/>
          </p:cNvSpPr>
          <p:nvPr>
            <p:ph type="title"/>
          </p:nvPr>
        </p:nvSpPr>
        <p:spPr>
          <a:xfrm>
            <a:off x="882316" y="339442"/>
            <a:ext cx="10515600" cy="1325563"/>
          </a:xfrm>
        </p:spPr>
        <p:txBody>
          <a:bodyPr>
            <a:normAutofit/>
          </a:bodyPr>
          <a:lstStyle/>
          <a:p>
            <a:pPr algn="ctr"/>
            <a:r>
              <a:rPr lang="el-GR" sz="5400" b="1" dirty="0">
                <a:solidFill>
                  <a:schemeClr val="bg1"/>
                </a:solidFill>
                <a:effectLst>
                  <a:outerShdw blurRad="38100" dist="38100" dir="2700000" algn="tl">
                    <a:srgbClr val="000000">
                      <a:alpha val="43137"/>
                    </a:srgbClr>
                  </a:outerShdw>
                </a:effectLst>
              </a:rPr>
              <a:t>Συμπεράσματα (ΙΙ)</a:t>
            </a:r>
          </a:p>
        </p:txBody>
      </p:sp>
      <p:sp>
        <p:nvSpPr>
          <p:cNvPr id="12" name="sketchy line">
            <a:extLst>
              <a:ext uri="{FF2B5EF4-FFF2-40B4-BE49-F238E27FC236}">
                <a16:creationId xmlns:a16="http://schemas.microsoft.com/office/drawing/2014/main" id="{7E2BE7F7-CA89-4002-ACCE-A478AEA24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4399" y="1681544"/>
            <a:ext cx="9692640" cy="18288"/>
          </a:xfrm>
          <a:custGeom>
            <a:avLst/>
            <a:gdLst>
              <a:gd name="connsiteX0" fmla="*/ 0 w 9692640"/>
              <a:gd name="connsiteY0" fmla="*/ 0 h 18288"/>
              <a:gd name="connsiteX1" fmla="*/ 401552 w 9692640"/>
              <a:gd name="connsiteY1" fmla="*/ 0 h 18288"/>
              <a:gd name="connsiteX2" fmla="*/ 996957 w 9692640"/>
              <a:gd name="connsiteY2" fmla="*/ 0 h 18288"/>
              <a:gd name="connsiteX3" fmla="*/ 1398509 w 9692640"/>
              <a:gd name="connsiteY3" fmla="*/ 0 h 18288"/>
              <a:gd name="connsiteX4" fmla="*/ 2090841 w 9692640"/>
              <a:gd name="connsiteY4" fmla="*/ 0 h 18288"/>
              <a:gd name="connsiteX5" fmla="*/ 2686246 w 9692640"/>
              <a:gd name="connsiteY5" fmla="*/ 0 h 18288"/>
              <a:gd name="connsiteX6" fmla="*/ 3475504 w 9692640"/>
              <a:gd name="connsiteY6" fmla="*/ 0 h 18288"/>
              <a:gd name="connsiteX7" fmla="*/ 4361688 w 9692640"/>
              <a:gd name="connsiteY7" fmla="*/ 0 h 18288"/>
              <a:gd name="connsiteX8" fmla="*/ 5054019 w 9692640"/>
              <a:gd name="connsiteY8" fmla="*/ 0 h 18288"/>
              <a:gd name="connsiteX9" fmla="*/ 5940204 w 9692640"/>
              <a:gd name="connsiteY9" fmla="*/ 0 h 18288"/>
              <a:gd name="connsiteX10" fmla="*/ 6632535 w 9692640"/>
              <a:gd name="connsiteY10" fmla="*/ 0 h 18288"/>
              <a:gd name="connsiteX11" fmla="*/ 7034087 w 9692640"/>
              <a:gd name="connsiteY11" fmla="*/ 0 h 18288"/>
              <a:gd name="connsiteX12" fmla="*/ 7532566 w 9692640"/>
              <a:gd name="connsiteY12" fmla="*/ 0 h 18288"/>
              <a:gd name="connsiteX13" fmla="*/ 8418750 w 9692640"/>
              <a:gd name="connsiteY13" fmla="*/ 0 h 18288"/>
              <a:gd name="connsiteX14" fmla="*/ 9692640 w 9692640"/>
              <a:gd name="connsiteY14" fmla="*/ 0 h 18288"/>
              <a:gd name="connsiteX15" fmla="*/ 9692640 w 9692640"/>
              <a:gd name="connsiteY15" fmla="*/ 18288 h 18288"/>
              <a:gd name="connsiteX16" fmla="*/ 9000309 w 9692640"/>
              <a:gd name="connsiteY16" fmla="*/ 18288 h 18288"/>
              <a:gd name="connsiteX17" fmla="*/ 8307977 w 9692640"/>
              <a:gd name="connsiteY17" fmla="*/ 18288 h 18288"/>
              <a:gd name="connsiteX18" fmla="*/ 7712572 w 9692640"/>
              <a:gd name="connsiteY18" fmla="*/ 18288 h 18288"/>
              <a:gd name="connsiteX19" fmla="*/ 7214093 w 9692640"/>
              <a:gd name="connsiteY19" fmla="*/ 18288 h 18288"/>
              <a:gd name="connsiteX20" fmla="*/ 6327909 w 9692640"/>
              <a:gd name="connsiteY20" fmla="*/ 18288 h 18288"/>
              <a:gd name="connsiteX21" fmla="*/ 5635578 w 9692640"/>
              <a:gd name="connsiteY21" fmla="*/ 18288 h 18288"/>
              <a:gd name="connsiteX22" fmla="*/ 4846320 w 9692640"/>
              <a:gd name="connsiteY22" fmla="*/ 18288 h 18288"/>
              <a:gd name="connsiteX23" fmla="*/ 4444768 w 9692640"/>
              <a:gd name="connsiteY23" fmla="*/ 18288 h 18288"/>
              <a:gd name="connsiteX24" fmla="*/ 3946289 w 9692640"/>
              <a:gd name="connsiteY24" fmla="*/ 18288 h 18288"/>
              <a:gd name="connsiteX25" fmla="*/ 3253958 w 9692640"/>
              <a:gd name="connsiteY25" fmla="*/ 18288 h 18288"/>
              <a:gd name="connsiteX26" fmla="*/ 2464700 w 9692640"/>
              <a:gd name="connsiteY26" fmla="*/ 18288 h 18288"/>
              <a:gd name="connsiteX27" fmla="*/ 2063148 w 9692640"/>
              <a:gd name="connsiteY27" fmla="*/ 18288 h 18288"/>
              <a:gd name="connsiteX28" fmla="*/ 1661595 w 9692640"/>
              <a:gd name="connsiteY28" fmla="*/ 18288 h 18288"/>
              <a:gd name="connsiteX29" fmla="*/ 969264 w 9692640"/>
              <a:gd name="connsiteY29" fmla="*/ 18288 h 18288"/>
              <a:gd name="connsiteX30" fmla="*/ 0 w 9692640"/>
              <a:gd name="connsiteY30" fmla="*/ 18288 h 18288"/>
              <a:gd name="connsiteX31" fmla="*/ 0 w 9692640"/>
              <a:gd name="connsiteY3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692640" h="18288" fill="none" extrusionOk="0">
                <a:moveTo>
                  <a:pt x="0" y="0"/>
                </a:moveTo>
                <a:cubicBezTo>
                  <a:pt x="142992" y="4732"/>
                  <a:pt x="265909" y="-3365"/>
                  <a:pt x="401552" y="0"/>
                </a:cubicBezTo>
                <a:cubicBezTo>
                  <a:pt x="537195" y="3365"/>
                  <a:pt x="738153" y="6482"/>
                  <a:pt x="996957" y="0"/>
                </a:cubicBezTo>
                <a:cubicBezTo>
                  <a:pt x="1255762" y="-6482"/>
                  <a:pt x="1280511" y="12509"/>
                  <a:pt x="1398509" y="0"/>
                </a:cubicBezTo>
                <a:cubicBezTo>
                  <a:pt x="1516507" y="-12509"/>
                  <a:pt x="1782573" y="-31523"/>
                  <a:pt x="2090841" y="0"/>
                </a:cubicBezTo>
                <a:cubicBezTo>
                  <a:pt x="2399109" y="31523"/>
                  <a:pt x="2488380" y="26286"/>
                  <a:pt x="2686246" y="0"/>
                </a:cubicBezTo>
                <a:cubicBezTo>
                  <a:pt x="2884112" y="-26286"/>
                  <a:pt x="3186024" y="-14734"/>
                  <a:pt x="3475504" y="0"/>
                </a:cubicBezTo>
                <a:cubicBezTo>
                  <a:pt x="3764984" y="14734"/>
                  <a:pt x="4053017" y="43292"/>
                  <a:pt x="4361688" y="0"/>
                </a:cubicBezTo>
                <a:cubicBezTo>
                  <a:pt x="4670359" y="-43292"/>
                  <a:pt x="4736164" y="-729"/>
                  <a:pt x="5054019" y="0"/>
                </a:cubicBezTo>
                <a:cubicBezTo>
                  <a:pt x="5371874" y="729"/>
                  <a:pt x="5543528" y="-22963"/>
                  <a:pt x="5940204" y="0"/>
                </a:cubicBezTo>
                <a:cubicBezTo>
                  <a:pt x="6336881" y="22963"/>
                  <a:pt x="6423838" y="6469"/>
                  <a:pt x="6632535" y="0"/>
                </a:cubicBezTo>
                <a:cubicBezTo>
                  <a:pt x="6841232" y="-6469"/>
                  <a:pt x="6852819" y="17036"/>
                  <a:pt x="7034087" y="0"/>
                </a:cubicBezTo>
                <a:cubicBezTo>
                  <a:pt x="7215355" y="-17036"/>
                  <a:pt x="7313136" y="11151"/>
                  <a:pt x="7532566" y="0"/>
                </a:cubicBezTo>
                <a:cubicBezTo>
                  <a:pt x="7751996" y="-11151"/>
                  <a:pt x="8015001" y="25614"/>
                  <a:pt x="8418750" y="0"/>
                </a:cubicBezTo>
                <a:cubicBezTo>
                  <a:pt x="8822499" y="-25614"/>
                  <a:pt x="9163239" y="48603"/>
                  <a:pt x="9692640" y="0"/>
                </a:cubicBezTo>
                <a:cubicBezTo>
                  <a:pt x="9691955" y="4437"/>
                  <a:pt x="9693170" y="10717"/>
                  <a:pt x="9692640" y="18288"/>
                </a:cubicBezTo>
                <a:cubicBezTo>
                  <a:pt x="9545125" y="42172"/>
                  <a:pt x="9164259" y="6706"/>
                  <a:pt x="9000309" y="18288"/>
                </a:cubicBezTo>
                <a:cubicBezTo>
                  <a:pt x="8836359" y="29870"/>
                  <a:pt x="8521035" y="-14108"/>
                  <a:pt x="8307977" y="18288"/>
                </a:cubicBezTo>
                <a:cubicBezTo>
                  <a:pt x="8094919" y="50684"/>
                  <a:pt x="7881757" y="11235"/>
                  <a:pt x="7712572" y="18288"/>
                </a:cubicBezTo>
                <a:cubicBezTo>
                  <a:pt x="7543387" y="25341"/>
                  <a:pt x="7358861" y="20625"/>
                  <a:pt x="7214093" y="18288"/>
                </a:cubicBezTo>
                <a:cubicBezTo>
                  <a:pt x="7069325" y="15951"/>
                  <a:pt x="6523705" y="52160"/>
                  <a:pt x="6327909" y="18288"/>
                </a:cubicBezTo>
                <a:cubicBezTo>
                  <a:pt x="6132113" y="-15584"/>
                  <a:pt x="5923847" y="21204"/>
                  <a:pt x="5635578" y="18288"/>
                </a:cubicBezTo>
                <a:cubicBezTo>
                  <a:pt x="5347309" y="15372"/>
                  <a:pt x="5114749" y="50642"/>
                  <a:pt x="4846320" y="18288"/>
                </a:cubicBezTo>
                <a:cubicBezTo>
                  <a:pt x="4577891" y="-14066"/>
                  <a:pt x="4576701" y="1487"/>
                  <a:pt x="4444768" y="18288"/>
                </a:cubicBezTo>
                <a:cubicBezTo>
                  <a:pt x="4312835" y="35089"/>
                  <a:pt x="4112575" y="15158"/>
                  <a:pt x="3946289" y="18288"/>
                </a:cubicBezTo>
                <a:cubicBezTo>
                  <a:pt x="3780003" y="21418"/>
                  <a:pt x="3396009" y="18797"/>
                  <a:pt x="3253958" y="18288"/>
                </a:cubicBezTo>
                <a:cubicBezTo>
                  <a:pt x="3111907" y="17779"/>
                  <a:pt x="2760272" y="57223"/>
                  <a:pt x="2464700" y="18288"/>
                </a:cubicBezTo>
                <a:cubicBezTo>
                  <a:pt x="2169128" y="-20647"/>
                  <a:pt x="2232262" y="7960"/>
                  <a:pt x="2063148" y="18288"/>
                </a:cubicBezTo>
                <a:cubicBezTo>
                  <a:pt x="1894034" y="28616"/>
                  <a:pt x="1799338" y="3019"/>
                  <a:pt x="1661595" y="18288"/>
                </a:cubicBezTo>
                <a:cubicBezTo>
                  <a:pt x="1523852" y="33557"/>
                  <a:pt x="1113928" y="-4352"/>
                  <a:pt x="969264" y="18288"/>
                </a:cubicBezTo>
                <a:cubicBezTo>
                  <a:pt x="824600" y="40928"/>
                  <a:pt x="356149" y="-3128"/>
                  <a:pt x="0" y="18288"/>
                </a:cubicBezTo>
                <a:cubicBezTo>
                  <a:pt x="-540" y="12521"/>
                  <a:pt x="894" y="7749"/>
                  <a:pt x="0" y="0"/>
                </a:cubicBezTo>
                <a:close/>
              </a:path>
              <a:path w="9692640" h="18288" stroke="0" extrusionOk="0">
                <a:moveTo>
                  <a:pt x="0" y="0"/>
                </a:moveTo>
                <a:cubicBezTo>
                  <a:pt x="162642" y="3864"/>
                  <a:pt x="346119" y="-18364"/>
                  <a:pt x="498479" y="0"/>
                </a:cubicBezTo>
                <a:cubicBezTo>
                  <a:pt x="650839" y="18364"/>
                  <a:pt x="712065" y="-9389"/>
                  <a:pt x="900031" y="0"/>
                </a:cubicBezTo>
                <a:cubicBezTo>
                  <a:pt x="1087997" y="9389"/>
                  <a:pt x="1177291" y="3685"/>
                  <a:pt x="1398509" y="0"/>
                </a:cubicBezTo>
                <a:cubicBezTo>
                  <a:pt x="1619727" y="-3685"/>
                  <a:pt x="1874008" y="-8897"/>
                  <a:pt x="2090841" y="0"/>
                </a:cubicBezTo>
                <a:cubicBezTo>
                  <a:pt x="2307674" y="8897"/>
                  <a:pt x="2573432" y="-313"/>
                  <a:pt x="2880099" y="0"/>
                </a:cubicBezTo>
                <a:cubicBezTo>
                  <a:pt x="3186766" y="313"/>
                  <a:pt x="3422577" y="10664"/>
                  <a:pt x="3766283" y="0"/>
                </a:cubicBezTo>
                <a:cubicBezTo>
                  <a:pt x="4109989" y="-10664"/>
                  <a:pt x="4342683" y="-32873"/>
                  <a:pt x="4652467" y="0"/>
                </a:cubicBezTo>
                <a:cubicBezTo>
                  <a:pt x="4962251" y="32873"/>
                  <a:pt x="5122120" y="29155"/>
                  <a:pt x="5247872" y="0"/>
                </a:cubicBezTo>
                <a:cubicBezTo>
                  <a:pt x="5373625" y="-29155"/>
                  <a:pt x="5749491" y="1706"/>
                  <a:pt x="6037130" y="0"/>
                </a:cubicBezTo>
                <a:cubicBezTo>
                  <a:pt x="6324769" y="-1706"/>
                  <a:pt x="6531407" y="1172"/>
                  <a:pt x="6729461" y="0"/>
                </a:cubicBezTo>
                <a:cubicBezTo>
                  <a:pt x="6927515" y="-1172"/>
                  <a:pt x="7096794" y="-1520"/>
                  <a:pt x="7324867" y="0"/>
                </a:cubicBezTo>
                <a:cubicBezTo>
                  <a:pt x="7552940" y="1520"/>
                  <a:pt x="7878827" y="-17110"/>
                  <a:pt x="8114124" y="0"/>
                </a:cubicBezTo>
                <a:cubicBezTo>
                  <a:pt x="8349421" y="17110"/>
                  <a:pt x="8334208" y="15114"/>
                  <a:pt x="8515677" y="0"/>
                </a:cubicBezTo>
                <a:cubicBezTo>
                  <a:pt x="8697146" y="-15114"/>
                  <a:pt x="9236164" y="22466"/>
                  <a:pt x="9692640" y="0"/>
                </a:cubicBezTo>
                <a:cubicBezTo>
                  <a:pt x="9692735" y="8251"/>
                  <a:pt x="9692514" y="12333"/>
                  <a:pt x="9692640" y="18288"/>
                </a:cubicBezTo>
                <a:cubicBezTo>
                  <a:pt x="9410102" y="47398"/>
                  <a:pt x="9172773" y="7109"/>
                  <a:pt x="9000309" y="18288"/>
                </a:cubicBezTo>
                <a:cubicBezTo>
                  <a:pt x="8827845" y="29467"/>
                  <a:pt x="8713608" y="28372"/>
                  <a:pt x="8501830" y="18288"/>
                </a:cubicBezTo>
                <a:cubicBezTo>
                  <a:pt x="8290052" y="8204"/>
                  <a:pt x="7893416" y="3561"/>
                  <a:pt x="7712572" y="18288"/>
                </a:cubicBezTo>
                <a:cubicBezTo>
                  <a:pt x="7531728" y="33015"/>
                  <a:pt x="7480716" y="17052"/>
                  <a:pt x="7311020" y="18288"/>
                </a:cubicBezTo>
                <a:cubicBezTo>
                  <a:pt x="7141324" y="19524"/>
                  <a:pt x="6962706" y="15975"/>
                  <a:pt x="6618688" y="18288"/>
                </a:cubicBezTo>
                <a:cubicBezTo>
                  <a:pt x="6274670" y="20601"/>
                  <a:pt x="6230664" y="-1692"/>
                  <a:pt x="6120210" y="18288"/>
                </a:cubicBezTo>
                <a:cubicBezTo>
                  <a:pt x="6009756" y="38268"/>
                  <a:pt x="5442516" y="28115"/>
                  <a:pt x="5234026" y="18288"/>
                </a:cubicBezTo>
                <a:cubicBezTo>
                  <a:pt x="5025536" y="8461"/>
                  <a:pt x="4953693" y="18182"/>
                  <a:pt x="4832473" y="18288"/>
                </a:cubicBezTo>
                <a:cubicBezTo>
                  <a:pt x="4711253" y="18394"/>
                  <a:pt x="4414565" y="-11251"/>
                  <a:pt x="4140142" y="18288"/>
                </a:cubicBezTo>
                <a:cubicBezTo>
                  <a:pt x="3865719" y="47827"/>
                  <a:pt x="3819081" y="16772"/>
                  <a:pt x="3738590" y="18288"/>
                </a:cubicBezTo>
                <a:cubicBezTo>
                  <a:pt x="3658099" y="19804"/>
                  <a:pt x="3427576" y="1385"/>
                  <a:pt x="3240111" y="18288"/>
                </a:cubicBezTo>
                <a:cubicBezTo>
                  <a:pt x="3052646" y="35191"/>
                  <a:pt x="2749652" y="-13914"/>
                  <a:pt x="2450853" y="18288"/>
                </a:cubicBezTo>
                <a:cubicBezTo>
                  <a:pt x="2152054" y="50490"/>
                  <a:pt x="1928331" y="61101"/>
                  <a:pt x="1564669" y="18288"/>
                </a:cubicBezTo>
                <a:cubicBezTo>
                  <a:pt x="1201007" y="-24525"/>
                  <a:pt x="1217828" y="-275"/>
                  <a:pt x="1066190" y="18288"/>
                </a:cubicBezTo>
                <a:cubicBezTo>
                  <a:pt x="914552" y="36851"/>
                  <a:pt x="418290" y="-14785"/>
                  <a:pt x="0" y="18288"/>
                </a:cubicBezTo>
                <a:cubicBezTo>
                  <a:pt x="641" y="14236"/>
                  <a:pt x="889" y="755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Θέση περιεχομένου 2">
            <a:extLst>
              <a:ext uri="{FF2B5EF4-FFF2-40B4-BE49-F238E27FC236}">
                <a16:creationId xmlns:a16="http://schemas.microsoft.com/office/drawing/2014/main" id="{D1744477-90AD-02A6-5A62-C85531C7D14A}"/>
              </a:ext>
            </a:extLst>
          </p:cNvPr>
          <p:cNvGraphicFramePr>
            <a:graphicFrameLocks noGrp="1"/>
          </p:cNvGraphicFramePr>
          <p:nvPr>
            <p:ph idx="1"/>
            <p:extLst>
              <p:ext uri="{D42A27DB-BD31-4B8C-83A1-F6EECF244321}">
                <p14:modId xmlns:p14="http://schemas.microsoft.com/office/powerpoint/2010/main" val="1600695872"/>
              </p:ext>
            </p:extLst>
          </p:nvPr>
        </p:nvGraphicFramePr>
        <p:xfrm>
          <a:off x="324853" y="2059310"/>
          <a:ext cx="11309684" cy="44592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21288179"/>
      </p:ext>
    </p:extLst>
  </p:cSld>
  <p:clrMapOvr>
    <a:masterClrMapping/>
  </p:clrMapOvr>
  <mc:AlternateContent xmlns:mc="http://schemas.openxmlformats.org/markup-compatibility/2006" xmlns:p14="http://schemas.microsoft.com/office/powerpoint/2010/main">
    <mc:Choice Requires="p14">
      <p:transition spd="slow" p14:dur="2000">
        <p14:conveyor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Τίτλος 1">
            <a:extLst>
              <a:ext uri="{FF2B5EF4-FFF2-40B4-BE49-F238E27FC236}">
                <a16:creationId xmlns:a16="http://schemas.microsoft.com/office/drawing/2014/main" id="{DBC7467A-3497-332A-1FCA-77A4452332CA}"/>
              </a:ext>
            </a:extLst>
          </p:cNvPr>
          <p:cNvSpPr>
            <a:spLocks noGrp="1"/>
          </p:cNvSpPr>
          <p:nvPr>
            <p:ph type="title"/>
          </p:nvPr>
        </p:nvSpPr>
        <p:spPr>
          <a:xfrm>
            <a:off x="1314824" y="735106"/>
            <a:ext cx="10053763" cy="2928470"/>
          </a:xfrm>
        </p:spPr>
        <p:txBody>
          <a:bodyPr vert="horz" lIns="91440" tIns="45720" rIns="91440" bIns="45720" rtlCol="0" anchor="b">
            <a:normAutofit/>
          </a:bodyPr>
          <a:lstStyle/>
          <a:p>
            <a:pPr algn="ctr"/>
            <a:r>
              <a:rPr lang="en-US" sz="4800" b="1" kern="1200" dirty="0">
                <a:solidFill>
                  <a:srgbClr val="FFFFFF"/>
                </a:solidFill>
                <a:effectLst>
                  <a:outerShdw blurRad="38100" dist="38100" dir="2700000" algn="tl">
                    <a:srgbClr val="000000">
                      <a:alpha val="43137"/>
                    </a:srgbClr>
                  </a:outerShdw>
                </a:effectLst>
                <a:latin typeface="+mj-lt"/>
                <a:ea typeface="+mj-ea"/>
                <a:cs typeface="+mj-cs"/>
              </a:rPr>
              <a:t>Ολοκλήρωση </a:t>
            </a:r>
            <a:r>
              <a:rPr lang="el-GR" sz="4800" b="1" kern="1200" noProof="0" dirty="0">
                <a:solidFill>
                  <a:srgbClr val="FFFFFF"/>
                </a:solidFill>
                <a:effectLst>
                  <a:outerShdw blurRad="38100" dist="38100" dir="2700000" algn="tl">
                    <a:srgbClr val="000000">
                      <a:alpha val="43137"/>
                    </a:srgbClr>
                  </a:outerShdw>
                </a:effectLst>
                <a:latin typeface="+mj-lt"/>
                <a:ea typeface="+mj-ea"/>
                <a:cs typeface="+mj-cs"/>
              </a:rPr>
              <a:t>παρουσίασης</a:t>
            </a:r>
            <a:endParaRPr lang="en-US" sz="4800" b="1" kern="1200" dirty="0">
              <a:solidFill>
                <a:srgbClr val="FFFFFF"/>
              </a:solidFill>
              <a:effectLst>
                <a:outerShdw blurRad="38100" dist="38100" dir="2700000" algn="tl">
                  <a:srgbClr val="000000">
                    <a:alpha val="43137"/>
                  </a:srgbClr>
                </a:outerShdw>
              </a:effectLst>
              <a:latin typeface="+mj-lt"/>
              <a:ea typeface="+mj-ea"/>
              <a:cs typeface="+mj-cs"/>
            </a:endParaRPr>
          </a:p>
        </p:txBody>
      </p:sp>
      <p:sp>
        <p:nvSpPr>
          <p:cNvPr id="3" name="Θέση περιεχομένου 2">
            <a:extLst>
              <a:ext uri="{FF2B5EF4-FFF2-40B4-BE49-F238E27FC236}">
                <a16:creationId xmlns:a16="http://schemas.microsoft.com/office/drawing/2014/main" id="{B749C868-07BF-50AF-8ED8-A3BE9760FB8A}"/>
              </a:ext>
            </a:extLst>
          </p:cNvPr>
          <p:cNvSpPr>
            <a:spLocks noGrp="1"/>
          </p:cNvSpPr>
          <p:nvPr>
            <p:ph idx="1"/>
          </p:nvPr>
        </p:nvSpPr>
        <p:spPr>
          <a:xfrm>
            <a:off x="1350682" y="4870824"/>
            <a:ext cx="10005951" cy="1458258"/>
          </a:xfrm>
        </p:spPr>
        <p:txBody>
          <a:bodyPr vert="horz" lIns="91440" tIns="45720" rIns="91440" bIns="45720" rtlCol="0" anchor="ctr">
            <a:normAutofit/>
          </a:bodyPr>
          <a:lstStyle/>
          <a:p>
            <a:pPr marL="0" indent="0" algn="ctr">
              <a:buNone/>
            </a:pPr>
            <a:r>
              <a:rPr lang="el-GR" sz="3600" b="1" kern="1200" noProof="0" dirty="0">
                <a:solidFill>
                  <a:schemeClr val="tx1"/>
                </a:solidFill>
                <a:latin typeface="+mn-lt"/>
                <a:ea typeface="+mn-ea"/>
                <a:cs typeface="+mn-cs"/>
              </a:rPr>
              <a:t>Ευχαριστούμε</a:t>
            </a:r>
            <a:endParaRPr lang="en-US" sz="2400" b="1" kern="1200" dirty="0">
              <a:solidFill>
                <a:schemeClr val="tx1"/>
              </a:solidFill>
              <a:latin typeface="+mn-lt"/>
              <a:ea typeface="+mn-ea"/>
              <a:cs typeface="+mn-cs"/>
            </a:endParaRPr>
          </a:p>
        </p:txBody>
      </p:sp>
    </p:spTree>
    <p:extLst>
      <p:ext uri="{BB962C8B-B14F-4D97-AF65-F5344CB8AC3E}">
        <p14:creationId xmlns:p14="http://schemas.microsoft.com/office/powerpoint/2010/main" val="95338543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4001</TotalTime>
  <Words>3128</Words>
  <Application>Microsoft Office PowerPoint</Application>
  <PresentationFormat>Widescreen</PresentationFormat>
  <Paragraphs>152</Paragraphs>
  <Slides>23</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Calibri</vt:lpstr>
      <vt:lpstr>Symbol</vt:lpstr>
      <vt:lpstr>Times New Roman</vt:lpstr>
      <vt:lpstr>Θέμα του Office</vt:lpstr>
      <vt:lpstr>Εργασία στα Εφαρμοσμένα Πληροφοριακά Συστήματα ΙΙ</vt:lpstr>
      <vt:lpstr>Προβλήματα σχετιζόμενα με την εφοδιαστική αλυσίδα (Ι)</vt:lpstr>
      <vt:lpstr>Προβλήματα σχετιζόμενα με την εφοδιαστική αλυσίδα (ΙI)</vt:lpstr>
      <vt:lpstr>Αντιμετώπιση προκλήσεων εφοδιαστικής αλυσίδας με χρήση ΤΝ</vt:lpstr>
      <vt:lpstr>Πλατφόρμες και εργαλεία ΤΝ που ενσωματώνονται στην εφοδιαστική (Ι)</vt:lpstr>
      <vt:lpstr>Πλατφόρμες και εργαλεία ΤΝ που ενσωματώνονται στην εφοδιαστική (ΙΙ)</vt:lpstr>
      <vt:lpstr>Πλατφόρμες και εργαλεία ΤΝ που ενσωματώνονται στην εφοδιαστική (ΙΙΙ)</vt:lpstr>
      <vt:lpstr>Πλατφόρμες και εργαλεία ΤΝ που ενσωματώνονται στην εφοδιαστική (ΙV)</vt:lpstr>
      <vt:lpstr>Πλατφόρμες και εργαλεία ΤΝ που ενσωματώνονται στην εφοδιαστική (V)</vt:lpstr>
      <vt:lpstr>Απεικόνιση Πλατφόρμας FourKites Intelligent Control Tower</vt:lpstr>
      <vt:lpstr>Αξιοποίηση ΤΝ σε εφαρμογές εφοδιαστικής (Ι)</vt:lpstr>
      <vt:lpstr>Αξιοποίηση ΤΝ σε εφαρμογές εφοδιαστικής (ΙΙ)</vt:lpstr>
      <vt:lpstr>Παρουσίαση/αξιολόγηση της ΑΙ εφαρμογής</vt:lpstr>
      <vt:lpstr>Οφέλη από τη χρήση TN στην εφοδιαστική αλυσίδα (I) </vt:lpstr>
      <vt:lpstr>Οφέλη από τη χρήση TN στην εφοδιαστική αλυσίδα (II) </vt:lpstr>
      <vt:lpstr>Οφέλη από τη χρήση TN στην εφοδιαστική αλυσίδα (III) </vt:lpstr>
      <vt:lpstr>Μελέτες περίπτωσης - πρακτικές εφαρμογές (Ι)</vt:lpstr>
      <vt:lpstr>Μελέτες περίπτωσης - πρακτικές εφαρμογές (ΙΙ)</vt:lpstr>
      <vt:lpstr>Μελλοντικές βελτιώσεις - Προτάσεις  (Ι)</vt:lpstr>
      <vt:lpstr>Μελλοντικές βελτιώσεις –  Προτάσεις  (ΙΙ)</vt:lpstr>
      <vt:lpstr>Συμπεράσματα (Ι)</vt:lpstr>
      <vt:lpstr>Συμπεράσματα (ΙΙ)</vt:lpstr>
      <vt:lpstr>Ολοκλήρωση παρουσίασης</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Καπελλάκη-Μπαλής-Καλδίρης</dc:creator>
  <cp:lastModifiedBy>ΜΠΑΛΗΣ ΓΕΩΡΓΙΟΣ</cp:lastModifiedBy>
  <cp:revision>6</cp:revision>
  <dcterms:created xsi:type="dcterms:W3CDTF">2025-04-08T17:35:55Z</dcterms:created>
  <dcterms:modified xsi:type="dcterms:W3CDTF">2025-11-05T15:46:12Z</dcterms:modified>
</cp:coreProperties>
</file>